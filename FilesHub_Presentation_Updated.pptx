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10"/>
  </p:normalViewPr>
  <p:slideViewPr>
    <p:cSldViewPr snapToGrid="0" snapToObjects="1">
      <p:cViewPr varScale="1">
        <p:scale>
          <a:sx n="109" d="100"/>
          <a:sy n="109" d="100"/>
        </p:scale>
        <p:origin x="734" y="8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31132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Open with the core premise: 'What if your friend group could share a 10TB movie collection without paying for cloud storage or giving files to Google?' Hook the audience before any technical detail.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Make it personal. Ask: 'How many of you pay for cloud storage?' Then: 'How many of you have duplicate copies of the same movies across five people's drives?' Emphasize data sovereignty — friends shouldn't trust Google with private academic work.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Analogy: 'Think of it like BitTorrent meets Google Drive, but you control the entire infrastructure.' The key insight is the separation of metadata from actual file bytes. You only need to trust the network with file names and sizes — your content stays home.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Key distinction: the Directory Node never stores file bytes — it only stores a pointer (metadata). When you click play, the Directory Node asks the Storage Node for bytes and forwards them to your browser. The VPS is your insurance policy against home internet outages.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Simple analogy: 'Imagine calling someone — you try mobile first, then office, then home.' Multi-Route Arrays do the same for network addresses. This is what makes the system network-topology-agnostic. A friend with CGNAT, a VPN tunnel, and a domain can register all three — the system finds whichever one works right now.</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Traditional search: type the exact filename. Semantic search: describe what you want. The vector embedding converts file metadata into a mathematical point in multi-dimensional space. Your query is also converted to a point, and the system finds the closest files. Everything runs locally.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Security is layered. A JWT is like a signed hall pass — it proves who you are without a password on every request. A Federation Token is what lets a new Storage Node join the network — think of it as an invitation code that can be revoked. Node owners are sovereign: if they stop sharing a folder, it disappears from the network immediately.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The deployment model is elegant: one Docker image, one environment variable, three behaviors. A friend can join the network by running a single 'docker run' command — no complex setup required. NODE_MODE=storage and their machine becomes an edge agent.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If a live demo isn't possible, prepare a screen recording. The most impressive moments are: (1) searching in plain English and seeing relevant results, and (2) killing the primary node and showing the VPS fallback serve the same content. These two demos prove semantic intelligence and fault tolerance.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Close by reframing the project's scope: this isn't just a file sharing app — it's a template for how peer-to-peer infrastructure can be built with modern, approachable tools. The WireGuard integration is a natural next step since you already have homelab experience with it. Invite questions by asking: 'What node would you want to run?'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png"/><Relationship Id="rId4" Type="http://schemas.openxmlformats.org/officeDocument/2006/relationships/image" Target="../media/image5.png"/></Relationships>
</file>

<file path=ppt/slides/_rels/slide3.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8.png"/></Relationships>
</file>

<file path=ppt/slides/_rels/slide6.xml.rels><?xml version="1.0" encoding="UTF-8"?><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6.png"/><Relationship Id="rId4" Type="http://schemas.openxmlformats.org/officeDocument/2006/relationships/image" Target="../media/image11.png"/></Relationships>
</file>

<file path=ppt/slides/_rels/slide8.xml.rels><?xml version="1.0" encoding="UTF-8"?><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B4D8"/>
          </a:solidFill>
          <a:ln w="12700">
            <a:solidFill>
              <a:srgbClr val="00B4D8"/>
            </a:solidFill>
            <a:prstDash val="solid"/>
          </a:ln>
        </p:spPr>
        <p:txBody>
          <a:bodyPr/>
          <a:lstStyle/>
          <a:p>
            <a:endParaRPr lang="en-IN"/>
          </a:p>
        </p:txBody>
      </p:sp>
      <p:sp>
        <p:nvSpPr>
          <p:cNvPr id="3" name="Shape 1"/>
          <p:cNvSpPr/>
          <p:nvPr/>
        </p:nvSpPr>
        <p:spPr>
          <a:xfrm>
            <a:off x="877824" y="786384"/>
            <a:ext cx="64008" cy="64008"/>
          </a:xfrm>
          <a:prstGeom prst="ellipse">
            <a:avLst/>
          </a:prstGeom>
          <a:solidFill>
            <a:srgbClr val="1C2A38"/>
          </a:solidFill>
          <a:ln w="12700">
            <a:solidFill>
              <a:srgbClr val="1C2A38"/>
            </a:solidFill>
            <a:prstDash val="solid"/>
          </a:ln>
        </p:spPr>
        <p:txBody>
          <a:bodyPr/>
          <a:lstStyle/>
          <a:p>
            <a:endParaRPr lang="en-IN"/>
          </a:p>
        </p:txBody>
      </p:sp>
      <p:sp>
        <p:nvSpPr>
          <p:cNvPr id="4" name="Shape 2"/>
          <p:cNvSpPr/>
          <p:nvPr/>
        </p:nvSpPr>
        <p:spPr>
          <a:xfrm>
            <a:off x="877824" y="1609344"/>
            <a:ext cx="64008" cy="64008"/>
          </a:xfrm>
          <a:prstGeom prst="ellipse">
            <a:avLst/>
          </a:prstGeom>
          <a:solidFill>
            <a:srgbClr val="1C2A38"/>
          </a:solidFill>
          <a:ln w="12700">
            <a:solidFill>
              <a:srgbClr val="1C2A38"/>
            </a:solidFill>
            <a:prstDash val="solid"/>
          </a:ln>
        </p:spPr>
        <p:txBody>
          <a:bodyPr/>
          <a:lstStyle/>
          <a:p>
            <a:endParaRPr lang="en-IN"/>
          </a:p>
        </p:txBody>
      </p:sp>
      <p:sp>
        <p:nvSpPr>
          <p:cNvPr id="5" name="Shape 3"/>
          <p:cNvSpPr/>
          <p:nvPr/>
        </p:nvSpPr>
        <p:spPr>
          <a:xfrm>
            <a:off x="877824" y="2432304"/>
            <a:ext cx="64008" cy="64008"/>
          </a:xfrm>
          <a:prstGeom prst="ellipse">
            <a:avLst/>
          </a:prstGeom>
          <a:solidFill>
            <a:srgbClr val="1C2A38"/>
          </a:solidFill>
          <a:ln w="12700">
            <a:solidFill>
              <a:srgbClr val="1C2A38"/>
            </a:solidFill>
            <a:prstDash val="solid"/>
          </a:ln>
        </p:spPr>
        <p:txBody>
          <a:bodyPr/>
          <a:lstStyle/>
          <a:p>
            <a:endParaRPr lang="en-IN"/>
          </a:p>
        </p:txBody>
      </p:sp>
      <p:sp>
        <p:nvSpPr>
          <p:cNvPr id="6" name="Shape 4"/>
          <p:cNvSpPr/>
          <p:nvPr/>
        </p:nvSpPr>
        <p:spPr>
          <a:xfrm>
            <a:off x="877824" y="3255264"/>
            <a:ext cx="64008" cy="64008"/>
          </a:xfrm>
          <a:prstGeom prst="ellipse">
            <a:avLst/>
          </a:prstGeom>
          <a:solidFill>
            <a:srgbClr val="1C2A38"/>
          </a:solidFill>
          <a:ln w="12700">
            <a:solidFill>
              <a:srgbClr val="1C2A38"/>
            </a:solidFill>
            <a:prstDash val="solid"/>
          </a:ln>
        </p:spPr>
        <p:txBody>
          <a:bodyPr/>
          <a:lstStyle/>
          <a:p>
            <a:endParaRPr lang="en-IN"/>
          </a:p>
        </p:txBody>
      </p:sp>
      <p:sp>
        <p:nvSpPr>
          <p:cNvPr id="7" name="Shape 5"/>
          <p:cNvSpPr/>
          <p:nvPr/>
        </p:nvSpPr>
        <p:spPr>
          <a:xfrm>
            <a:off x="5047488" y="4554543"/>
            <a:ext cx="64008" cy="64008"/>
          </a:xfrm>
          <a:prstGeom prst="ellipse">
            <a:avLst/>
          </a:prstGeom>
          <a:solidFill>
            <a:srgbClr val="1C2A38"/>
          </a:solidFill>
          <a:ln w="12700">
            <a:solidFill>
              <a:srgbClr val="1C2A38"/>
            </a:solidFill>
            <a:prstDash val="solid"/>
          </a:ln>
        </p:spPr>
        <p:txBody>
          <a:bodyPr/>
          <a:lstStyle/>
          <a:p>
            <a:endParaRPr lang="en-IN"/>
          </a:p>
        </p:txBody>
      </p:sp>
      <p:sp>
        <p:nvSpPr>
          <p:cNvPr id="8" name="Shape 6"/>
          <p:cNvSpPr/>
          <p:nvPr/>
        </p:nvSpPr>
        <p:spPr>
          <a:xfrm>
            <a:off x="1792224" y="786384"/>
            <a:ext cx="64008" cy="64008"/>
          </a:xfrm>
          <a:prstGeom prst="ellipse">
            <a:avLst/>
          </a:prstGeom>
          <a:solidFill>
            <a:srgbClr val="1C2A38"/>
          </a:solidFill>
          <a:ln w="12700">
            <a:solidFill>
              <a:srgbClr val="1C2A38"/>
            </a:solidFill>
            <a:prstDash val="solid"/>
          </a:ln>
        </p:spPr>
        <p:txBody>
          <a:bodyPr/>
          <a:lstStyle/>
          <a:p>
            <a:endParaRPr lang="en-IN"/>
          </a:p>
        </p:txBody>
      </p:sp>
      <p:sp>
        <p:nvSpPr>
          <p:cNvPr id="9" name="Shape 7"/>
          <p:cNvSpPr/>
          <p:nvPr/>
        </p:nvSpPr>
        <p:spPr>
          <a:xfrm>
            <a:off x="1792224" y="1609344"/>
            <a:ext cx="64008" cy="64008"/>
          </a:xfrm>
          <a:prstGeom prst="ellipse">
            <a:avLst/>
          </a:prstGeom>
          <a:solidFill>
            <a:srgbClr val="1C2A38"/>
          </a:solidFill>
          <a:ln w="12700">
            <a:solidFill>
              <a:srgbClr val="1C2A38"/>
            </a:solidFill>
            <a:prstDash val="solid"/>
          </a:ln>
        </p:spPr>
        <p:txBody>
          <a:bodyPr/>
          <a:lstStyle/>
          <a:p>
            <a:endParaRPr lang="en-IN"/>
          </a:p>
        </p:txBody>
      </p:sp>
      <p:sp>
        <p:nvSpPr>
          <p:cNvPr id="10" name="Shape 8"/>
          <p:cNvSpPr/>
          <p:nvPr/>
        </p:nvSpPr>
        <p:spPr>
          <a:xfrm>
            <a:off x="1792224" y="2432304"/>
            <a:ext cx="64008" cy="64008"/>
          </a:xfrm>
          <a:prstGeom prst="ellipse">
            <a:avLst/>
          </a:prstGeom>
          <a:solidFill>
            <a:srgbClr val="1C2A38"/>
          </a:solidFill>
          <a:ln w="12700">
            <a:solidFill>
              <a:srgbClr val="1C2A38"/>
            </a:solidFill>
            <a:prstDash val="solid"/>
          </a:ln>
        </p:spPr>
        <p:txBody>
          <a:bodyPr/>
          <a:lstStyle/>
          <a:p>
            <a:endParaRPr lang="en-IN"/>
          </a:p>
        </p:txBody>
      </p:sp>
      <p:sp>
        <p:nvSpPr>
          <p:cNvPr id="11" name="Shape 9"/>
          <p:cNvSpPr/>
          <p:nvPr/>
        </p:nvSpPr>
        <p:spPr>
          <a:xfrm>
            <a:off x="1764792" y="2894076"/>
            <a:ext cx="64008" cy="64008"/>
          </a:xfrm>
          <a:prstGeom prst="ellipse">
            <a:avLst/>
          </a:prstGeom>
          <a:solidFill>
            <a:srgbClr val="1C2A38"/>
          </a:solidFill>
          <a:ln w="12700">
            <a:solidFill>
              <a:srgbClr val="1C2A38"/>
            </a:solidFill>
            <a:prstDash val="solid"/>
          </a:ln>
        </p:spPr>
        <p:txBody>
          <a:bodyPr/>
          <a:lstStyle/>
          <a:p>
            <a:endParaRPr lang="en-IN"/>
          </a:p>
        </p:txBody>
      </p:sp>
      <p:sp>
        <p:nvSpPr>
          <p:cNvPr id="12" name="Shape 10"/>
          <p:cNvSpPr/>
          <p:nvPr/>
        </p:nvSpPr>
        <p:spPr>
          <a:xfrm>
            <a:off x="5961888" y="4554543"/>
            <a:ext cx="64008" cy="64008"/>
          </a:xfrm>
          <a:prstGeom prst="ellipse">
            <a:avLst/>
          </a:prstGeom>
          <a:solidFill>
            <a:srgbClr val="1C2A38"/>
          </a:solidFill>
          <a:ln w="12700">
            <a:solidFill>
              <a:srgbClr val="1C2A38"/>
            </a:solidFill>
            <a:prstDash val="solid"/>
          </a:ln>
        </p:spPr>
        <p:txBody>
          <a:bodyPr/>
          <a:lstStyle/>
          <a:p>
            <a:endParaRPr lang="en-IN"/>
          </a:p>
        </p:txBody>
      </p:sp>
      <p:sp>
        <p:nvSpPr>
          <p:cNvPr id="13" name="Shape 11"/>
          <p:cNvSpPr/>
          <p:nvPr/>
        </p:nvSpPr>
        <p:spPr>
          <a:xfrm>
            <a:off x="2706624" y="786384"/>
            <a:ext cx="64008" cy="64008"/>
          </a:xfrm>
          <a:prstGeom prst="ellipse">
            <a:avLst/>
          </a:prstGeom>
          <a:solidFill>
            <a:srgbClr val="1C2A38"/>
          </a:solidFill>
          <a:ln w="12700">
            <a:solidFill>
              <a:srgbClr val="1C2A38"/>
            </a:solidFill>
            <a:prstDash val="solid"/>
          </a:ln>
        </p:spPr>
        <p:txBody>
          <a:bodyPr/>
          <a:lstStyle/>
          <a:p>
            <a:endParaRPr lang="en-IN"/>
          </a:p>
        </p:txBody>
      </p:sp>
      <p:sp>
        <p:nvSpPr>
          <p:cNvPr id="14" name="Shape 12"/>
          <p:cNvSpPr/>
          <p:nvPr/>
        </p:nvSpPr>
        <p:spPr>
          <a:xfrm>
            <a:off x="2706624" y="1609344"/>
            <a:ext cx="64008" cy="64008"/>
          </a:xfrm>
          <a:prstGeom prst="ellipse">
            <a:avLst/>
          </a:prstGeom>
          <a:solidFill>
            <a:srgbClr val="1C2A38"/>
          </a:solidFill>
          <a:ln w="12700">
            <a:solidFill>
              <a:srgbClr val="1C2A38"/>
            </a:solidFill>
            <a:prstDash val="solid"/>
          </a:ln>
        </p:spPr>
        <p:txBody>
          <a:bodyPr/>
          <a:lstStyle/>
          <a:p>
            <a:endParaRPr lang="en-IN"/>
          </a:p>
        </p:txBody>
      </p:sp>
      <p:sp>
        <p:nvSpPr>
          <p:cNvPr id="15" name="Shape 13"/>
          <p:cNvSpPr/>
          <p:nvPr/>
        </p:nvSpPr>
        <p:spPr>
          <a:xfrm>
            <a:off x="2706624" y="2432304"/>
            <a:ext cx="64008" cy="64008"/>
          </a:xfrm>
          <a:prstGeom prst="ellipse">
            <a:avLst/>
          </a:prstGeom>
          <a:solidFill>
            <a:srgbClr val="1C2A38"/>
          </a:solidFill>
          <a:ln w="12700">
            <a:solidFill>
              <a:srgbClr val="1C2A38"/>
            </a:solidFill>
            <a:prstDash val="solid"/>
          </a:ln>
        </p:spPr>
        <p:txBody>
          <a:bodyPr/>
          <a:lstStyle/>
          <a:p>
            <a:endParaRPr lang="en-IN"/>
          </a:p>
        </p:txBody>
      </p:sp>
      <p:sp>
        <p:nvSpPr>
          <p:cNvPr id="16" name="Shape 14"/>
          <p:cNvSpPr/>
          <p:nvPr/>
        </p:nvSpPr>
        <p:spPr>
          <a:xfrm>
            <a:off x="2679192" y="2894076"/>
            <a:ext cx="64008" cy="64008"/>
          </a:xfrm>
          <a:prstGeom prst="ellipse">
            <a:avLst/>
          </a:prstGeom>
          <a:solidFill>
            <a:srgbClr val="1C2A38"/>
          </a:solidFill>
          <a:ln w="12700">
            <a:solidFill>
              <a:srgbClr val="1C2A38"/>
            </a:solidFill>
            <a:prstDash val="solid"/>
          </a:ln>
        </p:spPr>
        <p:txBody>
          <a:bodyPr/>
          <a:lstStyle/>
          <a:p>
            <a:endParaRPr lang="en-IN"/>
          </a:p>
        </p:txBody>
      </p:sp>
      <p:sp>
        <p:nvSpPr>
          <p:cNvPr id="17" name="Shape 15"/>
          <p:cNvSpPr/>
          <p:nvPr/>
        </p:nvSpPr>
        <p:spPr>
          <a:xfrm>
            <a:off x="6876288" y="4554543"/>
            <a:ext cx="64008" cy="64008"/>
          </a:xfrm>
          <a:prstGeom prst="ellipse">
            <a:avLst/>
          </a:prstGeom>
          <a:solidFill>
            <a:srgbClr val="1C2A38"/>
          </a:solidFill>
          <a:ln w="12700">
            <a:solidFill>
              <a:srgbClr val="1C2A38"/>
            </a:solidFill>
            <a:prstDash val="solid"/>
          </a:ln>
        </p:spPr>
        <p:txBody>
          <a:bodyPr/>
          <a:lstStyle/>
          <a:p>
            <a:endParaRPr lang="en-IN"/>
          </a:p>
        </p:txBody>
      </p:sp>
      <p:sp>
        <p:nvSpPr>
          <p:cNvPr id="18" name="Shape 16"/>
          <p:cNvSpPr/>
          <p:nvPr/>
        </p:nvSpPr>
        <p:spPr>
          <a:xfrm>
            <a:off x="3621024" y="786384"/>
            <a:ext cx="64008" cy="64008"/>
          </a:xfrm>
          <a:prstGeom prst="ellipse">
            <a:avLst/>
          </a:prstGeom>
          <a:solidFill>
            <a:srgbClr val="1C2A38"/>
          </a:solidFill>
          <a:ln w="12700">
            <a:solidFill>
              <a:srgbClr val="1C2A38"/>
            </a:solidFill>
            <a:prstDash val="solid"/>
          </a:ln>
        </p:spPr>
        <p:txBody>
          <a:bodyPr/>
          <a:lstStyle/>
          <a:p>
            <a:endParaRPr lang="en-IN"/>
          </a:p>
        </p:txBody>
      </p:sp>
      <p:sp>
        <p:nvSpPr>
          <p:cNvPr id="19" name="Shape 17"/>
          <p:cNvSpPr/>
          <p:nvPr/>
        </p:nvSpPr>
        <p:spPr>
          <a:xfrm>
            <a:off x="3621024" y="1609344"/>
            <a:ext cx="64008" cy="64008"/>
          </a:xfrm>
          <a:prstGeom prst="ellipse">
            <a:avLst/>
          </a:prstGeom>
          <a:solidFill>
            <a:srgbClr val="1C2A38"/>
          </a:solidFill>
          <a:ln w="12700">
            <a:solidFill>
              <a:srgbClr val="1C2A38"/>
            </a:solidFill>
            <a:prstDash val="solid"/>
          </a:ln>
        </p:spPr>
        <p:txBody>
          <a:bodyPr/>
          <a:lstStyle/>
          <a:p>
            <a:endParaRPr lang="en-IN"/>
          </a:p>
        </p:txBody>
      </p:sp>
      <p:sp>
        <p:nvSpPr>
          <p:cNvPr id="20" name="Shape 18"/>
          <p:cNvSpPr/>
          <p:nvPr/>
        </p:nvSpPr>
        <p:spPr>
          <a:xfrm>
            <a:off x="3621024" y="2432304"/>
            <a:ext cx="64008" cy="64008"/>
          </a:xfrm>
          <a:prstGeom prst="ellipse">
            <a:avLst/>
          </a:prstGeom>
          <a:solidFill>
            <a:srgbClr val="1C2A38"/>
          </a:solidFill>
          <a:ln w="12700">
            <a:solidFill>
              <a:srgbClr val="1C2A38"/>
            </a:solidFill>
            <a:prstDash val="solid"/>
          </a:ln>
        </p:spPr>
        <p:txBody>
          <a:bodyPr/>
          <a:lstStyle/>
          <a:p>
            <a:endParaRPr lang="en-IN"/>
          </a:p>
        </p:txBody>
      </p:sp>
      <p:sp>
        <p:nvSpPr>
          <p:cNvPr id="21" name="Shape 19"/>
          <p:cNvSpPr/>
          <p:nvPr/>
        </p:nvSpPr>
        <p:spPr>
          <a:xfrm>
            <a:off x="3593592" y="2894076"/>
            <a:ext cx="64008" cy="64008"/>
          </a:xfrm>
          <a:prstGeom prst="ellipse">
            <a:avLst/>
          </a:prstGeom>
          <a:solidFill>
            <a:srgbClr val="1C2A38"/>
          </a:solidFill>
          <a:ln w="12700">
            <a:solidFill>
              <a:srgbClr val="1C2A38"/>
            </a:solidFill>
            <a:prstDash val="solid"/>
          </a:ln>
        </p:spPr>
        <p:txBody>
          <a:bodyPr/>
          <a:lstStyle/>
          <a:p>
            <a:endParaRPr lang="en-IN"/>
          </a:p>
        </p:txBody>
      </p:sp>
      <p:sp>
        <p:nvSpPr>
          <p:cNvPr id="22" name="Shape 20"/>
          <p:cNvSpPr/>
          <p:nvPr/>
        </p:nvSpPr>
        <p:spPr>
          <a:xfrm>
            <a:off x="7790688" y="4554543"/>
            <a:ext cx="64008" cy="64008"/>
          </a:xfrm>
          <a:prstGeom prst="ellipse">
            <a:avLst/>
          </a:prstGeom>
          <a:solidFill>
            <a:srgbClr val="1C2A38"/>
          </a:solidFill>
          <a:ln w="12700">
            <a:solidFill>
              <a:srgbClr val="1C2A38"/>
            </a:solidFill>
            <a:prstDash val="solid"/>
          </a:ln>
        </p:spPr>
        <p:txBody>
          <a:bodyPr/>
          <a:lstStyle/>
          <a:p>
            <a:endParaRPr lang="en-IN"/>
          </a:p>
        </p:txBody>
      </p:sp>
      <p:sp>
        <p:nvSpPr>
          <p:cNvPr id="23" name="Shape 21"/>
          <p:cNvSpPr/>
          <p:nvPr/>
        </p:nvSpPr>
        <p:spPr>
          <a:xfrm>
            <a:off x="4535424" y="786384"/>
            <a:ext cx="64008" cy="64008"/>
          </a:xfrm>
          <a:prstGeom prst="ellipse">
            <a:avLst/>
          </a:prstGeom>
          <a:solidFill>
            <a:srgbClr val="1C2A38"/>
          </a:solidFill>
          <a:ln w="12700">
            <a:solidFill>
              <a:srgbClr val="1C2A38"/>
            </a:solidFill>
            <a:prstDash val="solid"/>
          </a:ln>
        </p:spPr>
        <p:txBody>
          <a:bodyPr/>
          <a:lstStyle/>
          <a:p>
            <a:endParaRPr lang="en-IN"/>
          </a:p>
        </p:txBody>
      </p:sp>
      <p:sp>
        <p:nvSpPr>
          <p:cNvPr id="24" name="Shape 22"/>
          <p:cNvSpPr/>
          <p:nvPr/>
        </p:nvSpPr>
        <p:spPr>
          <a:xfrm>
            <a:off x="4535424" y="1609344"/>
            <a:ext cx="64008" cy="64008"/>
          </a:xfrm>
          <a:prstGeom prst="ellipse">
            <a:avLst/>
          </a:prstGeom>
          <a:solidFill>
            <a:srgbClr val="1C2A38"/>
          </a:solidFill>
          <a:ln w="12700">
            <a:solidFill>
              <a:srgbClr val="1C2A38"/>
            </a:solidFill>
            <a:prstDash val="solid"/>
          </a:ln>
        </p:spPr>
        <p:txBody>
          <a:bodyPr/>
          <a:lstStyle/>
          <a:p>
            <a:endParaRPr lang="en-IN"/>
          </a:p>
        </p:txBody>
      </p:sp>
      <p:sp>
        <p:nvSpPr>
          <p:cNvPr id="25" name="Shape 23"/>
          <p:cNvSpPr/>
          <p:nvPr/>
        </p:nvSpPr>
        <p:spPr>
          <a:xfrm>
            <a:off x="4535424" y="2432304"/>
            <a:ext cx="64008" cy="64008"/>
          </a:xfrm>
          <a:prstGeom prst="ellipse">
            <a:avLst/>
          </a:prstGeom>
          <a:solidFill>
            <a:srgbClr val="1C2A38"/>
          </a:solidFill>
          <a:ln w="12700">
            <a:solidFill>
              <a:srgbClr val="1C2A38"/>
            </a:solidFill>
            <a:prstDash val="solid"/>
          </a:ln>
        </p:spPr>
        <p:txBody>
          <a:bodyPr/>
          <a:lstStyle/>
          <a:p>
            <a:endParaRPr lang="en-IN"/>
          </a:p>
        </p:txBody>
      </p:sp>
      <p:sp>
        <p:nvSpPr>
          <p:cNvPr id="26" name="Shape 24"/>
          <p:cNvSpPr/>
          <p:nvPr/>
        </p:nvSpPr>
        <p:spPr>
          <a:xfrm>
            <a:off x="4535424" y="3255264"/>
            <a:ext cx="64008" cy="64008"/>
          </a:xfrm>
          <a:prstGeom prst="ellipse">
            <a:avLst/>
          </a:prstGeom>
          <a:solidFill>
            <a:srgbClr val="1C2A38"/>
          </a:solidFill>
          <a:ln w="12700">
            <a:solidFill>
              <a:srgbClr val="1C2A38"/>
            </a:solidFill>
            <a:prstDash val="solid"/>
          </a:ln>
        </p:spPr>
        <p:txBody>
          <a:bodyPr/>
          <a:lstStyle/>
          <a:p>
            <a:endParaRPr lang="en-IN"/>
          </a:p>
        </p:txBody>
      </p:sp>
      <p:sp>
        <p:nvSpPr>
          <p:cNvPr id="27" name="Shape 25"/>
          <p:cNvSpPr/>
          <p:nvPr/>
        </p:nvSpPr>
        <p:spPr>
          <a:xfrm>
            <a:off x="4535424" y="4078224"/>
            <a:ext cx="64008" cy="64008"/>
          </a:xfrm>
          <a:prstGeom prst="ellipse">
            <a:avLst/>
          </a:prstGeom>
          <a:solidFill>
            <a:srgbClr val="1C2A38"/>
          </a:solidFill>
          <a:ln w="12700">
            <a:solidFill>
              <a:srgbClr val="1C2A38"/>
            </a:solidFill>
            <a:prstDash val="solid"/>
          </a:ln>
        </p:spPr>
        <p:txBody>
          <a:bodyPr/>
          <a:lstStyle/>
          <a:p>
            <a:endParaRPr lang="en-IN"/>
          </a:p>
        </p:txBody>
      </p:sp>
      <p:sp>
        <p:nvSpPr>
          <p:cNvPr id="28" name="Shape 26"/>
          <p:cNvSpPr/>
          <p:nvPr/>
        </p:nvSpPr>
        <p:spPr>
          <a:xfrm>
            <a:off x="5449824" y="786384"/>
            <a:ext cx="64008" cy="64008"/>
          </a:xfrm>
          <a:prstGeom prst="ellipse">
            <a:avLst/>
          </a:prstGeom>
          <a:solidFill>
            <a:srgbClr val="1C2A38"/>
          </a:solidFill>
          <a:ln w="12700">
            <a:solidFill>
              <a:srgbClr val="1C2A38"/>
            </a:solidFill>
            <a:prstDash val="solid"/>
          </a:ln>
        </p:spPr>
        <p:txBody>
          <a:bodyPr/>
          <a:lstStyle/>
          <a:p>
            <a:endParaRPr lang="en-IN"/>
          </a:p>
        </p:txBody>
      </p:sp>
      <p:sp>
        <p:nvSpPr>
          <p:cNvPr id="29" name="Shape 27"/>
          <p:cNvSpPr/>
          <p:nvPr/>
        </p:nvSpPr>
        <p:spPr>
          <a:xfrm>
            <a:off x="5449824" y="1609344"/>
            <a:ext cx="64008" cy="64008"/>
          </a:xfrm>
          <a:prstGeom prst="ellipse">
            <a:avLst/>
          </a:prstGeom>
          <a:solidFill>
            <a:srgbClr val="1C2A38"/>
          </a:solidFill>
          <a:ln w="12700">
            <a:solidFill>
              <a:srgbClr val="1C2A38"/>
            </a:solidFill>
            <a:prstDash val="solid"/>
          </a:ln>
        </p:spPr>
        <p:txBody>
          <a:bodyPr/>
          <a:lstStyle/>
          <a:p>
            <a:endParaRPr lang="en-IN"/>
          </a:p>
        </p:txBody>
      </p:sp>
      <p:sp>
        <p:nvSpPr>
          <p:cNvPr id="30" name="Shape 28"/>
          <p:cNvSpPr/>
          <p:nvPr/>
        </p:nvSpPr>
        <p:spPr>
          <a:xfrm>
            <a:off x="5449824" y="2432304"/>
            <a:ext cx="64008" cy="64008"/>
          </a:xfrm>
          <a:prstGeom prst="ellipse">
            <a:avLst/>
          </a:prstGeom>
          <a:solidFill>
            <a:srgbClr val="1C2A38"/>
          </a:solidFill>
          <a:ln w="12700">
            <a:solidFill>
              <a:srgbClr val="1C2A38"/>
            </a:solidFill>
            <a:prstDash val="solid"/>
          </a:ln>
        </p:spPr>
        <p:txBody>
          <a:bodyPr/>
          <a:lstStyle/>
          <a:p>
            <a:endParaRPr lang="en-IN"/>
          </a:p>
        </p:txBody>
      </p:sp>
      <p:sp>
        <p:nvSpPr>
          <p:cNvPr id="31" name="Shape 29"/>
          <p:cNvSpPr/>
          <p:nvPr/>
        </p:nvSpPr>
        <p:spPr>
          <a:xfrm>
            <a:off x="5449824" y="3255264"/>
            <a:ext cx="64008" cy="64008"/>
          </a:xfrm>
          <a:prstGeom prst="ellipse">
            <a:avLst/>
          </a:prstGeom>
          <a:solidFill>
            <a:srgbClr val="1C2A38"/>
          </a:solidFill>
          <a:ln w="12700">
            <a:solidFill>
              <a:srgbClr val="1C2A38"/>
            </a:solidFill>
            <a:prstDash val="solid"/>
          </a:ln>
        </p:spPr>
        <p:txBody>
          <a:bodyPr/>
          <a:lstStyle/>
          <a:p>
            <a:endParaRPr lang="en-IN"/>
          </a:p>
        </p:txBody>
      </p:sp>
      <p:sp>
        <p:nvSpPr>
          <p:cNvPr id="32" name="Shape 30"/>
          <p:cNvSpPr/>
          <p:nvPr/>
        </p:nvSpPr>
        <p:spPr>
          <a:xfrm>
            <a:off x="5449824" y="4078224"/>
            <a:ext cx="64008" cy="64008"/>
          </a:xfrm>
          <a:prstGeom prst="ellipse">
            <a:avLst/>
          </a:prstGeom>
          <a:solidFill>
            <a:srgbClr val="1C2A38"/>
          </a:solidFill>
          <a:ln w="12700">
            <a:solidFill>
              <a:srgbClr val="1C2A38"/>
            </a:solidFill>
            <a:prstDash val="solid"/>
          </a:ln>
        </p:spPr>
        <p:txBody>
          <a:bodyPr/>
          <a:lstStyle/>
          <a:p>
            <a:endParaRPr lang="en-IN"/>
          </a:p>
        </p:txBody>
      </p:sp>
      <p:sp>
        <p:nvSpPr>
          <p:cNvPr id="33" name="Shape 31"/>
          <p:cNvSpPr/>
          <p:nvPr/>
        </p:nvSpPr>
        <p:spPr>
          <a:xfrm>
            <a:off x="6364224" y="786384"/>
            <a:ext cx="64008" cy="64008"/>
          </a:xfrm>
          <a:prstGeom prst="ellipse">
            <a:avLst/>
          </a:prstGeom>
          <a:solidFill>
            <a:srgbClr val="1C2A38"/>
          </a:solidFill>
          <a:ln w="12700">
            <a:solidFill>
              <a:srgbClr val="1C2A38"/>
            </a:solidFill>
            <a:prstDash val="solid"/>
          </a:ln>
        </p:spPr>
        <p:txBody>
          <a:bodyPr/>
          <a:lstStyle/>
          <a:p>
            <a:endParaRPr lang="en-IN"/>
          </a:p>
        </p:txBody>
      </p:sp>
      <p:sp>
        <p:nvSpPr>
          <p:cNvPr id="34" name="Shape 32"/>
          <p:cNvSpPr/>
          <p:nvPr/>
        </p:nvSpPr>
        <p:spPr>
          <a:xfrm>
            <a:off x="6364224" y="1609344"/>
            <a:ext cx="64008" cy="64008"/>
          </a:xfrm>
          <a:prstGeom prst="ellipse">
            <a:avLst/>
          </a:prstGeom>
          <a:solidFill>
            <a:srgbClr val="1C2A38"/>
          </a:solidFill>
          <a:ln w="12700">
            <a:solidFill>
              <a:srgbClr val="1C2A38"/>
            </a:solidFill>
            <a:prstDash val="solid"/>
          </a:ln>
        </p:spPr>
        <p:txBody>
          <a:bodyPr/>
          <a:lstStyle/>
          <a:p>
            <a:endParaRPr lang="en-IN"/>
          </a:p>
        </p:txBody>
      </p:sp>
      <p:sp>
        <p:nvSpPr>
          <p:cNvPr id="35" name="Shape 33"/>
          <p:cNvSpPr/>
          <p:nvPr/>
        </p:nvSpPr>
        <p:spPr>
          <a:xfrm>
            <a:off x="6364224" y="2432304"/>
            <a:ext cx="64008" cy="64008"/>
          </a:xfrm>
          <a:prstGeom prst="ellipse">
            <a:avLst/>
          </a:prstGeom>
          <a:solidFill>
            <a:srgbClr val="1C2A38"/>
          </a:solidFill>
          <a:ln w="12700">
            <a:solidFill>
              <a:srgbClr val="1C2A38"/>
            </a:solidFill>
            <a:prstDash val="solid"/>
          </a:ln>
        </p:spPr>
        <p:txBody>
          <a:bodyPr/>
          <a:lstStyle/>
          <a:p>
            <a:endParaRPr lang="en-IN"/>
          </a:p>
        </p:txBody>
      </p:sp>
      <p:sp>
        <p:nvSpPr>
          <p:cNvPr id="36" name="Shape 34"/>
          <p:cNvSpPr/>
          <p:nvPr/>
        </p:nvSpPr>
        <p:spPr>
          <a:xfrm>
            <a:off x="6364224" y="3255264"/>
            <a:ext cx="64008" cy="64008"/>
          </a:xfrm>
          <a:prstGeom prst="ellipse">
            <a:avLst/>
          </a:prstGeom>
          <a:solidFill>
            <a:srgbClr val="1C2A38"/>
          </a:solidFill>
          <a:ln w="12700">
            <a:solidFill>
              <a:srgbClr val="1C2A38"/>
            </a:solidFill>
            <a:prstDash val="solid"/>
          </a:ln>
        </p:spPr>
        <p:txBody>
          <a:bodyPr/>
          <a:lstStyle/>
          <a:p>
            <a:endParaRPr lang="en-IN"/>
          </a:p>
        </p:txBody>
      </p:sp>
      <p:sp>
        <p:nvSpPr>
          <p:cNvPr id="37" name="Shape 35"/>
          <p:cNvSpPr/>
          <p:nvPr/>
        </p:nvSpPr>
        <p:spPr>
          <a:xfrm>
            <a:off x="6364224" y="4078224"/>
            <a:ext cx="64008" cy="64008"/>
          </a:xfrm>
          <a:prstGeom prst="ellipse">
            <a:avLst/>
          </a:prstGeom>
          <a:solidFill>
            <a:srgbClr val="1C2A38"/>
          </a:solidFill>
          <a:ln w="12700">
            <a:solidFill>
              <a:srgbClr val="1C2A38"/>
            </a:solidFill>
            <a:prstDash val="solid"/>
          </a:ln>
        </p:spPr>
        <p:txBody>
          <a:bodyPr/>
          <a:lstStyle/>
          <a:p>
            <a:endParaRPr lang="en-IN"/>
          </a:p>
        </p:txBody>
      </p:sp>
      <p:sp>
        <p:nvSpPr>
          <p:cNvPr id="38" name="Shape 36"/>
          <p:cNvSpPr/>
          <p:nvPr/>
        </p:nvSpPr>
        <p:spPr>
          <a:xfrm>
            <a:off x="7278624" y="786384"/>
            <a:ext cx="64008" cy="64008"/>
          </a:xfrm>
          <a:prstGeom prst="ellipse">
            <a:avLst/>
          </a:prstGeom>
          <a:solidFill>
            <a:srgbClr val="1C2A38"/>
          </a:solidFill>
          <a:ln w="12700">
            <a:solidFill>
              <a:srgbClr val="1C2A38"/>
            </a:solidFill>
            <a:prstDash val="solid"/>
          </a:ln>
        </p:spPr>
        <p:txBody>
          <a:bodyPr/>
          <a:lstStyle/>
          <a:p>
            <a:endParaRPr lang="en-IN"/>
          </a:p>
        </p:txBody>
      </p:sp>
      <p:sp>
        <p:nvSpPr>
          <p:cNvPr id="39" name="Shape 37"/>
          <p:cNvSpPr/>
          <p:nvPr/>
        </p:nvSpPr>
        <p:spPr>
          <a:xfrm>
            <a:off x="7278624" y="1609344"/>
            <a:ext cx="64008" cy="64008"/>
          </a:xfrm>
          <a:prstGeom prst="ellipse">
            <a:avLst/>
          </a:prstGeom>
          <a:solidFill>
            <a:srgbClr val="1C2A38"/>
          </a:solidFill>
          <a:ln w="12700">
            <a:solidFill>
              <a:srgbClr val="1C2A38"/>
            </a:solidFill>
            <a:prstDash val="solid"/>
          </a:ln>
        </p:spPr>
        <p:txBody>
          <a:bodyPr/>
          <a:lstStyle/>
          <a:p>
            <a:endParaRPr lang="en-IN"/>
          </a:p>
        </p:txBody>
      </p:sp>
      <p:sp>
        <p:nvSpPr>
          <p:cNvPr id="40" name="Shape 38"/>
          <p:cNvSpPr/>
          <p:nvPr/>
        </p:nvSpPr>
        <p:spPr>
          <a:xfrm>
            <a:off x="7278624" y="2432304"/>
            <a:ext cx="64008" cy="64008"/>
          </a:xfrm>
          <a:prstGeom prst="ellipse">
            <a:avLst/>
          </a:prstGeom>
          <a:solidFill>
            <a:srgbClr val="1C2A38"/>
          </a:solidFill>
          <a:ln w="12700">
            <a:solidFill>
              <a:srgbClr val="1C2A38"/>
            </a:solidFill>
            <a:prstDash val="solid"/>
          </a:ln>
        </p:spPr>
        <p:txBody>
          <a:bodyPr/>
          <a:lstStyle/>
          <a:p>
            <a:endParaRPr lang="en-IN"/>
          </a:p>
        </p:txBody>
      </p:sp>
      <p:sp>
        <p:nvSpPr>
          <p:cNvPr id="41" name="Shape 39"/>
          <p:cNvSpPr/>
          <p:nvPr/>
        </p:nvSpPr>
        <p:spPr>
          <a:xfrm>
            <a:off x="7278624" y="3255264"/>
            <a:ext cx="64008" cy="64008"/>
          </a:xfrm>
          <a:prstGeom prst="ellipse">
            <a:avLst/>
          </a:prstGeom>
          <a:solidFill>
            <a:srgbClr val="1C2A38"/>
          </a:solidFill>
          <a:ln w="12700">
            <a:solidFill>
              <a:srgbClr val="1C2A38"/>
            </a:solidFill>
            <a:prstDash val="solid"/>
          </a:ln>
        </p:spPr>
        <p:txBody>
          <a:bodyPr/>
          <a:lstStyle/>
          <a:p>
            <a:endParaRPr lang="en-IN"/>
          </a:p>
        </p:txBody>
      </p:sp>
      <p:sp>
        <p:nvSpPr>
          <p:cNvPr id="42" name="Shape 40"/>
          <p:cNvSpPr/>
          <p:nvPr/>
        </p:nvSpPr>
        <p:spPr>
          <a:xfrm>
            <a:off x="7278624" y="4078224"/>
            <a:ext cx="64008" cy="64008"/>
          </a:xfrm>
          <a:prstGeom prst="ellipse">
            <a:avLst/>
          </a:prstGeom>
          <a:solidFill>
            <a:srgbClr val="1C2A38"/>
          </a:solidFill>
          <a:ln w="12700">
            <a:solidFill>
              <a:srgbClr val="1C2A38"/>
            </a:solidFill>
            <a:prstDash val="solid"/>
          </a:ln>
        </p:spPr>
        <p:txBody>
          <a:bodyPr/>
          <a:lstStyle/>
          <a:p>
            <a:endParaRPr lang="en-IN"/>
          </a:p>
        </p:txBody>
      </p:sp>
      <p:sp>
        <p:nvSpPr>
          <p:cNvPr id="43" name="Shape 41"/>
          <p:cNvSpPr/>
          <p:nvPr/>
        </p:nvSpPr>
        <p:spPr>
          <a:xfrm>
            <a:off x="8193024" y="786384"/>
            <a:ext cx="64008" cy="64008"/>
          </a:xfrm>
          <a:prstGeom prst="ellipse">
            <a:avLst/>
          </a:prstGeom>
          <a:solidFill>
            <a:srgbClr val="1C2A38"/>
          </a:solidFill>
          <a:ln w="12700">
            <a:solidFill>
              <a:srgbClr val="1C2A38"/>
            </a:solidFill>
            <a:prstDash val="solid"/>
          </a:ln>
        </p:spPr>
        <p:txBody>
          <a:bodyPr/>
          <a:lstStyle/>
          <a:p>
            <a:endParaRPr lang="en-IN"/>
          </a:p>
        </p:txBody>
      </p:sp>
      <p:sp>
        <p:nvSpPr>
          <p:cNvPr id="44" name="Shape 42"/>
          <p:cNvSpPr/>
          <p:nvPr/>
        </p:nvSpPr>
        <p:spPr>
          <a:xfrm>
            <a:off x="8193024" y="1609344"/>
            <a:ext cx="64008" cy="64008"/>
          </a:xfrm>
          <a:prstGeom prst="ellipse">
            <a:avLst/>
          </a:prstGeom>
          <a:solidFill>
            <a:srgbClr val="1C2A38"/>
          </a:solidFill>
          <a:ln w="12700">
            <a:solidFill>
              <a:srgbClr val="1C2A38"/>
            </a:solidFill>
            <a:prstDash val="solid"/>
          </a:ln>
        </p:spPr>
        <p:txBody>
          <a:bodyPr/>
          <a:lstStyle/>
          <a:p>
            <a:endParaRPr lang="en-IN"/>
          </a:p>
        </p:txBody>
      </p:sp>
      <p:sp>
        <p:nvSpPr>
          <p:cNvPr id="45" name="Shape 43"/>
          <p:cNvSpPr/>
          <p:nvPr/>
        </p:nvSpPr>
        <p:spPr>
          <a:xfrm>
            <a:off x="8193024" y="2432304"/>
            <a:ext cx="64008" cy="64008"/>
          </a:xfrm>
          <a:prstGeom prst="ellipse">
            <a:avLst/>
          </a:prstGeom>
          <a:solidFill>
            <a:srgbClr val="1C2A38"/>
          </a:solidFill>
          <a:ln w="12700">
            <a:solidFill>
              <a:srgbClr val="1C2A38"/>
            </a:solidFill>
            <a:prstDash val="solid"/>
          </a:ln>
        </p:spPr>
        <p:txBody>
          <a:bodyPr/>
          <a:lstStyle/>
          <a:p>
            <a:endParaRPr lang="en-IN"/>
          </a:p>
        </p:txBody>
      </p:sp>
      <p:sp>
        <p:nvSpPr>
          <p:cNvPr id="46" name="Shape 44"/>
          <p:cNvSpPr/>
          <p:nvPr/>
        </p:nvSpPr>
        <p:spPr>
          <a:xfrm>
            <a:off x="8193024" y="3255264"/>
            <a:ext cx="64008" cy="64008"/>
          </a:xfrm>
          <a:prstGeom prst="ellipse">
            <a:avLst/>
          </a:prstGeom>
          <a:solidFill>
            <a:srgbClr val="1C2A38"/>
          </a:solidFill>
          <a:ln w="12700">
            <a:solidFill>
              <a:srgbClr val="1C2A38"/>
            </a:solidFill>
            <a:prstDash val="solid"/>
          </a:ln>
        </p:spPr>
        <p:txBody>
          <a:bodyPr/>
          <a:lstStyle/>
          <a:p>
            <a:endParaRPr lang="en-IN"/>
          </a:p>
        </p:txBody>
      </p:sp>
      <p:sp>
        <p:nvSpPr>
          <p:cNvPr id="47" name="Shape 45"/>
          <p:cNvSpPr/>
          <p:nvPr/>
        </p:nvSpPr>
        <p:spPr>
          <a:xfrm>
            <a:off x="8193024" y="4078224"/>
            <a:ext cx="64008" cy="64008"/>
          </a:xfrm>
          <a:prstGeom prst="ellipse">
            <a:avLst/>
          </a:prstGeom>
          <a:solidFill>
            <a:srgbClr val="1C2A38"/>
          </a:solidFill>
          <a:ln w="12700">
            <a:solidFill>
              <a:srgbClr val="1C2A38"/>
            </a:solidFill>
            <a:prstDash val="solid"/>
          </a:ln>
        </p:spPr>
        <p:txBody>
          <a:bodyPr/>
          <a:lstStyle/>
          <a:p>
            <a:endParaRPr lang="en-IN"/>
          </a:p>
        </p:txBody>
      </p:sp>
      <p:sp>
        <p:nvSpPr>
          <p:cNvPr id="48" name="Shape 46"/>
          <p:cNvSpPr/>
          <p:nvPr/>
        </p:nvSpPr>
        <p:spPr>
          <a:xfrm>
            <a:off x="502920" y="594360"/>
            <a:ext cx="2194560" cy="292608"/>
          </a:xfrm>
          <a:prstGeom prst="rect">
            <a:avLst/>
          </a:prstGeom>
          <a:solidFill>
            <a:srgbClr val="0D3349"/>
          </a:solidFill>
          <a:ln w="12700">
            <a:solidFill>
              <a:srgbClr val="00B4D8"/>
            </a:solidFill>
            <a:prstDash val="solid"/>
          </a:ln>
        </p:spPr>
        <p:txBody>
          <a:bodyPr/>
          <a:lstStyle/>
          <a:p>
            <a:endParaRPr lang="en-IN"/>
          </a:p>
        </p:txBody>
      </p:sp>
      <p:sp>
        <p:nvSpPr>
          <p:cNvPr id="49" name="Text 47"/>
          <p:cNvSpPr/>
          <p:nvPr/>
        </p:nvSpPr>
        <p:spPr>
          <a:xfrm>
            <a:off x="502920" y="594360"/>
            <a:ext cx="2194560" cy="292608"/>
          </a:xfrm>
          <a:prstGeom prst="rect">
            <a:avLst/>
          </a:prstGeom>
          <a:noFill/>
          <a:ln/>
        </p:spPr>
        <p:txBody>
          <a:bodyPr wrap="square" lIns="0" tIns="0" rIns="0" bIns="0" rtlCol="0" anchor="ctr"/>
          <a:lstStyle/>
          <a:p>
            <a:pPr marL="0" indent="0" algn="ctr">
              <a:buNone/>
            </a:pPr>
            <a:r>
              <a:rPr lang="en-US" sz="700" b="1" kern="0" spc="150" dirty="0">
                <a:solidFill>
                  <a:srgbClr val="00B4D8"/>
                </a:solidFill>
              </a:rPr>
              <a:t>COLLEGE PROJECT PRESENTATION</a:t>
            </a:r>
            <a:endParaRPr lang="en-US" sz="700" dirty="0"/>
          </a:p>
        </p:txBody>
      </p:sp>
      <p:sp>
        <p:nvSpPr>
          <p:cNvPr id="50" name="Text 48"/>
          <p:cNvSpPr/>
          <p:nvPr/>
        </p:nvSpPr>
        <p:spPr>
          <a:xfrm>
            <a:off x="411480" y="1005840"/>
            <a:ext cx="5943600" cy="1188720"/>
          </a:xfrm>
          <a:prstGeom prst="rect">
            <a:avLst/>
          </a:prstGeom>
          <a:noFill/>
          <a:ln/>
        </p:spPr>
        <p:txBody>
          <a:bodyPr wrap="square" lIns="0" tIns="0" rIns="0" bIns="0" rtlCol="0" anchor="ctr"/>
          <a:lstStyle/>
          <a:p>
            <a:pPr marL="0" indent="0" algn="l">
              <a:buNone/>
            </a:pPr>
            <a:r>
              <a:rPr lang="en-US" sz="4000" b="1" dirty="0">
                <a:solidFill>
                  <a:srgbClr val="FFFFFF"/>
                </a:solidFill>
                <a:latin typeface="Trebuchet MS" pitchFamily="34" charset="0"/>
                <a:ea typeface="Trebuchet MS" pitchFamily="34" charset="-122"/>
                <a:cs typeface="Trebuchet MS" pitchFamily="34" charset="-120"/>
              </a:rPr>
              <a:t>Federated Files Sharing</a:t>
            </a:r>
            <a:endParaRPr lang="en-US" sz="4000" dirty="0"/>
          </a:p>
        </p:txBody>
      </p:sp>
      <p:sp>
        <p:nvSpPr>
          <p:cNvPr id="51" name="Text 49"/>
          <p:cNvSpPr/>
          <p:nvPr/>
        </p:nvSpPr>
        <p:spPr>
          <a:xfrm>
            <a:off x="411480" y="2286000"/>
            <a:ext cx="5943600" cy="914400"/>
          </a:xfrm>
          <a:prstGeom prst="rect">
            <a:avLst/>
          </a:prstGeom>
          <a:noFill/>
          <a:ln/>
        </p:spPr>
        <p:txBody>
          <a:bodyPr wrap="square" lIns="0" tIns="0" rIns="0" bIns="0" rtlCol="0" anchor="t"/>
          <a:lstStyle/>
          <a:p>
            <a:pPr marL="0" indent="0" algn="l">
              <a:buNone/>
            </a:pPr>
            <a:r>
              <a:rPr lang="en-US" dirty="0">
                <a:solidFill>
                  <a:srgbClr val="8B949E"/>
                </a:solidFill>
                <a:latin typeface="Calibri" pitchFamily="34" charset="0"/>
                <a:ea typeface="Calibri" pitchFamily="34" charset="-122"/>
                <a:cs typeface="Calibri" pitchFamily="34" charset="-120"/>
              </a:rPr>
              <a:t>A Federated, Self-Hosted File Sharing</a:t>
            </a:r>
            <a:endParaRPr lang="en-US" dirty="0"/>
          </a:p>
          <a:p>
            <a:pPr marL="0" indent="0" algn="l">
              <a:buNone/>
            </a:pPr>
            <a:r>
              <a:rPr lang="en-US" dirty="0">
                <a:solidFill>
                  <a:srgbClr val="8B949E"/>
                </a:solidFill>
                <a:latin typeface="Calibri" pitchFamily="34" charset="0"/>
                <a:ea typeface="Calibri" pitchFamily="34" charset="-122"/>
                <a:cs typeface="Calibri" pitchFamily="34" charset="-120"/>
              </a:rPr>
              <a:t>Streaming &amp; Synchronization Network</a:t>
            </a:r>
            <a:endParaRPr lang="en-US" dirty="0"/>
          </a:p>
        </p:txBody>
      </p:sp>
      <p:sp>
        <p:nvSpPr>
          <p:cNvPr id="52" name="Shape 50"/>
          <p:cNvSpPr/>
          <p:nvPr/>
        </p:nvSpPr>
        <p:spPr>
          <a:xfrm>
            <a:off x="429768" y="2976372"/>
            <a:ext cx="4572000" cy="411480"/>
          </a:xfrm>
          <a:prstGeom prst="rect">
            <a:avLst/>
          </a:prstGeom>
          <a:solidFill>
            <a:srgbClr val="091A26"/>
          </a:solidFill>
          <a:ln w="12700">
            <a:solidFill>
              <a:srgbClr val="02C39A"/>
            </a:solidFill>
            <a:prstDash val="solid"/>
          </a:ln>
        </p:spPr>
        <p:txBody>
          <a:bodyPr/>
          <a:lstStyle/>
          <a:p>
            <a:endParaRPr lang="en-IN"/>
          </a:p>
        </p:txBody>
      </p:sp>
      <p:sp>
        <p:nvSpPr>
          <p:cNvPr id="53" name="Text 51"/>
          <p:cNvSpPr/>
          <p:nvPr/>
        </p:nvSpPr>
        <p:spPr>
          <a:xfrm>
            <a:off x="256032" y="2958084"/>
            <a:ext cx="4572000" cy="411480"/>
          </a:xfrm>
          <a:prstGeom prst="rect">
            <a:avLst/>
          </a:prstGeom>
          <a:noFill/>
          <a:ln/>
        </p:spPr>
        <p:txBody>
          <a:bodyPr wrap="square" lIns="0" tIns="0" rIns="0" bIns="0" rtlCol="0" anchor="ctr"/>
          <a:lstStyle/>
          <a:p>
            <a:pPr marL="0" indent="0" algn="ctr">
              <a:buNone/>
            </a:pPr>
            <a:r>
              <a:rPr lang="en-US" sz="1200" i="1" dirty="0">
                <a:solidFill>
                  <a:srgbClr val="02C39A"/>
                </a:solidFill>
                <a:latin typeface="Calibri" pitchFamily="34" charset="0"/>
                <a:ea typeface="Calibri" pitchFamily="34" charset="-122"/>
                <a:cs typeface="Calibri" pitchFamily="34" charset="-120"/>
              </a:rPr>
              <a:t>"Your hard drives. One network."</a:t>
            </a:r>
            <a:endParaRPr lang="en-US" sz="1200" dirty="0"/>
          </a:p>
        </p:txBody>
      </p:sp>
      <p:sp>
        <p:nvSpPr>
          <p:cNvPr id="54" name="Shape 52"/>
          <p:cNvSpPr/>
          <p:nvPr/>
        </p:nvSpPr>
        <p:spPr>
          <a:xfrm>
            <a:off x="4581144" y="4389951"/>
            <a:ext cx="1261872" cy="274320"/>
          </a:xfrm>
          <a:prstGeom prst="rect">
            <a:avLst/>
          </a:prstGeom>
          <a:solidFill>
            <a:srgbClr val="132030"/>
          </a:solidFill>
          <a:ln w="12700">
            <a:solidFill>
              <a:srgbClr val="21262D"/>
            </a:solidFill>
            <a:prstDash val="solid"/>
          </a:ln>
        </p:spPr>
        <p:txBody>
          <a:bodyPr/>
          <a:lstStyle/>
          <a:p>
            <a:endParaRPr lang="en-IN"/>
          </a:p>
        </p:txBody>
      </p:sp>
      <p:sp>
        <p:nvSpPr>
          <p:cNvPr id="55" name="Text 53"/>
          <p:cNvSpPr/>
          <p:nvPr/>
        </p:nvSpPr>
        <p:spPr>
          <a:xfrm>
            <a:off x="4581144" y="4389951"/>
            <a:ext cx="1261872" cy="274320"/>
          </a:xfrm>
          <a:prstGeom prst="rect">
            <a:avLst/>
          </a:prstGeom>
          <a:noFill/>
          <a:ln/>
        </p:spPr>
        <p:txBody>
          <a:bodyPr wrap="square" lIns="0" tIns="0" rIns="0" bIns="0" rtlCol="0" anchor="ctr"/>
          <a:lstStyle/>
          <a:p>
            <a:pPr marL="0" indent="0" algn="ctr">
              <a:buNone/>
            </a:pPr>
            <a:r>
              <a:rPr lang="en-US" sz="900" dirty="0">
                <a:solidFill>
                  <a:srgbClr val="8B949E"/>
                </a:solidFill>
              </a:rPr>
              <a:t>Python</a:t>
            </a:r>
            <a:endParaRPr lang="en-US" sz="900" dirty="0"/>
          </a:p>
        </p:txBody>
      </p:sp>
      <p:sp>
        <p:nvSpPr>
          <p:cNvPr id="56" name="Shape 54"/>
          <p:cNvSpPr/>
          <p:nvPr/>
        </p:nvSpPr>
        <p:spPr>
          <a:xfrm>
            <a:off x="5971032" y="4389951"/>
            <a:ext cx="1261872" cy="274320"/>
          </a:xfrm>
          <a:prstGeom prst="rect">
            <a:avLst/>
          </a:prstGeom>
          <a:solidFill>
            <a:srgbClr val="132030"/>
          </a:solidFill>
          <a:ln w="12700">
            <a:solidFill>
              <a:srgbClr val="21262D"/>
            </a:solidFill>
            <a:prstDash val="solid"/>
          </a:ln>
        </p:spPr>
        <p:txBody>
          <a:bodyPr/>
          <a:lstStyle/>
          <a:p>
            <a:endParaRPr lang="en-IN"/>
          </a:p>
        </p:txBody>
      </p:sp>
      <p:sp>
        <p:nvSpPr>
          <p:cNvPr id="57" name="Text 55"/>
          <p:cNvSpPr/>
          <p:nvPr/>
        </p:nvSpPr>
        <p:spPr>
          <a:xfrm>
            <a:off x="5971032" y="4389951"/>
            <a:ext cx="1261872" cy="274320"/>
          </a:xfrm>
          <a:prstGeom prst="rect">
            <a:avLst/>
          </a:prstGeom>
          <a:noFill/>
          <a:ln/>
        </p:spPr>
        <p:txBody>
          <a:bodyPr wrap="square" lIns="0" tIns="0" rIns="0" bIns="0" rtlCol="0" anchor="ctr"/>
          <a:lstStyle/>
          <a:p>
            <a:pPr marL="0" indent="0" algn="ctr">
              <a:buNone/>
            </a:pPr>
            <a:r>
              <a:rPr lang="en-US" sz="900" dirty="0">
                <a:solidFill>
                  <a:srgbClr val="8B949E"/>
                </a:solidFill>
              </a:rPr>
              <a:t>FastAPI</a:t>
            </a:r>
            <a:endParaRPr lang="en-US" sz="900" dirty="0"/>
          </a:p>
        </p:txBody>
      </p:sp>
      <p:sp>
        <p:nvSpPr>
          <p:cNvPr id="58" name="Shape 56"/>
          <p:cNvSpPr/>
          <p:nvPr/>
        </p:nvSpPr>
        <p:spPr>
          <a:xfrm>
            <a:off x="7360920" y="4389951"/>
            <a:ext cx="1261872" cy="274320"/>
          </a:xfrm>
          <a:prstGeom prst="rect">
            <a:avLst/>
          </a:prstGeom>
          <a:solidFill>
            <a:srgbClr val="132030"/>
          </a:solidFill>
          <a:ln w="12700">
            <a:solidFill>
              <a:srgbClr val="21262D"/>
            </a:solidFill>
            <a:prstDash val="solid"/>
          </a:ln>
        </p:spPr>
        <p:txBody>
          <a:bodyPr/>
          <a:lstStyle/>
          <a:p>
            <a:endParaRPr lang="en-IN"/>
          </a:p>
        </p:txBody>
      </p:sp>
      <p:sp>
        <p:nvSpPr>
          <p:cNvPr id="59" name="Text 57"/>
          <p:cNvSpPr/>
          <p:nvPr/>
        </p:nvSpPr>
        <p:spPr>
          <a:xfrm>
            <a:off x="7360920" y="4389951"/>
            <a:ext cx="1261872" cy="274320"/>
          </a:xfrm>
          <a:prstGeom prst="rect">
            <a:avLst/>
          </a:prstGeom>
          <a:noFill/>
          <a:ln/>
        </p:spPr>
        <p:txBody>
          <a:bodyPr wrap="square" lIns="0" tIns="0" rIns="0" bIns="0" rtlCol="0" anchor="ctr"/>
          <a:lstStyle/>
          <a:p>
            <a:pPr marL="0" indent="0" algn="ctr">
              <a:buNone/>
            </a:pPr>
            <a:r>
              <a:rPr lang="en-US" sz="900" dirty="0">
                <a:solidFill>
                  <a:srgbClr val="8B949E"/>
                </a:solidFill>
              </a:rPr>
              <a:t>React</a:t>
            </a:r>
            <a:endParaRPr lang="en-US" sz="900" dirty="0"/>
          </a:p>
        </p:txBody>
      </p:sp>
      <p:sp>
        <p:nvSpPr>
          <p:cNvPr id="60" name="Shape 58"/>
          <p:cNvSpPr/>
          <p:nvPr/>
        </p:nvSpPr>
        <p:spPr>
          <a:xfrm>
            <a:off x="4581144" y="3913632"/>
            <a:ext cx="1261872" cy="274320"/>
          </a:xfrm>
          <a:prstGeom prst="rect">
            <a:avLst/>
          </a:prstGeom>
          <a:solidFill>
            <a:srgbClr val="132030"/>
          </a:solidFill>
          <a:ln w="12700">
            <a:solidFill>
              <a:srgbClr val="21262D"/>
            </a:solidFill>
            <a:prstDash val="solid"/>
          </a:ln>
        </p:spPr>
        <p:txBody>
          <a:bodyPr/>
          <a:lstStyle/>
          <a:p>
            <a:endParaRPr lang="en-IN"/>
          </a:p>
        </p:txBody>
      </p:sp>
      <p:sp>
        <p:nvSpPr>
          <p:cNvPr id="61" name="Text 59"/>
          <p:cNvSpPr/>
          <p:nvPr/>
        </p:nvSpPr>
        <p:spPr>
          <a:xfrm>
            <a:off x="4581144" y="3913632"/>
            <a:ext cx="1261872" cy="274320"/>
          </a:xfrm>
          <a:prstGeom prst="rect">
            <a:avLst/>
          </a:prstGeom>
          <a:noFill/>
          <a:ln/>
        </p:spPr>
        <p:txBody>
          <a:bodyPr wrap="square" lIns="0" tIns="0" rIns="0" bIns="0" rtlCol="0" anchor="ctr"/>
          <a:lstStyle/>
          <a:p>
            <a:pPr marL="0" indent="0" algn="ctr">
              <a:buNone/>
            </a:pPr>
            <a:r>
              <a:rPr lang="en-US" sz="900" dirty="0">
                <a:solidFill>
                  <a:srgbClr val="8B949E"/>
                </a:solidFill>
              </a:rPr>
              <a:t>Docker</a:t>
            </a:r>
            <a:endParaRPr lang="en-US" sz="900" dirty="0"/>
          </a:p>
        </p:txBody>
      </p:sp>
      <p:sp>
        <p:nvSpPr>
          <p:cNvPr id="62" name="Shape 60"/>
          <p:cNvSpPr/>
          <p:nvPr/>
        </p:nvSpPr>
        <p:spPr>
          <a:xfrm>
            <a:off x="5971032" y="3913632"/>
            <a:ext cx="1261872" cy="274320"/>
          </a:xfrm>
          <a:prstGeom prst="rect">
            <a:avLst/>
          </a:prstGeom>
          <a:solidFill>
            <a:srgbClr val="132030"/>
          </a:solidFill>
          <a:ln w="12700">
            <a:solidFill>
              <a:srgbClr val="21262D"/>
            </a:solidFill>
            <a:prstDash val="solid"/>
          </a:ln>
        </p:spPr>
        <p:txBody>
          <a:bodyPr/>
          <a:lstStyle/>
          <a:p>
            <a:endParaRPr lang="en-IN"/>
          </a:p>
        </p:txBody>
      </p:sp>
      <p:sp>
        <p:nvSpPr>
          <p:cNvPr id="63" name="Text 61"/>
          <p:cNvSpPr/>
          <p:nvPr/>
        </p:nvSpPr>
        <p:spPr>
          <a:xfrm>
            <a:off x="5971032" y="3913632"/>
            <a:ext cx="1261872" cy="274320"/>
          </a:xfrm>
          <a:prstGeom prst="rect">
            <a:avLst/>
          </a:prstGeom>
          <a:noFill/>
          <a:ln/>
        </p:spPr>
        <p:txBody>
          <a:bodyPr wrap="square" lIns="0" tIns="0" rIns="0" bIns="0" rtlCol="0" anchor="ctr"/>
          <a:lstStyle/>
          <a:p>
            <a:pPr marL="0" indent="0" algn="ctr">
              <a:buNone/>
            </a:pPr>
            <a:r>
              <a:rPr lang="en-US" sz="900" dirty="0">
                <a:solidFill>
                  <a:srgbClr val="8B949E"/>
                </a:solidFill>
              </a:rPr>
              <a:t>SQLite</a:t>
            </a:r>
            <a:endParaRPr lang="en-US" sz="900" dirty="0"/>
          </a:p>
        </p:txBody>
      </p:sp>
      <p:sp>
        <p:nvSpPr>
          <p:cNvPr id="64" name="Shape 62"/>
          <p:cNvSpPr/>
          <p:nvPr/>
        </p:nvSpPr>
        <p:spPr>
          <a:xfrm>
            <a:off x="7360920" y="3913632"/>
            <a:ext cx="1261872" cy="274320"/>
          </a:xfrm>
          <a:prstGeom prst="rect">
            <a:avLst/>
          </a:prstGeom>
          <a:solidFill>
            <a:srgbClr val="132030"/>
          </a:solidFill>
          <a:ln w="12700">
            <a:solidFill>
              <a:srgbClr val="21262D"/>
            </a:solidFill>
            <a:prstDash val="solid"/>
          </a:ln>
        </p:spPr>
        <p:txBody>
          <a:bodyPr/>
          <a:lstStyle/>
          <a:p>
            <a:endParaRPr lang="en-IN"/>
          </a:p>
        </p:txBody>
      </p:sp>
      <p:sp>
        <p:nvSpPr>
          <p:cNvPr id="65" name="Text 63"/>
          <p:cNvSpPr/>
          <p:nvPr/>
        </p:nvSpPr>
        <p:spPr>
          <a:xfrm>
            <a:off x="7360920" y="3913632"/>
            <a:ext cx="1261872" cy="274320"/>
          </a:xfrm>
          <a:prstGeom prst="rect">
            <a:avLst/>
          </a:prstGeom>
          <a:noFill/>
          <a:ln/>
        </p:spPr>
        <p:txBody>
          <a:bodyPr wrap="square" lIns="0" tIns="0" rIns="0" bIns="0" rtlCol="0" anchor="ctr"/>
          <a:lstStyle/>
          <a:p>
            <a:pPr marL="0" indent="0" algn="ctr">
              <a:buNone/>
            </a:pPr>
            <a:r>
              <a:rPr lang="en-US" sz="900" dirty="0">
                <a:solidFill>
                  <a:srgbClr val="8B949E"/>
                </a:solidFill>
              </a:rPr>
              <a:t>FTS5</a:t>
            </a:r>
            <a:endParaRPr lang="en-US" sz="900" dirty="0"/>
          </a:p>
        </p:txBody>
      </p:sp>
      <p:sp>
        <p:nvSpPr>
          <p:cNvPr id="66" name="Shape 64"/>
          <p:cNvSpPr/>
          <p:nvPr/>
        </p:nvSpPr>
        <p:spPr>
          <a:xfrm>
            <a:off x="6903720" y="850393"/>
            <a:ext cx="1051560" cy="1536192"/>
          </a:xfrm>
          <a:prstGeom prst="line">
            <a:avLst/>
          </a:prstGeom>
          <a:noFill/>
          <a:ln w="19050">
            <a:solidFill>
              <a:srgbClr val="1E4060"/>
            </a:solidFill>
            <a:prstDash val="dash"/>
          </a:ln>
        </p:spPr>
        <p:txBody>
          <a:bodyPr/>
          <a:lstStyle/>
          <a:p>
            <a:endParaRPr lang="en-IN"/>
          </a:p>
        </p:txBody>
      </p:sp>
      <p:sp>
        <p:nvSpPr>
          <p:cNvPr id="67" name="Shape 65"/>
          <p:cNvSpPr/>
          <p:nvPr/>
        </p:nvSpPr>
        <p:spPr>
          <a:xfrm flipH="1">
            <a:off x="6291072" y="651164"/>
            <a:ext cx="301752" cy="2297777"/>
          </a:xfrm>
          <a:prstGeom prst="line">
            <a:avLst/>
          </a:prstGeom>
          <a:noFill/>
          <a:ln w="19050">
            <a:solidFill>
              <a:srgbClr val="1E4060"/>
            </a:solidFill>
            <a:prstDash val="dash"/>
          </a:ln>
        </p:spPr>
        <p:txBody>
          <a:bodyPr/>
          <a:lstStyle/>
          <a:p>
            <a:endParaRPr lang="en-IN"/>
          </a:p>
        </p:txBody>
      </p:sp>
      <p:sp>
        <p:nvSpPr>
          <p:cNvPr id="68" name="Shape 66"/>
          <p:cNvSpPr/>
          <p:nvPr/>
        </p:nvSpPr>
        <p:spPr>
          <a:xfrm flipV="1">
            <a:off x="6629400" y="2532888"/>
            <a:ext cx="1005840" cy="416330"/>
          </a:xfrm>
          <a:prstGeom prst="line">
            <a:avLst/>
          </a:prstGeom>
          <a:noFill/>
          <a:ln w="19050">
            <a:solidFill>
              <a:srgbClr val="1E4060"/>
            </a:solidFill>
            <a:prstDash val="dash"/>
          </a:ln>
        </p:spPr>
        <p:txBody>
          <a:bodyPr/>
          <a:lstStyle/>
          <a:p>
            <a:endParaRPr lang="en-IN"/>
          </a:p>
        </p:txBody>
      </p:sp>
      <p:sp>
        <p:nvSpPr>
          <p:cNvPr id="69" name="Shape 67"/>
          <p:cNvSpPr/>
          <p:nvPr/>
        </p:nvSpPr>
        <p:spPr>
          <a:xfrm>
            <a:off x="6291072" y="164592"/>
            <a:ext cx="1133856" cy="1133856"/>
          </a:xfrm>
          <a:prstGeom prst="ellipse">
            <a:avLst/>
          </a:prstGeom>
          <a:solidFill>
            <a:srgbClr val="0D1E2E"/>
          </a:solidFill>
          <a:ln w="25400">
            <a:solidFill>
              <a:srgbClr val="0077B6"/>
            </a:solidFill>
            <a:prstDash val="solid"/>
          </a:ln>
        </p:spPr>
        <p:txBody>
          <a:bodyPr/>
          <a:lstStyle/>
          <a:p>
            <a:endParaRPr lang="en-IN"/>
          </a:p>
        </p:txBody>
      </p:sp>
      <p:pic>
        <p:nvPicPr>
          <p:cNvPr id="70" name="Image 0" descr="preencoded.png"/>
          <p:cNvPicPr>
            <a:picLocks noChangeAspect="1"/>
          </p:cNvPicPr>
          <p:nvPr/>
        </p:nvPicPr>
        <p:blipFill>
          <a:blip r:embed="rId3"/>
          <a:stretch>
            <a:fillRect/>
          </a:stretch>
        </p:blipFill>
        <p:spPr>
          <a:xfrm>
            <a:off x="6629400" y="438912"/>
            <a:ext cx="457200" cy="457200"/>
          </a:xfrm>
          <a:prstGeom prst="rect">
            <a:avLst/>
          </a:prstGeom>
        </p:spPr>
      </p:pic>
      <p:sp>
        <p:nvSpPr>
          <p:cNvPr id="71" name="Text 68"/>
          <p:cNvSpPr/>
          <p:nvPr/>
        </p:nvSpPr>
        <p:spPr>
          <a:xfrm>
            <a:off x="6291072" y="1344168"/>
            <a:ext cx="1133856" cy="457200"/>
          </a:xfrm>
          <a:prstGeom prst="rect">
            <a:avLst/>
          </a:prstGeom>
          <a:noFill/>
          <a:ln/>
        </p:spPr>
        <p:txBody>
          <a:bodyPr wrap="square" lIns="0" tIns="0" rIns="0" bIns="0" rtlCol="0" anchor="t"/>
          <a:lstStyle/>
          <a:p>
            <a:pPr marL="0" indent="0" algn="ctr">
              <a:buNone/>
            </a:pPr>
            <a:r>
              <a:rPr lang="en-US" sz="800" dirty="0">
                <a:solidFill>
                  <a:srgbClr val="8B949E"/>
                </a:solidFill>
              </a:rPr>
              <a:t>Directory</a:t>
            </a:r>
            <a:endParaRPr lang="en-US" sz="800" dirty="0"/>
          </a:p>
          <a:p>
            <a:pPr marL="0" indent="0" algn="ctr">
              <a:buNone/>
            </a:pPr>
            <a:r>
              <a:rPr lang="en-US" sz="800" dirty="0">
                <a:solidFill>
                  <a:srgbClr val="8B949E"/>
                </a:solidFill>
              </a:rPr>
              <a:t>Node</a:t>
            </a:r>
            <a:endParaRPr lang="en-US" sz="800" dirty="0"/>
          </a:p>
        </p:txBody>
      </p:sp>
      <p:sp>
        <p:nvSpPr>
          <p:cNvPr id="72" name="Shape 69"/>
          <p:cNvSpPr/>
          <p:nvPr/>
        </p:nvSpPr>
        <p:spPr>
          <a:xfrm>
            <a:off x="7296912" y="1719072"/>
            <a:ext cx="1133856" cy="1133856"/>
          </a:xfrm>
          <a:prstGeom prst="ellipse">
            <a:avLst/>
          </a:prstGeom>
          <a:solidFill>
            <a:srgbClr val="0D1E2E"/>
          </a:solidFill>
          <a:ln w="25400">
            <a:solidFill>
              <a:srgbClr val="02C39A"/>
            </a:solidFill>
            <a:prstDash val="solid"/>
          </a:ln>
        </p:spPr>
        <p:txBody>
          <a:bodyPr/>
          <a:lstStyle/>
          <a:p>
            <a:endParaRPr lang="en-IN"/>
          </a:p>
        </p:txBody>
      </p:sp>
      <p:pic>
        <p:nvPicPr>
          <p:cNvPr id="73" name="Image 1" descr="preencoded.png"/>
          <p:cNvPicPr>
            <a:picLocks noChangeAspect="1"/>
          </p:cNvPicPr>
          <p:nvPr/>
        </p:nvPicPr>
        <p:blipFill>
          <a:blip r:embed="rId4"/>
          <a:stretch>
            <a:fillRect/>
          </a:stretch>
        </p:blipFill>
        <p:spPr>
          <a:xfrm>
            <a:off x="7635240" y="1993392"/>
            <a:ext cx="457200" cy="457200"/>
          </a:xfrm>
          <a:prstGeom prst="rect">
            <a:avLst/>
          </a:prstGeom>
        </p:spPr>
      </p:pic>
      <p:sp>
        <p:nvSpPr>
          <p:cNvPr id="74" name="Text 70"/>
          <p:cNvSpPr/>
          <p:nvPr/>
        </p:nvSpPr>
        <p:spPr>
          <a:xfrm>
            <a:off x="7296912" y="2898648"/>
            <a:ext cx="1133856" cy="457200"/>
          </a:xfrm>
          <a:prstGeom prst="rect">
            <a:avLst/>
          </a:prstGeom>
          <a:noFill/>
          <a:ln/>
        </p:spPr>
        <p:txBody>
          <a:bodyPr wrap="square" lIns="0" tIns="0" rIns="0" bIns="0" rtlCol="0" anchor="t"/>
          <a:lstStyle/>
          <a:p>
            <a:pPr marL="0" indent="0" algn="ctr">
              <a:buNone/>
            </a:pPr>
            <a:r>
              <a:rPr lang="en-US" sz="800" dirty="0">
                <a:solidFill>
                  <a:srgbClr val="8B949E"/>
                </a:solidFill>
              </a:rPr>
              <a:t>Storage</a:t>
            </a:r>
            <a:endParaRPr lang="en-US" sz="800" dirty="0"/>
          </a:p>
          <a:p>
            <a:pPr marL="0" indent="0" algn="ctr">
              <a:buNone/>
            </a:pPr>
            <a:r>
              <a:rPr lang="en-US" sz="800" dirty="0">
                <a:solidFill>
                  <a:srgbClr val="8B949E"/>
                </a:solidFill>
              </a:rPr>
              <a:t>Node</a:t>
            </a:r>
            <a:endParaRPr lang="en-US" sz="800" dirty="0"/>
          </a:p>
        </p:txBody>
      </p:sp>
      <p:sp>
        <p:nvSpPr>
          <p:cNvPr id="75" name="Shape 71"/>
          <p:cNvSpPr/>
          <p:nvPr/>
        </p:nvSpPr>
        <p:spPr>
          <a:xfrm>
            <a:off x="5751576" y="2340864"/>
            <a:ext cx="1133856" cy="1133856"/>
          </a:xfrm>
          <a:prstGeom prst="ellipse">
            <a:avLst/>
          </a:prstGeom>
          <a:solidFill>
            <a:srgbClr val="0D1E2E"/>
          </a:solidFill>
          <a:ln w="25400">
            <a:solidFill>
              <a:srgbClr val="7B2FBE"/>
            </a:solidFill>
            <a:prstDash val="solid"/>
          </a:ln>
        </p:spPr>
        <p:txBody>
          <a:bodyPr/>
          <a:lstStyle/>
          <a:p>
            <a:endParaRPr lang="en-IN"/>
          </a:p>
        </p:txBody>
      </p:sp>
      <p:pic>
        <p:nvPicPr>
          <p:cNvPr id="76" name="Image 2" descr="preencoded.png"/>
          <p:cNvPicPr>
            <a:picLocks noChangeAspect="1"/>
          </p:cNvPicPr>
          <p:nvPr/>
        </p:nvPicPr>
        <p:blipFill>
          <a:blip r:embed="rId5"/>
          <a:stretch>
            <a:fillRect/>
          </a:stretch>
        </p:blipFill>
        <p:spPr>
          <a:xfrm>
            <a:off x="6103620" y="2711196"/>
            <a:ext cx="457200" cy="457200"/>
          </a:xfrm>
          <a:prstGeom prst="rect">
            <a:avLst/>
          </a:prstGeom>
        </p:spPr>
      </p:pic>
      <p:sp>
        <p:nvSpPr>
          <p:cNvPr id="77" name="Text 72"/>
          <p:cNvSpPr/>
          <p:nvPr/>
        </p:nvSpPr>
        <p:spPr>
          <a:xfrm>
            <a:off x="5751576" y="3536303"/>
            <a:ext cx="1133856" cy="457200"/>
          </a:xfrm>
          <a:prstGeom prst="rect">
            <a:avLst/>
          </a:prstGeom>
          <a:noFill/>
          <a:ln/>
        </p:spPr>
        <p:txBody>
          <a:bodyPr wrap="square" lIns="0" tIns="0" rIns="0" bIns="0" rtlCol="0" anchor="t"/>
          <a:lstStyle/>
          <a:p>
            <a:pPr marL="0" indent="0" algn="ctr">
              <a:buNone/>
            </a:pPr>
            <a:r>
              <a:rPr lang="en-US" sz="800" dirty="0">
                <a:solidFill>
                  <a:srgbClr val="8B949E"/>
                </a:solidFill>
              </a:rPr>
              <a:t>VPS Edge</a:t>
            </a:r>
            <a:endParaRPr lang="en-US" sz="800" dirty="0"/>
          </a:p>
          <a:p>
            <a:pPr marL="0" indent="0" algn="ctr">
              <a:buNone/>
            </a:pPr>
            <a:r>
              <a:rPr lang="en-US" sz="800" dirty="0">
                <a:solidFill>
                  <a:srgbClr val="8B949E"/>
                </a:solidFill>
              </a:rPr>
              <a:t>Proxy</a:t>
            </a:r>
            <a:endParaRPr lang="en-US" sz="800" dirty="0"/>
          </a:p>
        </p:txBody>
      </p:sp>
      <p:sp>
        <p:nvSpPr>
          <p:cNvPr id="78" name="Shape 46">
            <a:extLst>
              <a:ext uri="{FF2B5EF4-FFF2-40B4-BE49-F238E27FC236}">
                <a16:creationId xmlns:a16="http://schemas.microsoft.com/office/drawing/2014/main" id="{2CE3D460-B893-0A17-844D-9C06566C0298}"/>
              </a:ext>
            </a:extLst>
          </p:cNvPr>
          <p:cNvSpPr/>
          <p:nvPr/>
        </p:nvSpPr>
        <p:spPr>
          <a:xfrm>
            <a:off x="429768" y="3616312"/>
            <a:ext cx="3886200" cy="1357469"/>
          </a:xfrm>
          <a:prstGeom prst="rect">
            <a:avLst/>
          </a:prstGeom>
          <a:solidFill>
            <a:srgbClr val="0D3349"/>
          </a:solidFill>
          <a:ln w="12700">
            <a:solidFill>
              <a:srgbClr val="00B4D8"/>
            </a:solidFill>
            <a:prstDash val="solid"/>
          </a:ln>
        </p:spPr>
        <p:txBody>
          <a:bodyPr/>
          <a:lstStyle/>
          <a:p>
            <a:endParaRPr lang="en-IN"/>
          </a:p>
        </p:txBody>
      </p:sp>
      <p:sp>
        <p:nvSpPr>
          <p:cNvPr id="79" name="TextBox 78">
            <a:extLst>
              <a:ext uri="{FF2B5EF4-FFF2-40B4-BE49-F238E27FC236}">
                <a16:creationId xmlns:a16="http://schemas.microsoft.com/office/drawing/2014/main" id="{D69255F1-4FBE-84D3-74B5-FD000772795C}"/>
              </a:ext>
            </a:extLst>
          </p:cNvPr>
          <p:cNvSpPr txBox="1"/>
          <p:nvPr/>
        </p:nvSpPr>
        <p:spPr>
          <a:xfrm>
            <a:off x="434340" y="3694881"/>
            <a:ext cx="3991356" cy="1200329"/>
          </a:xfrm>
          <a:prstGeom prst="rect">
            <a:avLst/>
          </a:prstGeom>
          <a:noFill/>
        </p:spPr>
        <p:txBody>
          <a:bodyPr wrap="square" rtlCol="0">
            <a:spAutoFit/>
          </a:bodyPr>
          <a:lstStyle/>
          <a:p>
            <a:r>
              <a:rPr lang="en-US" dirty="0">
                <a:solidFill>
                  <a:schemeClr val="accent5"/>
                </a:solidFill>
                <a:latin typeface="Arial Black" panose="020B0A04020102020204" pitchFamily="34" charset="0"/>
              </a:rPr>
              <a:t>Team:</a:t>
            </a:r>
          </a:p>
          <a:p>
            <a:r>
              <a:rPr lang="en-US" dirty="0">
                <a:solidFill>
                  <a:schemeClr val="accent5"/>
                </a:solidFill>
                <a:latin typeface="Arial Black" panose="020B0A04020102020204" pitchFamily="34" charset="0"/>
              </a:rPr>
              <a:t>Mohammed Hassan (24)</a:t>
            </a:r>
          </a:p>
          <a:p>
            <a:r>
              <a:rPr lang="en-US" dirty="0">
                <a:solidFill>
                  <a:schemeClr val="accent5"/>
                </a:solidFill>
                <a:latin typeface="Arial Black" panose="020B0A04020102020204" pitchFamily="34" charset="0"/>
              </a:rPr>
              <a:t>Mohammed Abdul Wasay (15)</a:t>
            </a:r>
          </a:p>
          <a:p>
            <a:r>
              <a:rPr lang="en-US" dirty="0">
                <a:solidFill>
                  <a:schemeClr val="accent5"/>
                </a:solidFill>
                <a:latin typeface="Arial Black" panose="020B0A04020102020204" pitchFamily="34" charset="0"/>
              </a:rPr>
              <a:t xml:space="preserve">Syed </a:t>
            </a:r>
            <a:r>
              <a:rPr lang="en-US">
                <a:solidFill>
                  <a:schemeClr val="accent5"/>
                </a:solidFill>
                <a:latin typeface="Arial Black" panose="020B0A04020102020204" pitchFamily="34" charset="0"/>
              </a:rPr>
              <a:t>Adnan Shareef (19)</a:t>
            </a:r>
            <a:endParaRPr lang="en-US" dirty="0">
              <a:solidFill>
                <a:schemeClr val="accent5"/>
              </a:solidFill>
              <a:latin typeface="Arial Black" panose="020B0A040201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A"/>
        </a:solidFill>
        <a:effectLst/>
      </p:bgPr>
    </p:bg>
    <p:spTree>
      <p:nvGrpSpPr>
        <p:cNvPr id="1" name=""/>
        <p:cNvGrpSpPr/>
        <p:nvPr/>
      </p:nvGrpSpPr>
      <p:grpSpPr>
        <a:xfrm>
          <a:off x="0" y="0"/>
          <a:ext cx="0" cy="0"/>
          <a:chOff x="0" y="0"/>
          <a:chExt cx="0" cy="0"/>
        </a:xfrm>
      </p:grpSpPr>
      <p:sp>
        <p:nvSpPr>
          <p:cNvPr id="2" name="Shape 0"/>
          <p:cNvSpPr/>
          <p:nvPr/>
        </p:nvSpPr>
        <p:spPr>
          <a:xfrm>
            <a:off x="457200" y="256032"/>
            <a:ext cx="1188720" cy="237744"/>
          </a:xfrm>
          <a:prstGeom prst="rect">
            <a:avLst/>
          </a:prstGeom>
          <a:solidFill>
            <a:srgbClr val="FFE8E8"/>
          </a:solidFill>
          <a:ln w="12700">
            <a:solidFill>
              <a:srgbClr val="EF476F"/>
            </a:solidFill>
            <a:prstDash val="solid"/>
          </a:ln>
        </p:spPr>
        <p:txBody>
          <a:bodyPr/>
          <a:lstStyle/>
          <a:p>
            <a:endParaRPr lang="en-IN"/>
          </a:p>
        </p:txBody>
      </p:sp>
      <p:sp>
        <p:nvSpPr>
          <p:cNvPr id="3" name="Text 1"/>
          <p:cNvSpPr/>
          <p:nvPr/>
        </p:nvSpPr>
        <p:spPr>
          <a:xfrm>
            <a:off x="457200" y="256032"/>
            <a:ext cx="1188720" cy="237744"/>
          </a:xfrm>
          <a:prstGeom prst="rect">
            <a:avLst/>
          </a:prstGeom>
          <a:noFill/>
          <a:ln/>
        </p:spPr>
        <p:txBody>
          <a:bodyPr wrap="square" lIns="0" tIns="0" rIns="0" bIns="0" rtlCol="0" anchor="ctr"/>
          <a:lstStyle/>
          <a:p>
            <a:pPr marL="0" indent="0" algn="ctr">
              <a:buNone/>
            </a:pPr>
            <a:r>
              <a:rPr lang="en-US" sz="850" b="1" dirty="0">
                <a:solidFill>
                  <a:srgbClr val="EF476F"/>
                </a:solidFill>
              </a:rPr>
              <a:t>PROBLEM</a:t>
            </a:r>
            <a:endParaRPr lang="en-US" sz="850" dirty="0"/>
          </a:p>
        </p:txBody>
      </p:sp>
      <p:sp>
        <p:nvSpPr>
          <p:cNvPr id="4" name="Text 2"/>
          <p:cNvSpPr/>
          <p:nvPr/>
        </p:nvSpPr>
        <p:spPr>
          <a:xfrm>
            <a:off x="457200" y="566928"/>
            <a:ext cx="8229600" cy="594360"/>
          </a:xfrm>
          <a:prstGeom prst="rect">
            <a:avLst/>
          </a:prstGeom>
          <a:noFill/>
          <a:ln/>
        </p:spPr>
        <p:txBody>
          <a:bodyPr wrap="square" lIns="0" tIns="0" rIns="0" bIns="0" rtlCol="0" anchor="ctr"/>
          <a:lstStyle/>
          <a:p>
            <a:pPr marL="0" indent="0" algn="l">
              <a:buNone/>
            </a:pPr>
            <a:r>
              <a:rPr lang="en-US" sz="3000" b="1" dirty="0">
                <a:solidFill>
                  <a:srgbClr val="24292F"/>
                </a:solidFill>
                <a:latin typeface="Trebuchet MS" pitchFamily="34" charset="0"/>
                <a:ea typeface="Trebuchet MS" pitchFamily="34" charset="-122"/>
                <a:cs typeface="Trebuchet MS" pitchFamily="34" charset="-120"/>
              </a:rPr>
              <a:t>Why Existing Solutions Fail</a:t>
            </a:r>
            <a:endParaRPr lang="en-US" sz="3000" dirty="0"/>
          </a:p>
        </p:txBody>
      </p:sp>
      <p:sp>
        <p:nvSpPr>
          <p:cNvPr id="5" name="Shape 3"/>
          <p:cNvSpPr/>
          <p:nvPr/>
        </p:nvSpPr>
        <p:spPr>
          <a:xfrm>
            <a:off x="457200" y="1371600"/>
            <a:ext cx="4023360" cy="1508760"/>
          </a:xfrm>
          <a:prstGeom prst="rect">
            <a:avLst/>
          </a:prstGeom>
          <a:solidFill>
            <a:srgbClr val="FFFFFF"/>
          </a:solidFill>
          <a:ln w="12700">
            <a:solidFill>
              <a:srgbClr val="D0D7DE"/>
            </a:solidFill>
            <a:prstDash val="solid"/>
          </a:ln>
        </p:spPr>
        <p:txBody>
          <a:bodyPr/>
          <a:lstStyle/>
          <a:p>
            <a:endParaRPr lang="en-IN"/>
          </a:p>
        </p:txBody>
      </p:sp>
      <p:sp>
        <p:nvSpPr>
          <p:cNvPr id="6" name="Shape 4"/>
          <p:cNvSpPr/>
          <p:nvPr/>
        </p:nvSpPr>
        <p:spPr>
          <a:xfrm>
            <a:off x="457200" y="1371600"/>
            <a:ext cx="4023360" cy="36576"/>
          </a:xfrm>
          <a:prstGeom prst="rect">
            <a:avLst/>
          </a:prstGeom>
          <a:solidFill>
            <a:srgbClr val="FFB703"/>
          </a:solidFill>
          <a:ln w="12700">
            <a:solidFill>
              <a:srgbClr val="FFB703"/>
            </a:solidFill>
            <a:prstDash val="solid"/>
          </a:ln>
        </p:spPr>
        <p:txBody>
          <a:bodyPr/>
          <a:lstStyle/>
          <a:p>
            <a:endParaRPr lang="en-IN"/>
          </a:p>
        </p:txBody>
      </p:sp>
      <p:pic>
        <p:nvPicPr>
          <p:cNvPr id="7" name="Image 0" descr="preencoded.png"/>
          <p:cNvPicPr>
            <a:picLocks noChangeAspect="1"/>
          </p:cNvPicPr>
          <p:nvPr/>
        </p:nvPicPr>
        <p:blipFill>
          <a:blip r:embed="rId3"/>
          <a:stretch>
            <a:fillRect/>
          </a:stretch>
        </p:blipFill>
        <p:spPr>
          <a:xfrm>
            <a:off x="621792" y="1627632"/>
            <a:ext cx="347472" cy="347472"/>
          </a:xfrm>
          <a:prstGeom prst="rect">
            <a:avLst/>
          </a:prstGeom>
        </p:spPr>
      </p:pic>
      <p:sp>
        <p:nvSpPr>
          <p:cNvPr id="8" name="Text 5"/>
          <p:cNvSpPr/>
          <p:nvPr/>
        </p:nvSpPr>
        <p:spPr>
          <a:xfrm>
            <a:off x="1097280" y="1572768"/>
            <a:ext cx="3200400" cy="320040"/>
          </a:xfrm>
          <a:prstGeom prst="rect">
            <a:avLst/>
          </a:prstGeom>
          <a:noFill/>
          <a:ln/>
        </p:spPr>
        <p:txBody>
          <a:bodyPr wrap="square" lIns="0" tIns="0" rIns="0" bIns="0" rtlCol="0" anchor="ctr"/>
          <a:lstStyle/>
          <a:p>
            <a:pPr marL="0" indent="0" algn="l">
              <a:buNone/>
            </a:pPr>
            <a:r>
              <a:rPr lang="en-US" b="1" dirty="0">
                <a:solidFill>
                  <a:srgbClr val="24292F"/>
                </a:solidFill>
                <a:latin typeface="Trebuchet MS" pitchFamily="34" charset="0"/>
                <a:ea typeface="Trebuchet MS" pitchFamily="34" charset="-122"/>
                <a:cs typeface="Trebuchet MS" pitchFamily="34" charset="-120"/>
              </a:rPr>
              <a:t>Prohibitive Cost</a:t>
            </a:r>
            <a:endParaRPr lang="en-US" dirty="0"/>
          </a:p>
        </p:txBody>
      </p:sp>
      <p:sp>
        <p:nvSpPr>
          <p:cNvPr id="9" name="Text 6"/>
          <p:cNvSpPr/>
          <p:nvPr/>
        </p:nvSpPr>
        <p:spPr>
          <a:xfrm>
            <a:off x="621792" y="2011680"/>
            <a:ext cx="3657600" cy="749808"/>
          </a:xfrm>
          <a:prstGeom prst="rect">
            <a:avLst/>
          </a:prstGeom>
          <a:noFill/>
          <a:ln/>
        </p:spPr>
        <p:txBody>
          <a:bodyPr wrap="square" lIns="0" tIns="0" rIns="0" bIns="0" rtlCol="0" anchor="t"/>
          <a:lstStyle/>
          <a:p>
            <a:pPr marL="0" indent="0" algn="l">
              <a:buNone/>
            </a:pPr>
            <a:r>
              <a:rPr lang="en-US" sz="1400" dirty="0">
                <a:solidFill>
                  <a:srgbClr val="4A5568"/>
                </a:solidFill>
              </a:rPr>
              <a:t>Google One 2TB costs $100/yr per person. A friend group of 5 sharing media collectively wastes $500+ yearly.</a:t>
            </a:r>
            <a:endParaRPr lang="en-US" sz="1400" dirty="0"/>
          </a:p>
        </p:txBody>
      </p:sp>
      <p:sp>
        <p:nvSpPr>
          <p:cNvPr id="10" name="Shape 7"/>
          <p:cNvSpPr/>
          <p:nvPr/>
        </p:nvSpPr>
        <p:spPr>
          <a:xfrm>
            <a:off x="4800600" y="1371600"/>
            <a:ext cx="4023360" cy="1508760"/>
          </a:xfrm>
          <a:prstGeom prst="rect">
            <a:avLst/>
          </a:prstGeom>
          <a:solidFill>
            <a:srgbClr val="FFFFFF"/>
          </a:solidFill>
          <a:ln w="12700">
            <a:solidFill>
              <a:srgbClr val="D0D7DE"/>
            </a:solidFill>
            <a:prstDash val="solid"/>
          </a:ln>
        </p:spPr>
        <p:txBody>
          <a:bodyPr/>
          <a:lstStyle/>
          <a:p>
            <a:endParaRPr lang="en-IN"/>
          </a:p>
        </p:txBody>
      </p:sp>
      <p:sp>
        <p:nvSpPr>
          <p:cNvPr id="11" name="Shape 8"/>
          <p:cNvSpPr/>
          <p:nvPr/>
        </p:nvSpPr>
        <p:spPr>
          <a:xfrm>
            <a:off x="4800600" y="1371600"/>
            <a:ext cx="4023360" cy="36576"/>
          </a:xfrm>
          <a:prstGeom prst="rect">
            <a:avLst/>
          </a:prstGeom>
          <a:solidFill>
            <a:srgbClr val="EF476F"/>
          </a:solidFill>
          <a:ln w="12700">
            <a:solidFill>
              <a:srgbClr val="EF476F"/>
            </a:solidFill>
            <a:prstDash val="solid"/>
          </a:ln>
        </p:spPr>
        <p:txBody>
          <a:bodyPr/>
          <a:lstStyle/>
          <a:p>
            <a:endParaRPr lang="en-IN"/>
          </a:p>
        </p:txBody>
      </p:sp>
      <p:pic>
        <p:nvPicPr>
          <p:cNvPr id="12" name="Image 1" descr="preencoded.png"/>
          <p:cNvPicPr>
            <a:picLocks noChangeAspect="1"/>
          </p:cNvPicPr>
          <p:nvPr/>
        </p:nvPicPr>
        <p:blipFill>
          <a:blip r:embed="rId4"/>
          <a:stretch>
            <a:fillRect/>
          </a:stretch>
        </p:blipFill>
        <p:spPr>
          <a:xfrm>
            <a:off x="4965192" y="1627632"/>
            <a:ext cx="347472" cy="347472"/>
          </a:xfrm>
          <a:prstGeom prst="rect">
            <a:avLst/>
          </a:prstGeom>
        </p:spPr>
      </p:pic>
      <p:sp>
        <p:nvSpPr>
          <p:cNvPr id="13" name="Text 9"/>
          <p:cNvSpPr/>
          <p:nvPr/>
        </p:nvSpPr>
        <p:spPr>
          <a:xfrm>
            <a:off x="5440680" y="1572768"/>
            <a:ext cx="3200400" cy="320040"/>
          </a:xfrm>
          <a:prstGeom prst="rect">
            <a:avLst/>
          </a:prstGeom>
          <a:noFill/>
          <a:ln/>
        </p:spPr>
        <p:txBody>
          <a:bodyPr wrap="square" lIns="0" tIns="0" rIns="0" bIns="0" rtlCol="0" anchor="ctr"/>
          <a:lstStyle/>
          <a:p>
            <a:pPr marL="0" indent="0" algn="l">
              <a:buNone/>
            </a:pPr>
            <a:r>
              <a:rPr lang="en-US" b="1" dirty="0">
                <a:solidFill>
                  <a:srgbClr val="24292F"/>
                </a:solidFill>
                <a:latin typeface="Trebuchet MS" pitchFamily="34" charset="0"/>
                <a:ea typeface="Trebuchet MS" pitchFamily="34" charset="-122"/>
                <a:cs typeface="Trebuchet MS" pitchFamily="34" charset="-120"/>
              </a:rPr>
              <a:t>Privacy Risk</a:t>
            </a:r>
            <a:endParaRPr lang="en-US" dirty="0"/>
          </a:p>
        </p:txBody>
      </p:sp>
      <p:sp>
        <p:nvSpPr>
          <p:cNvPr id="14" name="Text 10"/>
          <p:cNvSpPr/>
          <p:nvPr/>
        </p:nvSpPr>
        <p:spPr>
          <a:xfrm>
            <a:off x="4965192" y="2011680"/>
            <a:ext cx="3657600" cy="749808"/>
          </a:xfrm>
          <a:prstGeom prst="rect">
            <a:avLst/>
          </a:prstGeom>
          <a:noFill/>
          <a:ln/>
        </p:spPr>
        <p:txBody>
          <a:bodyPr wrap="square" lIns="0" tIns="0" rIns="0" bIns="0" rtlCol="0" anchor="t"/>
          <a:lstStyle/>
          <a:p>
            <a:pPr marL="0" indent="0" algn="l">
              <a:buNone/>
            </a:pPr>
            <a:r>
              <a:rPr lang="en-US" sz="1600" dirty="0">
                <a:solidFill>
                  <a:srgbClr val="4A5568"/>
                </a:solidFill>
              </a:rPr>
              <a:t>Centralized servers hold your files. One breach exposes everyone's personal data to third parties.</a:t>
            </a:r>
            <a:endParaRPr lang="en-US" sz="1600" dirty="0"/>
          </a:p>
        </p:txBody>
      </p:sp>
      <p:sp>
        <p:nvSpPr>
          <p:cNvPr id="15" name="Shape 11"/>
          <p:cNvSpPr/>
          <p:nvPr/>
        </p:nvSpPr>
        <p:spPr>
          <a:xfrm>
            <a:off x="457200" y="3063240"/>
            <a:ext cx="4023360" cy="1508760"/>
          </a:xfrm>
          <a:prstGeom prst="rect">
            <a:avLst/>
          </a:prstGeom>
          <a:solidFill>
            <a:srgbClr val="FFFFFF"/>
          </a:solidFill>
          <a:ln w="12700">
            <a:solidFill>
              <a:srgbClr val="D0D7DE"/>
            </a:solidFill>
            <a:prstDash val="solid"/>
          </a:ln>
        </p:spPr>
        <p:txBody>
          <a:bodyPr/>
          <a:lstStyle/>
          <a:p>
            <a:endParaRPr lang="en-IN"/>
          </a:p>
        </p:txBody>
      </p:sp>
      <p:sp>
        <p:nvSpPr>
          <p:cNvPr id="16" name="Shape 12"/>
          <p:cNvSpPr/>
          <p:nvPr/>
        </p:nvSpPr>
        <p:spPr>
          <a:xfrm>
            <a:off x="457200" y="3063240"/>
            <a:ext cx="4023360" cy="36576"/>
          </a:xfrm>
          <a:prstGeom prst="rect">
            <a:avLst/>
          </a:prstGeom>
          <a:solidFill>
            <a:srgbClr val="00B4D8"/>
          </a:solidFill>
          <a:ln w="12700">
            <a:solidFill>
              <a:srgbClr val="00B4D8"/>
            </a:solidFill>
            <a:prstDash val="solid"/>
          </a:ln>
        </p:spPr>
        <p:txBody>
          <a:bodyPr/>
          <a:lstStyle/>
          <a:p>
            <a:endParaRPr lang="en-IN"/>
          </a:p>
        </p:txBody>
      </p:sp>
      <p:pic>
        <p:nvPicPr>
          <p:cNvPr id="17" name="Image 2" descr="preencoded.png"/>
          <p:cNvPicPr>
            <a:picLocks noChangeAspect="1"/>
          </p:cNvPicPr>
          <p:nvPr/>
        </p:nvPicPr>
        <p:blipFill>
          <a:blip r:embed="rId5"/>
          <a:stretch>
            <a:fillRect/>
          </a:stretch>
        </p:blipFill>
        <p:spPr>
          <a:xfrm>
            <a:off x="621792" y="3319272"/>
            <a:ext cx="347472" cy="347472"/>
          </a:xfrm>
          <a:prstGeom prst="rect">
            <a:avLst/>
          </a:prstGeom>
        </p:spPr>
      </p:pic>
      <p:sp>
        <p:nvSpPr>
          <p:cNvPr id="18" name="Text 13"/>
          <p:cNvSpPr/>
          <p:nvPr/>
        </p:nvSpPr>
        <p:spPr>
          <a:xfrm>
            <a:off x="1097280" y="3264408"/>
            <a:ext cx="3200400" cy="320040"/>
          </a:xfrm>
          <a:prstGeom prst="rect">
            <a:avLst/>
          </a:prstGeom>
          <a:noFill/>
          <a:ln/>
        </p:spPr>
        <p:txBody>
          <a:bodyPr wrap="square" lIns="0" tIns="0" rIns="0" bIns="0" rtlCol="0" anchor="ctr"/>
          <a:lstStyle/>
          <a:p>
            <a:pPr marL="0" indent="0" algn="l">
              <a:buNone/>
            </a:pPr>
            <a:r>
              <a:rPr lang="en-US" b="1" dirty="0">
                <a:solidFill>
                  <a:srgbClr val="24292F"/>
                </a:solidFill>
                <a:latin typeface="Trebuchet MS" pitchFamily="34" charset="0"/>
                <a:ea typeface="Trebuchet MS" pitchFamily="34" charset="-122"/>
                <a:cs typeface="Trebuchet MS" pitchFamily="34" charset="-120"/>
              </a:rPr>
              <a:t>Single Point of Failure</a:t>
            </a:r>
            <a:endParaRPr lang="en-US" dirty="0"/>
          </a:p>
        </p:txBody>
      </p:sp>
      <p:sp>
        <p:nvSpPr>
          <p:cNvPr id="19" name="Text 14"/>
          <p:cNvSpPr/>
          <p:nvPr/>
        </p:nvSpPr>
        <p:spPr>
          <a:xfrm>
            <a:off x="621792" y="3703320"/>
            <a:ext cx="3657600" cy="749808"/>
          </a:xfrm>
          <a:prstGeom prst="rect">
            <a:avLst/>
          </a:prstGeom>
          <a:noFill/>
          <a:ln/>
        </p:spPr>
        <p:txBody>
          <a:bodyPr wrap="square" lIns="0" tIns="0" rIns="0" bIns="0" rtlCol="0" anchor="t"/>
          <a:lstStyle/>
          <a:p>
            <a:pPr marL="0" indent="0" algn="l">
              <a:buNone/>
            </a:pPr>
            <a:r>
              <a:rPr lang="en-US" sz="1600" dirty="0">
                <a:solidFill>
                  <a:srgbClr val="4A5568"/>
                </a:solidFill>
              </a:rPr>
              <a:t>Server goes offline — all access disappears instantly. No redundancy, no fallback, no tolerance.</a:t>
            </a:r>
            <a:endParaRPr lang="en-US" sz="1600" dirty="0"/>
          </a:p>
        </p:txBody>
      </p:sp>
      <p:sp>
        <p:nvSpPr>
          <p:cNvPr id="20" name="Shape 15"/>
          <p:cNvSpPr/>
          <p:nvPr/>
        </p:nvSpPr>
        <p:spPr>
          <a:xfrm>
            <a:off x="4800600" y="3063240"/>
            <a:ext cx="4023360" cy="1508760"/>
          </a:xfrm>
          <a:prstGeom prst="rect">
            <a:avLst/>
          </a:prstGeom>
          <a:solidFill>
            <a:srgbClr val="FFFFFF"/>
          </a:solidFill>
          <a:ln w="12700">
            <a:solidFill>
              <a:srgbClr val="D0D7DE"/>
            </a:solidFill>
            <a:prstDash val="solid"/>
          </a:ln>
        </p:spPr>
        <p:txBody>
          <a:bodyPr/>
          <a:lstStyle/>
          <a:p>
            <a:endParaRPr lang="en-IN"/>
          </a:p>
        </p:txBody>
      </p:sp>
      <p:sp>
        <p:nvSpPr>
          <p:cNvPr id="21" name="Shape 16"/>
          <p:cNvSpPr/>
          <p:nvPr/>
        </p:nvSpPr>
        <p:spPr>
          <a:xfrm>
            <a:off x="4800600" y="3063240"/>
            <a:ext cx="4023360" cy="36576"/>
          </a:xfrm>
          <a:prstGeom prst="rect">
            <a:avLst/>
          </a:prstGeom>
          <a:solidFill>
            <a:srgbClr val="7B2FBE"/>
          </a:solidFill>
          <a:ln w="12700">
            <a:solidFill>
              <a:srgbClr val="7B2FBE"/>
            </a:solidFill>
            <a:prstDash val="solid"/>
          </a:ln>
        </p:spPr>
        <p:txBody>
          <a:bodyPr/>
          <a:lstStyle/>
          <a:p>
            <a:endParaRPr lang="en-IN"/>
          </a:p>
        </p:txBody>
      </p:sp>
      <p:pic>
        <p:nvPicPr>
          <p:cNvPr id="22" name="Image 3" descr="preencoded.png"/>
          <p:cNvPicPr>
            <a:picLocks noChangeAspect="1"/>
          </p:cNvPicPr>
          <p:nvPr/>
        </p:nvPicPr>
        <p:blipFill>
          <a:blip r:embed="rId6"/>
          <a:stretch>
            <a:fillRect/>
          </a:stretch>
        </p:blipFill>
        <p:spPr>
          <a:xfrm>
            <a:off x="4965192" y="3319272"/>
            <a:ext cx="347472" cy="347472"/>
          </a:xfrm>
          <a:prstGeom prst="rect">
            <a:avLst/>
          </a:prstGeom>
        </p:spPr>
      </p:pic>
      <p:sp>
        <p:nvSpPr>
          <p:cNvPr id="23" name="Text 17"/>
          <p:cNvSpPr/>
          <p:nvPr/>
        </p:nvSpPr>
        <p:spPr>
          <a:xfrm>
            <a:off x="5440680" y="3264408"/>
            <a:ext cx="3200400" cy="320040"/>
          </a:xfrm>
          <a:prstGeom prst="rect">
            <a:avLst/>
          </a:prstGeom>
          <a:noFill/>
          <a:ln/>
        </p:spPr>
        <p:txBody>
          <a:bodyPr wrap="square" lIns="0" tIns="0" rIns="0" bIns="0" rtlCol="0" anchor="ctr"/>
          <a:lstStyle/>
          <a:p>
            <a:pPr marL="0" indent="0" algn="l">
              <a:buNone/>
            </a:pPr>
            <a:r>
              <a:rPr lang="en-US" b="1" dirty="0">
                <a:solidFill>
                  <a:srgbClr val="24292F"/>
                </a:solidFill>
                <a:latin typeface="Trebuchet MS" pitchFamily="34" charset="0"/>
                <a:ea typeface="Trebuchet MS" pitchFamily="34" charset="-122"/>
                <a:cs typeface="Trebuchet MS" pitchFamily="34" charset="-120"/>
              </a:rPr>
              <a:t>No Data Sovereignty</a:t>
            </a:r>
            <a:endParaRPr lang="en-US" dirty="0"/>
          </a:p>
        </p:txBody>
      </p:sp>
      <p:sp>
        <p:nvSpPr>
          <p:cNvPr id="24" name="Text 18"/>
          <p:cNvSpPr/>
          <p:nvPr/>
        </p:nvSpPr>
        <p:spPr>
          <a:xfrm>
            <a:off x="4965192" y="3703320"/>
            <a:ext cx="3657600" cy="749808"/>
          </a:xfrm>
          <a:prstGeom prst="rect">
            <a:avLst/>
          </a:prstGeom>
          <a:noFill/>
          <a:ln/>
        </p:spPr>
        <p:txBody>
          <a:bodyPr wrap="square" lIns="0" tIns="0" rIns="0" bIns="0" rtlCol="0" anchor="t"/>
          <a:lstStyle/>
          <a:p>
            <a:pPr marL="0" indent="0" algn="l">
              <a:buNone/>
            </a:pPr>
            <a:r>
              <a:rPr lang="en-US" sz="1600" dirty="0">
                <a:solidFill>
                  <a:srgbClr val="4A5568"/>
                </a:solidFill>
              </a:rPr>
              <a:t>Your files live on someone else's hardware. You accept their terms, their scanning, their policies.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457200" y="256032"/>
            <a:ext cx="1188720" cy="237744"/>
          </a:xfrm>
          <a:prstGeom prst="rect">
            <a:avLst/>
          </a:prstGeom>
          <a:solidFill>
            <a:srgbClr val="082B20"/>
          </a:solidFill>
          <a:ln w="12700">
            <a:solidFill>
              <a:srgbClr val="02C39A"/>
            </a:solidFill>
            <a:prstDash val="solid"/>
          </a:ln>
        </p:spPr>
        <p:txBody>
          <a:bodyPr/>
          <a:lstStyle/>
          <a:p>
            <a:endParaRPr lang="en-IN"/>
          </a:p>
        </p:txBody>
      </p:sp>
      <p:sp>
        <p:nvSpPr>
          <p:cNvPr id="3" name="Text 1"/>
          <p:cNvSpPr/>
          <p:nvPr/>
        </p:nvSpPr>
        <p:spPr>
          <a:xfrm>
            <a:off x="457200" y="256032"/>
            <a:ext cx="1188720" cy="237744"/>
          </a:xfrm>
          <a:prstGeom prst="rect">
            <a:avLst/>
          </a:prstGeom>
          <a:noFill/>
          <a:ln/>
        </p:spPr>
        <p:txBody>
          <a:bodyPr wrap="square" lIns="0" tIns="0" rIns="0" bIns="0" rtlCol="0" anchor="ctr"/>
          <a:lstStyle/>
          <a:p>
            <a:pPr marL="0" indent="0" algn="ctr">
              <a:buNone/>
            </a:pPr>
            <a:r>
              <a:rPr lang="en-US" sz="850" b="1" dirty="0">
                <a:solidFill>
                  <a:srgbClr val="02C39A"/>
                </a:solidFill>
              </a:rPr>
              <a:t>SOLUTION</a:t>
            </a:r>
            <a:endParaRPr lang="en-US" sz="850" dirty="0"/>
          </a:p>
        </p:txBody>
      </p:sp>
      <p:sp>
        <p:nvSpPr>
          <p:cNvPr id="4" name="Text 2"/>
          <p:cNvSpPr/>
          <p:nvPr/>
        </p:nvSpPr>
        <p:spPr>
          <a:xfrm>
            <a:off x="457200" y="566928"/>
            <a:ext cx="8229600" cy="594360"/>
          </a:xfrm>
          <a:prstGeom prst="rect">
            <a:avLst/>
          </a:prstGeom>
          <a:noFill/>
          <a:ln/>
        </p:spPr>
        <p:txBody>
          <a:bodyPr wrap="square" lIns="0" tIns="0" rIns="0" bIns="0" rtlCol="0" anchor="ctr"/>
          <a:lstStyle/>
          <a:p>
            <a:pPr marL="0" indent="0" algn="l">
              <a:buNone/>
            </a:pPr>
            <a:r>
              <a:rPr lang="en-US" sz="3000" b="1" dirty="0">
                <a:solidFill>
                  <a:srgbClr val="FFFFFF"/>
                </a:solidFill>
                <a:latin typeface="Trebuchet MS" pitchFamily="34" charset="0"/>
                <a:ea typeface="Trebuchet MS" pitchFamily="34" charset="-122"/>
                <a:cs typeface="Trebuchet MS" pitchFamily="34" charset="-120"/>
              </a:rPr>
              <a:t>What Files Hub Does</a:t>
            </a:r>
            <a:endParaRPr lang="en-US" sz="3000" dirty="0"/>
          </a:p>
        </p:txBody>
      </p:sp>
      <p:sp>
        <p:nvSpPr>
          <p:cNvPr id="5" name="Shape 3"/>
          <p:cNvSpPr/>
          <p:nvPr/>
        </p:nvSpPr>
        <p:spPr>
          <a:xfrm>
            <a:off x="1645920" y="1261872"/>
            <a:ext cx="5852160" cy="594360"/>
          </a:xfrm>
          <a:prstGeom prst="rect">
            <a:avLst/>
          </a:prstGeom>
          <a:solidFill>
            <a:srgbClr val="061A14"/>
          </a:solidFill>
          <a:ln w="12700">
            <a:solidFill>
              <a:srgbClr val="02C39A"/>
            </a:solidFill>
            <a:prstDash val="solid"/>
          </a:ln>
        </p:spPr>
        <p:txBody>
          <a:bodyPr/>
          <a:lstStyle/>
          <a:p>
            <a:endParaRPr lang="en-IN"/>
          </a:p>
        </p:txBody>
      </p:sp>
      <p:sp>
        <p:nvSpPr>
          <p:cNvPr id="6" name="Text 4"/>
          <p:cNvSpPr/>
          <p:nvPr/>
        </p:nvSpPr>
        <p:spPr>
          <a:xfrm>
            <a:off x="1645920" y="1261872"/>
            <a:ext cx="5852160" cy="594360"/>
          </a:xfrm>
          <a:prstGeom prst="rect">
            <a:avLst/>
          </a:prstGeom>
          <a:noFill/>
          <a:ln/>
        </p:spPr>
        <p:txBody>
          <a:bodyPr wrap="square" lIns="0" tIns="0" rIns="0" bIns="0" rtlCol="0" anchor="ctr"/>
          <a:lstStyle/>
          <a:p>
            <a:pPr marL="0" indent="0" algn="ctr">
              <a:buNone/>
            </a:pPr>
            <a:r>
              <a:rPr lang="en-US" sz="1350" i="1" dirty="0">
                <a:solidFill>
                  <a:srgbClr val="02C39A"/>
                </a:solidFill>
                <a:latin typeface="Calibri" pitchFamily="34" charset="0"/>
                <a:ea typeface="Calibri" pitchFamily="34" charset="-122"/>
                <a:cs typeface="Calibri" pitchFamily="34" charset="-120"/>
              </a:rPr>
              <a:t>Pool friends' hard drives → One unified browser — files never leave their machine</a:t>
            </a:r>
            <a:endParaRPr lang="en-US" sz="1350" dirty="0"/>
          </a:p>
        </p:txBody>
      </p:sp>
      <p:sp>
        <p:nvSpPr>
          <p:cNvPr id="7" name="Shape 5"/>
          <p:cNvSpPr/>
          <p:nvPr/>
        </p:nvSpPr>
        <p:spPr>
          <a:xfrm>
            <a:off x="457200" y="2029968"/>
            <a:ext cx="8229600" cy="594360"/>
          </a:xfrm>
          <a:prstGeom prst="rect">
            <a:avLst/>
          </a:prstGeom>
          <a:solidFill>
            <a:srgbClr val="161B22"/>
          </a:solidFill>
          <a:ln w="12700">
            <a:solidFill>
              <a:srgbClr val="21262D"/>
            </a:solidFill>
            <a:prstDash val="solid"/>
          </a:ln>
        </p:spPr>
        <p:txBody>
          <a:bodyPr/>
          <a:lstStyle/>
          <a:p>
            <a:endParaRPr lang="en-IN"/>
          </a:p>
        </p:txBody>
      </p:sp>
      <p:pic>
        <p:nvPicPr>
          <p:cNvPr id="8" name="Image 0" descr="preencoded.png"/>
          <p:cNvPicPr>
            <a:picLocks noChangeAspect="1"/>
          </p:cNvPicPr>
          <p:nvPr/>
        </p:nvPicPr>
        <p:blipFill>
          <a:blip r:embed="rId3"/>
          <a:stretch>
            <a:fillRect/>
          </a:stretch>
        </p:blipFill>
        <p:spPr>
          <a:xfrm>
            <a:off x="640080" y="2139696"/>
            <a:ext cx="347472" cy="347472"/>
          </a:xfrm>
          <a:prstGeom prst="rect">
            <a:avLst/>
          </a:prstGeom>
        </p:spPr>
      </p:pic>
      <p:sp>
        <p:nvSpPr>
          <p:cNvPr id="9" name="Text 6"/>
          <p:cNvSpPr/>
          <p:nvPr/>
        </p:nvSpPr>
        <p:spPr>
          <a:xfrm>
            <a:off x="1188720" y="2103120"/>
            <a:ext cx="2011680" cy="457200"/>
          </a:xfrm>
          <a:prstGeom prst="rect">
            <a:avLst/>
          </a:prstGeom>
          <a:noFill/>
          <a:ln/>
        </p:spPr>
        <p:txBody>
          <a:bodyPr wrap="square" lIns="0" tIns="0" rIns="0" bIns="0" rtlCol="0" anchor="ctr"/>
          <a:lstStyle/>
          <a:p>
            <a:pPr marL="0" indent="0" algn="l">
              <a:buNone/>
            </a:pPr>
            <a:r>
              <a:rPr lang="en-US" sz="1250" b="1" dirty="0">
                <a:solidFill>
                  <a:srgbClr val="02C39A"/>
                </a:solidFill>
              </a:rPr>
              <a:t>Zero Upload Model</a:t>
            </a:r>
            <a:endParaRPr lang="en-US" sz="1250" dirty="0"/>
          </a:p>
        </p:txBody>
      </p:sp>
      <p:sp>
        <p:nvSpPr>
          <p:cNvPr id="10" name="Text 7"/>
          <p:cNvSpPr/>
          <p:nvPr/>
        </p:nvSpPr>
        <p:spPr>
          <a:xfrm>
            <a:off x="3337560" y="2103120"/>
            <a:ext cx="5212080" cy="457200"/>
          </a:xfrm>
          <a:prstGeom prst="rect">
            <a:avLst/>
          </a:prstGeom>
          <a:noFill/>
          <a:ln/>
        </p:spPr>
        <p:txBody>
          <a:bodyPr wrap="square" lIns="0" tIns="0" rIns="0" bIns="0" rtlCol="0" anchor="ctr"/>
          <a:lstStyle/>
          <a:p>
            <a:pPr marL="0" indent="0" algn="l">
              <a:buNone/>
            </a:pPr>
            <a:r>
              <a:rPr lang="en-US" sz="1400" dirty="0">
                <a:solidFill>
                  <a:srgbClr val="8B949E"/>
                </a:solidFill>
              </a:rPr>
              <a:t>Files never leave the owner's machine. Only metadata (name, size, type, hash) is shared with the network.</a:t>
            </a:r>
            <a:endParaRPr lang="en-US" sz="1400" dirty="0"/>
          </a:p>
        </p:txBody>
      </p:sp>
      <p:sp>
        <p:nvSpPr>
          <p:cNvPr id="11" name="Shape 8"/>
          <p:cNvSpPr/>
          <p:nvPr/>
        </p:nvSpPr>
        <p:spPr>
          <a:xfrm>
            <a:off x="3246120" y="2167128"/>
            <a:ext cx="22860" cy="320040"/>
          </a:xfrm>
          <a:prstGeom prst="rect">
            <a:avLst/>
          </a:prstGeom>
          <a:solidFill>
            <a:srgbClr val="21262D"/>
          </a:solidFill>
          <a:ln w="12700">
            <a:solidFill>
              <a:srgbClr val="21262D"/>
            </a:solidFill>
            <a:prstDash val="solid"/>
          </a:ln>
        </p:spPr>
        <p:txBody>
          <a:bodyPr/>
          <a:lstStyle/>
          <a:p>
            <a:endParaRPr lang="en-IN"/>
          </a:p>
        </p:txBody>
      </p:sp>
      <p:sp>
        <p:nvSpPr>
          <p:cNvPr id="12" name="Shape 9"/>
          <p:cNvSpPr/>
          <p:nvPr/>
        </p:nvSpPr>
        <p:spPr>
          <a:xfrm>
            <a:off x="457200" y="2715768"/>
            <a:ext cx="8229600" cy="594360"/>
          </a:xfrm>
          <a:prstGeom prst="rect">
            <a:avLst/>
          </a:prstGeom>
          <a:solidFill>
            <a:srgbClr val="161B22"/>
          </a:solidFill>
          <a:ln w="12700">
            <a:solidFill>
              <a:srgbClr val="21262D"/>
            </a:solidFill>
            <a:prstDash val="solid"/>
          </a:ln>
        </p:spPr>
        <p:txBody>
          <a:bodyPr/>
          <a:lstStyle/>
          <a:p>
            <a:endParaRPr lang="en-IN"/>
          </a:p>
        </p:txBody>
      </p:sp>
      <p:pic>
        <p:nvPicPr>
          <p:cNvPr id="13" name="Image 1" descr="preencoded.png"/>
          <p:cNvPicPr>
            <a:picLocks noChangeAspect="1"/>
          </p:cNvPicPr>
          <p:nvPr/>
        </p:nvPicPr>
        <p:blipFill>
          <a:blip r:embed="rId4"/>
          <a:stretch>
            <a:fillRect/>
          </a:stretch>
        </p:blipFill>
        <p:spPr>
          <a:xfrm>
            <a:off x="640080" y="2825496"/>
            <a:ext cx="347472" cy="347472"/>
          </a:xfrm>
          <a:prstGeom prst="rect">
            <a:avLst/>
          </a:prstGeom>
        </p:spPr>
      </p:pic>
      <p:sp>
        <p:nvSpPr>
          <p:cNvPr id="14" name="Text 10"/>
          <p:cNvSpPr/>
          <p:nvPr/>
        </p:nvSpPr>
        <p:spPr>
          <a:xfrm>
            <a:off x="1188720" y="2788920"/>
            <a:ext cx="2011680" cy="457200"/>
          </a:xfrm>
          <a:prstGeom prst="rect">
            <a:avLst/>
          </a:prstGeom>
          <a:noFill/>
          <a:ln/>
        </p:spPr>
        <p:txBody>
          <a:bodyPr wrap="square" lIns="0" tIns="0" rIns="0" bIns="0" rtlCol="0" anchor="ctr"/>
          <a:lstStyle/>
          <a:p>
            <a:pPr marL="0" indent="0" algn="l">
              <a:buNone/>
            </a:pPr>
            <a:r>
              <a:rPr lang="en-US" sz="1250" b="1" dirty="0">
                <a:solidFill>
                  <a:srgbClr val="00B4D8"/>
                </a:solidFill>
              </a:rPr>
              <a:t>Live Streaming</a:t>
            </a:r>
            <a:endParaRPr lang="en-US" sz="1250" dirty="0"/>
          </a:p>
        </p:txBody>
      </p:sp>
      <p:sp>
        <p:nvSpPr>
          <p:cNvPr id="15" name="Text 11"/>
          <p:cNvSpPr/>
          <p:nvPr/>
        </p:nvSpPr>
        <p:spPr>
          <a:xfrm>
            <a:off x="3337560" y="2788920"/>
            <a:ext cx="5212080" cy="457200"/>
          </a:xfrm>
          <a:prstGeom prst="rect">
            <a:avLst/>
          </a:prstGeom>
          <a:noFill/>
          <a:ln/>
        </p:spPr>
        <p:txBody>
          <a:bodyPr wrap="square" lIns="0" tIns="0" rIns="0" bIns="0" rtlCol="0" anchor="ctr"/>
          <a:lstStyle/>
          <a:p>
            <a:pPr marL="0" indent="0" algn="l">
              <a:buNone/>
            </a:pPr>
            <a:r>
              <a:rPr lang="en-US" sz="1400" dirty="0">
                <a:solidFill>
                  <a:srgbClr val="8B949E"/>
                </a:solidFill>
              </a:rPr>
              <a:t>Stream video, audio, and documents directly from the source machine to your browser via secure proxy.</a:t>
            </a:r>
            <a:endParaRPr lang="en-US" sz="1400" dirty="0"/>
          </a:p>
        </p:txBody>
      </p:sp>
      <p:sp>
        <p:nvSpPr>
          <p:cNvPr id="16" name="Shape 12"/>
          <p:cNvSpPr/>
          <p:nvPr/>
        </p:nvSpPr>
        <p:spPr>
          <a:xfrm>
            <a:off x="3246120" y="2852928"/>
            <a:ext cx="22860" cy="320040"/>
          </a:xfrm>
          <a:prstGeom prst="rect">
            <a:avLst/>
          </a:prstGeom>
          <a:solidFill>
            <a:srgbClr val="21262D"/>
          </a:solidFill>
          <a:ln w="12700">
            <a:solidFill>
              <a:srgbClr val="21262D"/>
            </a:solidFill>
            <a:prstDash val="solid"/>
          </a:ln>
        </p:spPr>
        <p:txBody>
          <a:bodyPr/>
          <a:lstStyle/>
          <a:p>
            <a:endParaRPr lang="en-IN"/>
          </a:p>
        </p:txBody>
      </p:sp>
      <p:sp>
        <p:nvSpPr>
          <p:cNvPr id="17" name="Shape 13"/>
          <p:cNvSpPr/>
          <p:nvPr/>
        </p:nvSpPr>
        <p:spPr>
          <a:xfrm>
            <a:off x="457200" y="3401568"/>
            <a:ext cx="8229600" cy="594360"/>
          </a:xfrm>
          <a:prstGeom prst="rect">
            <a:avLst/>
          </a:prstGeom>
          <a:solidFill>
            <a:srgbClr val="161B22"/>
          </a:solidFill>
          <a:ln w="12700">
            <a:solidFill>
              <a:srgbClr val="21262D"/>
            </a:solidFill>
            <a:prstDash val="solid"/>
          </a:ln>
        </p:spPr>
        <p:txBody>
          <a:bodyPr/>
          <a:lstStyle/>
          <a:p>
            <a:endParaRPr lang="en-IN"/>
          </a:p>
        </p:txBody>
      </p:sp>
      <p:pic>
        <p:nvPicPr>
          <p:cNvPr id="18" name="Image 2" descr="preencoded.png"/>
          <p:cNvPicPr>
            <a:picLocks noChangeAspect="1"/>
          </p:cNvPicPr>
          <p:nvPr/>
        </p:nvPicPr>
        <p:blipFill>
          <a:blip r:embed="rId5"/>
          <a:stretch>
            <a:fillRect/>
          </a:stretch>
        </p:blipFill>
        <p:spPr>
          <a:xfrm>
            <a:off x="640080" y="3511296"/>
            <a:ext cx="347472" cy="347472"/>
          </a:xfrm>
          <a:prstGeom prst="rect">
            <a:avLst/>
          </a:prstGeom>
        </p:spPr>
      </p:pic>
      <p:sp>
        <p:nvSpPr>
          <p:cNvPr id="19" name="Text 14"/>
          <p:cNvSpPr/>
          <p:nvPr/>
        </p:nvSpPr>
        <p:spPr>
          <a:xfrm>
            <a:off x="1188720" y="3474720"/>
            <a:ext cx="2011680" cy="457200"/>
          </a:xfrm>
          <a:prstGeom prst="rect">
            <a:avLst/>
          </a:prstGeom>
          <a:noFill/>
          <a:ln/>
        </p:spPr>
        <p:txBody>
          <a:bodyPr wrap="square" lIns="0" tIns="0" rIns="0" bIns="0" rtlCol="0" anchor="ctr"/>
          <a:lstStyle/>
          <a:p>
            <a:pPr marL="0" indent="0" algn="l">
              <a:buNone/>
            </a:pPr>
            <a:r>
              <a:rPr lang="en-US" sz="1250" b="1" dirty="0">
                <a:solidFill>
                  <a:srgbClr val="0077B6"/>
                </a:solidFill>
              </a:rPr>
              <a:t>Fault Tolerant</a:t>
            </a:r>
            <a:endParaRPr lang="en-US" sz="1250" dirty="0"/>
          </a:p>
        </p:txBody>
      </p:sp>
      <p:sp>
        <p:nvSpPr>
          <p:cNvPr id="20" name="Text 15"/>
          <p:cNvSpPr/>
          <p:nvPr/>
        </p:nvSpPr>
        <p:spPr>
          <a:xfrm>
            <a:off x="3337560" y="3474720"/>
            <a:ext cx="5212080" cy="457200"/>
          </a:xfrm>
          <a:prstGeom prst="rect">
            <a:avLst/>
          </a:prstGeom>
          <a:noFill/>
          <a:ln/>
        </p:spPr>
        <p:txBody>
          <a:bodyPr wrap="square" lIns="0" tIns="0" rIns="0" bIns="0" rtlCol="0" anchor="ctr"/>
          <a:lstStyle/>
          <a:p>
            <a:pPr marL="0" indent="0" algn="l">
              <a:buNone/>
            </a:pPr>
            <a:r>
              <a:rPr lang="en-US" sz="1400" dirty="0">
                <a:solidFill>
                  <a:srgbClr val="8B949E"/>
                </a:solidFill>
              </a:rPr>
              <a:t>Individual nodes going offline does not break the network. VPS edge proxy handles directory failover. Or any other active node.</a:t>
            </a:r>
            <a:endParaRPr lang="en-US" sz="1400" dirty="0"/>
          </a:p>
        </p:txBody>
      </p:sp>
      <p:sp>
        <p:nvSpPr>
          <p:cNvPr id="21" name="Shape 16"/>
          <p:cNvSpPr/>
          <p:nvPr/>
        </p:nvSpPr>
        <p:spPr>
          <a:xfrm>
            <a:off x="3246120" y="3538728"/>
            <a:ext cx="22860" cy="320040"/>
          </a:xfrm>
          <a:prstGeom prst="rect">
            <a:avLst/>
          </a:prstGeom>
          <a:solidFill>
            <a:srgbClr val="21262D"/>
          </a:solidFill>
          <a:ln w="12700">
            <a:solidFill>
              <a:srgbClr val="21262D"/>
            </a:solidFill>
            <a:prstDash val="solid"/>
          </a:ln>
        </p:spPr>
        <p:txBody>
          <a:bodyPr/>
          <a:lstStyle/>
          <a:p>
            <a:endParaRPr lang="en-IN"/>
          </a:p>
        </p:txBody>
      </p:sp>
      <p:sp>
        <p:nvSpPr>
          <p:cNvPr id="22" name="Shape 17"/>
          <p:cNvSpPr/>
          <p:nvPr/>
        </p:nvSpPr>
        <p:spPr>
          <a:xfrm>
            <a:off x="457200" y="4087368"/>
            <a:ext cx="8229600" cy="594360"/>
          </a:xfrm>
          <a:prstGeom prst="rect">
            <a:avLst/>
          </a:prstGeom>
          <a:solidFill>
            <a:srgbClr val="161B22"/>
          </a:solidFill>
          <a:ln w="12700">
            <a:solidFill>
              <a:srgbClr val="21262D"/>
            </a:solidFill>
            <a:prstDash val="solid"/>
          </a:ln>
        </p:spPr>
        <p:txBody>
          <a:bodyPr/>
          <a:lstStyle/>
          <a:p>
            <a:endParaRPr lang="en-IN"/>
          </a:p>
        </p:txBody>
      </p:sp>
      <p:pic>
        <p:nvPicPr>
          <p:cNvPr id="23" name="Image 3" descr="preencoded.png"/>
          <p:cNvPicPr>
            <a:picLocks noChangeAspect="1"/>
          </p:cNvPicPr>
          <p:nvPr/>
        </p:nvPicPr>
        <p:blipFill>
          <a:blip r:embed="rId6"/>
          <a:stretch>
            <a:fillRect/>
          </a:stretch>
        </p:blipFill>
        <p:spPr>
          <a:xfrm>
            <a:off x="640080" y="4197096"/>
            <a:ext cx="347472" cy="347472"/>
          </a:xfrm>
          <a:prstGeom prst="rect">
            <a:avLst/>
          </a:prstGeom>
        </p:spPr>
      </p:pic>
      <p:sp>
        <p:nvSpPr>
          <p:cNvPr id="24" name="Text 18"/>
          <p:cNvSpPr/>
          <p:nvPr/>
        </p:nvSpPr>
        <p:spPr>
          <a:xfrm>
            <a:off x="1188720" y="4160520"/>
            <a:ext cx="2011680" cy="457200"/>
          </a:xfrm>
          <a:prstGeom prst="rect">
            <a:avLst/>
          </a:prstGeom>
          <a:noFill/>
          <a:ln/>
        </p:spPr>
        <p:txBody>
          <a:bodyPr wrap="square" lIns="0" tIns="0" rIns="0" bIns="0" rtlCol="0" anchor="ctr"/>
          <a:lstStyle/>
          <a:p>
            <a:pPr marL="0" indent="0" algn="l">
              <a:buNone/>
            </a:pPr>
            <a:r>
              <a:rPr lang="en-US" sz="1250" b="1" dirty="0">
                <a:solidFill>
                  <a:srgbClr val="EF476F"/>
                </a:solidFill>
              </a:rPr>
              <a:t>Full-Text Search</a:t>
            </a:r>
            <a:endParaRPr lang="en-US" sz="1250" dirty="0"/>
          </a:p>
        </p:txBody>
      </p:sp>
      <p:sp>
        <p:nvSpPr>
          <p:cNvPr id="25" name="Text 19"/>
          <p:cNvSpPr/>
          <p:nvPr/>
        </p:nvSpPr>
        <p:spPr>
          <a:xfrm>
            <a:off x="3337560" y="4160520"/>
            <a:ext cx="5212080" cy="457200"/>
          </a:xfrm>
          <a:prstGeom prst="rect">
            <a:avLst/>
          </a:prstGeom>
          <a:noFill/>
          <a:ln/>
        </p:spPr>
        <p:txBody>
          <a:bodyPr wrap="square" lIns="0" tIns="0" rIns="0" bIns="0" rtlCol="0" anchor="ctr"/>
          <a:lstStyle/>
          <a:p>
            <a:pPr marL="0" indent="0" algn="l">
              <a:buNone/>
            </a:pPr>
            <a:r>
              <a:rPr lang="en-US" sz="1400" dirty="0">
                <a:solidFill>
                  <a:srgbClr val="8B949E"/>
                </a:solidFill>
              </a:rPr>
              <a:t>Search across your entire distributed filesystem by keyword — extracted from PDFs, Word docs, spreadsheets, and code files via SQLite FTS5.</a:t>
            </a:r>
            <a:endParaRPr lang="en-US" sz="1400" dirty="0"/>
          </a:p>
        </p:txBody>
      </p:sp>
      <p:sp>
        <p:nvSpPr>
          <p:cNvPr id="26" name="Shape 20"/>
          <p:cNvSpPr/>
          <p:nvPr/>
        </p:nvSpPr>
        <p:spPr>
          <a:xfrm>
            <a:off x="3246120" y="4224528"/>
            <a:ext cx="22860" cy="320040"/>
          </a:xfrm>
          <a:prstGeom prst="rect">
            <a:avLst/>
          </a:prstGeom>
          <a:solidFill>
            <a:srgbClr val="21262D"/>
          </a:solidFill>
          <a:ln w="12700">
            <a:solidFill>
              <a:srgbClr val="21262D"/>
            </a:solidFill>
            <a:prstDash val="solid"/>
          </a:ln>
        </p:spPr>
        <p:txBody>
          <a:bodyPr/>
          <a:lstStyle/>
          <a:p>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457199" y="256032"/>
            <a:ext cx="1724891" cy="310896"/>
          </a:xfrm>
          <a:prstGeom prst="rect">
            <a:avLst/>
          </a:prstGeom>
          <a:solidFill>
            <a:srgbClr val="0D1E35"/>
          </a:solidFill>
          <a:ln w="12700">
            <a:solidFill>
              <a:srgbClr val="00B4D8"/>
            </a:solidFill>
            <a:prstDash val="solid"/>
          </a:ln>
        </p:spPr>
        <p:txBody>
          <a:bodyPr/>
          <a:lstStyle/>
          <a:p>
            <a:endParaRPr lang="en-IN" dirty="0"/>
          </a:p>
        </p:txBody>
      </p:sp>
      <p:sp>
        <p:nvSpPr>
          <p:cNvPr id="3" name="Text 1"/>
          <p:cNvSpPr/>
          <p:nvPr/>
        </p:nvSpPr>
        <p:spPr>
          <a:xfrm>
            <a:off x="502920" y="283464"/>
            <a:ext cx="1554480" cy="237744"/>
          </a:xfrm>
          <a:prstGeom prst="rect">
            <a:avLst/>
          </a:prstGeom>
          <a:noFill/>
          <a:ln/>
        </p:spPr>
        <p:txBody>
          <a:bodyPr wrap="square" lIns="0" tIns="0" rIns="0" bIns="0" rtlCol="0" anchor="ctr"/>
          <a:lstStyle/>
          <a:p>
            <a:pPr marL="0" indent="0" algn="ctr">
              <a:buNone/>
            </a:pPr>
            <a:r>
              <a:rPr lang="en-US" sz="1400" b="1" dirty="0">
                <a:solidFill>
                  <a:srgbClr val="00B4D8"/>
                </a:solidFill>
              </a:rPr>
              <a:t>ARCHITECTURE</a:t>
            </a:r>
            <a:endParaRPr lang="en-US" sz="1400" dirty="0"/>
          </a:p>
        </p:txBody>
      </p:sp>
      <p:sp>
        <p:nvSpPr>
          <p:cNvPr id="4" name="Text 2"/>
          <p:cNvSpPr/>
          <p:nvPr/>
        </p:nvSpPr>
        <p:spPr>
          <a:xfrm>
            <a:off x="457200" y="566928"/>
            <a:ext cx="8229600" cy="594360"/>
          </a:xfrm>
          <a:prstGeom prst="rect">
            <a:avLst/>
          </a:prstGeom>
          <a:noFill/>
          <a:ln/>
        </p:spPr>
        <p:txBody>
          <a:bodyPr wrap="square" lIns="0" tIns="0" rIns="0" bIns="0" rtlCol="0" anchor="ctr"/>
          <a:lstStyle/>
          <a:p>
            <a:pPr marL="0" indent="0" algn="l">
              <a:buNone/>
            </a:pPr>
            <a:r>
              <a:rPr lang="en-US" sz="2800" b="1" dirty="0">
                <a:solidFill>
                  <a:srgbClr val="FFFFFF"/>
                </a:solidFill>
                <a:latin typeface="Trebuchet MS" pitchFamily="34" charset="0"/>
                <a:ea typeface="Trebuchet MS" pitchFamily="34" charset="-122"/>
                <a:cs typeface="Trebuchet MS" pitchFamily="34" charset="-120"/>
              </a:rPr>
              <a:t>Three-Node System Architecture</a:t>
            </a:r>
            <a:endParaRPr lang="en-US" sz="2800" dirty="0"/>
          </a:p>
        </p:txBody>
      </p:sp>
      <p:sp>
        <p:nvSpPr>
          <p:cNvPr id="5" name="Shape 3"/>
          <p:cNvSpPr/>
          <p:nvPr/>
        </p:nvSpPr>
        <p:spPr>
          <a:xfrm>
            <a:off x="365760" y="1298448"/>
            <a:ext cx="2651760" cy="3474720"/>
          </a:xfrm>
          <a:prstGeom prst="rect">
            <a:avLst/>
          </a:prstGeom>
          <a:solidFill>
            <a:srgbClr val="0A1929"/>
          </a:solidFill>
          <a:ln w="12700">
            <a:solidFill>
              <a:srgbClr val="21262D"/>
            </a:solidFill>
            <a:prstDash val="solid"/>
          </a:ln>
        </p:spPr>
        <p:txBody>
          <a:bodyPr/>
          <a:lstStyle/>
          <a:p>
            <a:endParaRPr lang="en-IN"/>
          </a:p>
        </p:txBody>
      </p:sp>
      <p:sp>
        <p:nvSpPr>
          <p:cNvPr id="6" name="Shape 4"/>
          <p:cNvSpPr/>
          <p:nvPr/>
        </p:nvSpPr>
        <p:spPr>
          <a:xfrm>
            <a:off x="365760" y="1298448"/>
            <a:ext cx="2651760" cy="45720"/>
          </a:xfrm>
          <a:prstGeom prst="rect">
            <a:avLst/>
          </a:prstGeom>
          <a:solidFill>
            <a:srgbClr val="00B4D8"/>
          </a:solidFill>
          <a:ln w="12700">
            <a:solidFill>
              <a:srgbClr val="00B4D8"/>
            </a:solidFill>
            <a:prstDash val="solid"/>
          </a:ln>
        </p:spPr>
        <p:txBody>
          <a:bodyPr/>
          <a:lstStyle/>
          <a:p>
            <a:endParaRPr lang="en-IN"/>
          </a:p>
        </p:txBody>
      </p:sp>
      <p:pic>
        <p:nvPicPr>
          <p:cNvPr id="7" name="Image 0" descr="preencoded.png"/>
          <p:cNvPicPr>
            <a:picLocks noChangeAspect="1"/>
          </p:cNvPicPr>
          <p:nvPr/>
        </p:nvPicPr>
        <p:blipFill>
          <a:blip r:embed="rId3"/>
          <a:stretch>
            <a:fillRect/>
          </a:stretch>
        </p:blipFill>
        <p:spPr>
          <a:xfrm>
            <a:off x="658368" y="1463040"/>
            <a:ext cx="438912" cy="438912"/>
          </a:xfrm>
          <a:prstGeom prst="rect">
            <a:avLst/>
          </a:prstGeom>
        </p:spPr>
      </p:pic>
      <p:sp>
        <p:nvSpPr>
          <p:cNvPr id="8" name="Text 5"/>
          <p:cNvSpPr/>
          <p:nvPr/>
        </p:nvSpPr>
        <p:spPr>
          <a:xfrm>
            <a:off x="1188720" y="1463040"/>
            <a:ext cx="1645920" cy="438912"/>
          </a:xfrm>
          <a:prstGeom prst="rect">
            <a:avLst/>
          </a:prstGeom>
          <a:noFill/>
          <a:ln/>
        </p:spPr>
        <p:txBody>
          <a:bodyPr wrap="square" lIns="0" tIns="0" rIns="0" bIns="0" rtlCol="0" anchor="ctr"/>
          <a:lstStyle/>
          <a:p>
            <a:pPr marL="0" indent="0" algn="l">
              <a:buNone/>
            </a:pPr>
            <a:r>
              <a:rPr lang="en-US" b="1" dirty="0">
                <a:solidFill>
                  <a:srgbClr val="00B4D8"/>
                </a:solidFill>
                <a:latin typeface="Trebuchet MS" pitchFamily="34" charset="0"/>
                <a:ea typeface="Trebuchet MS" pitchFamily="34" charset="-122"/>
                <a:cs typeface="Trebuchet MS" pitchFamily="34" charset="-120"/>
              </a:rPr>
              <a:t>Directory Node</a:t>
            </a:r>
            <a:endParaRPr lang="en-US" dirty="0"/>
          </a:p>
        </p:txBody>
      </p:sp>
      <p:sp>
        <p:nvSpPr>
          <p:cNvPr id="9" name="Text 6"/>
          <p:cNvSpPr/>
          <p:nvPr/>
        </p:nvSpPr>
        <p:spPr>
          <a:xfrm>
            <a:off x="502920" y="1993392"/>
            <a:ext cx="2377440" cy="256032"/>
          </a:xfrm>
          <a:prstGeom prst="rect">
            <a:avLst/>
          </a:prstGeom>
          <a:noFill/>
          <a:ln/>
        </p:spPr>
        <p:txBody>
          <a:bodyPr wrap="square" lIns="0" tIns="0" rIns="0" bIns="0" rtlCol="0" anchor="ctr"/>
          <a:lstStyle/>
          <a:p>
            <a:pPr marL="0" indent="0" algn="ctr">
              <a:buNone/>
            </a:pPr>
            <a:r>
              <a:rPr lang="en-US" sz="1200" i="1" dirty="0">
                <a:solidFill>
                  <a:srgbClr val="8B949E"/>
                </a:solidFill>
              </a:rPr>
              <a:t>The Brain</a:t>
            </a:r>
            <a:endParaRPr lang="en-US" sz="1200" dirty="0"/>
          </a:p>
        </p:txBody>
      </p:sp>
      <p:sp>
        <p:nvSpPr>
          <p:cNvPr id="10" name="Text 7"/>
          <p:cNvSpPr/>
          <p:nvPr/>
        </p:nvSpPr>
        <p:spPr>
          <a:xfrm>
            <a:off x="502920" y="2304288"/>
            <a:ext cx="2377440" cy="384048"/>
          </a:xfrm>
          <a:prstGeom prst="rect">
            <a:avLst/>
          </a:prstGeom>
          <a:noFill/>
          <a:ln/>
        </p:spPr>
        <p:txBody>
          <a:bodyPr wrap="square" lIns="0" tIns="0" rIns="0" bIns="0" rtlCol="0" anchor="t"/>
          <a:lstStyle/>
          <a:p>
            <a:pPr marL="0" indent="0" algn="l">
              <a:buNone/>
            </a:pPr>
            <a:r>
              <a:rPr lang="en-US" sz="1400" b="1" dirty="0">
                <a:solidFill>
                  <a:srgbClr val="00B4D8"/>
                </a:solidFill>
              </a:rPr>
              <a:t xml:space="preserve">›  </a:t>
            </a:r>
            <a:r>
              <a:rPr lang="en-US" sz="1400" dirty="0">
                <a:solidFill>
                  <a:srgbClr val="B0BEC5"/>
                </a:solidFill>
              </a:rPr>
              <a:t>Hosts React frontend UI</a:t>
            </a:r>
            <a:endParaRPr lang="en-US" sz="1400" dirty="0"/>
          </a:p>
        </p:txBody>
      </p:sp>
      <p:sp>
        <p:nvSpPr>
          <p:cNvPr id="11" name="Text 8"/>
          <p:cNvSpPr/>
          <p:nvPr/>
        </p:nvSpPr>
        <p:spPr>
          <a:xfrm>
            <a:off x="502920" y="2706624"/>
            <a:ext cx="2377440" cy="384048"/>
          </a:xfrm>
          <a:prstGeom prst="rect">
            <a:avLst/>
          </a:prstGeom>
          <a:noFill/>
          <a:ln/>
        </p:spPr>
        <p:txBody>
          <a:bodyPr wrap="square" lIns="0" tIns="0" rIns="0" bIns="0" rtlCol="0" anchor="t"/>
          <a:lstStyle/>
          <a:p>
            <a:pPr marL="0" indent="0" algn="l">
              <a:buNone/>
            </a:pPr>
            <a:r>
              <a:rPr lang="en-US" sz="1400" b="1" dirty="0">
                <a:solidFill>
                  <a:srgbClr val="00B4D8"/>
                </a:solidFill>
              </a:rPr>
              <a:t xml:space="preserve">›  </a:t>
            </a:r>
            <a:r>
              <a:rPr lang="en-US" sz="1400" dirty="0">
                <a:solidFill>
                  <a:srgbClr val="B0BEC5"/>
                </a:solidFill>
              </a:rPr>
              <a:t>API gateway for clients</a:t>
            </a:r>
            <a:endParaRPr lang="en-US" sz="1400" dirty="0"/>
          </a:p>
        </p:txBody>
      </p:sp>
      <p:sp>
        <p:nvSpPr>
          <p:cNvPr id="12" name="Text 9"/>
          <p:cNvSpPr/>
          <p:nvPr/>
        </p:nvSpPr>
        <p:spPr>
          <a:xfrm>
            <a:off x="502920" y="3108960"/>
            <a:ext cx="2377440" cy="384048"/>
          </a:xfrm>
          <a:prstGeom prst="rect">
            <a:avLst/>
          </a:prstGeom>
          <a:noFill/>
          <a:ln/>
        </p:spPr>
        <p:txBody>
          <a:bodyPr wrap="square" lIns="0" tIns="0" rIns="0" bIns="0" rtlCol="0" anchor="t"/>
          <a:lstStyle/>
          <a:p>
            <a:pPr marL="0" indent="0" algn="l">
              <a:buNone/>
            </a:pPr>
            <a:r>
              <a:rPr lang="en-US" sz="1400" b="1" dirty="0">
                <a:solidFill>
                  <a:srgbClr val="00B4D8"/>
                </a:solidFill>
              </a:rPr>
              <a:t xml:space="preserve">›  </a:t>
            </a:r>
            <a:r>
              <a:rPr lang="en-US" sz="1400" dirty="0">
                <a:solidFill>
                  <a:srgbClr val="B0BEC5"/>
                </a:solidFill>
              </a:rPr>
              <a:t>Stores metadata registry</a:t>
            </a:r>
            <a:endParaRPr lang="en-US" sz="1400" dirty="0"/>
          </a:p>
          <a:p>
            <a:pPr marL="0" indent="0" algn="l">
              <a:buNone/>
            </a:pPr>
            <a:r>
              <a:rPr lang="en-US" sz="1400" dirty="0">
                <a:solidFill>
                  <a:srgbClr val="B0BEC5"/>
                </a:solidFill>
              </a:rPr>
              <a:t>(registry.db)</a:t>
            </a:r>
            <a:endParaRPr lang="en-US" sz="1400" dirty="0"/>
          </a:p>
        </p:txBody>
      </p:sp>
      <p:sp>
        <p:nvSpPr>
          <p:cNvPr id="13" name="Text 10"/>
          <p:cNvSpPr/>
          <p:nvPr/>
        </p:nvSpPr>
        <p:spPr>
          <a:xfrm>
            <a:off x="502920" y="3511296"/>
            <a:ext cx="2377440" cy="384048"/>
          </a:xfrm>
          <a:prstGeom prst="rect">
            <a:avLst/>
          </a:prstGeom>
          <a:noFill/>
          <a:ln/>
        </p:spPr>
        <p:txBody>
          <a:bodyPr wrap="square" lIns="0" tIns="0" rIns="0" bIns="0" rtlCol="0" anchor="t"/>
          <a:lstStyle/>
          <a:p>
            <a:pPr marL="0" indent="0" algn="l">
              <a:buNone/>
            </a:pPr>
            <a:r>
              <a:rPr lang="en-US" sz="1400" b="1" dirty="0">
                <a:solidFill>
                  <a:srgbClr val="00B4D8"/>
                </a:solidFill>
              </a:rPr>
              <a:t xml:space="preserve">›  </a:t>
            </a:r>
            <a:r>
              <a:rPr lang="en-US" sz="1400" dirty="0">
                <a:solidFill>
                  <a:srgbClr val="B0BEC5"/>
                </a:solidFill>
              </a:rPr>
              <a:t>Proxies file streams to browser</a:t>
            </a:r>
            <a:endParaRPr lang="en-US" sz="1400" dirty="0"/>
          </a:p>
        </p:txBody>
      </p:sp>
      <p:sp>
        <p:nvSpPr>
          <p:cNvPr id="14" name="Text 11"/>
          <p:cNvSpPr/>
          <p:nvPr/>
        </p:nvSpPr>
        <p:spPr>
          <a:xfrm>
            <a:off x="502920" y="3913632"/>
            <a:ext cx="2377440" cy="384048"/>
          </a:xfrm>
          <a:prstGeom prst="rect">
            <a:avLst/>
          </a:prstGeom>
          <a:noFill/>
          <a:ln/>
        </p:spPr>
        <p:txBody>
          <a:bodyPr wrap="square" lIns="0" tIns="0" rIns="0" bIns="0" rtlCol="0" anchor="t"/>
          <a:lstStyle/>
          <a:p>
            <a:pPr marL="0" indent="0" algn="l">
              <a:buNone/>
            </a:pPr>
            <a:r>
              <a:rPr lang="en-US" sz="1400" b="1" dirty="0">
                <a:solidFill>
                  <a:srgbClr val="00B4D8"/>
                </a:solidFill>
              </a:rPr>
              <a:t xml:space="preserve">›  </a:t>
            </a:r>
            <a:r>
              <a:rPr lang="en-US" sz="1400" dirty="0">
                <a:solidFill>
                  <a:srgbClr val="B0BEC5"/>
                </a:solidFill>
              </a:rPr>
              <a:t>JWT authentication layer</a:t>
            </a:r>
            <a:endParaRPr lang="en-US" sz="1400" dirty="0"/>
          </a:p>
        </p:txBody>
      </p:sp>
      <p:sp>
        <p:nvSpPr>
          <p:cNvPr id="15" name="Shape 12"/>
          <p:cNvSpPr/>
          <p:nvPr/>
        </p:nvSpPr>
        <p:spPr>
          <a:xfrm>
            <a:off x="3291840" y="1298448"/>
            <a:ext cx="2651760" cy="3474720"/>
          </a:xfrm>
          <a:prstGeom prst="rect">
            <a:avLst/>
          </a:prstGeom>
          <a:solidFill>
            <a:srgbClr val="06200E"/>
          </a:solidFill>
          <a:ln w="12700">
            <a:solidFill>
              <a:srgbClr val="21262D"/>
            </a:solidFill>
            <a:prstDash val="solid"/>
          </a:ln>
        </p:spPr>
        <p:txBody>
          <a:bodyPr/>
          <a:lstStyle/>
          <a:p>
            <a:endParaRPr lang="en-IN"/>
          </a:p>
        </p:txBody>
      </p:sp>
      <p:sp>
        <p:nvSpPr>
          <p:cNvPr id="16" name="Shape 13"/>
          <p:cNvSpPr/>
          <p:nvPr/>
        </p:nvSpPr>
        <p:spPr>
          <a:xfrm>
            <a:off x="3291840" y="1298448"/>
            <a:ext cx="2651760" cy="45720"/>
          </a:xfrm>
          <a:prstGeom prst="rect">
            <a:avLst/>
          </a:prstGeom>
          <a:solidFill>
            <a:srgbClr val="02C39A"/>
          </a:solidFill>
          <a:ln w="12700">
            <a:solidFill>
              <a:srgbClr val="02C39A"/>
            </a:solidFill>
            <a:prstDash val="solid"/>
          </a:ln>
        </p:spPr>
        <p:txBody>
          <a:bodyPr/>
          <a:lstStyle/>
          <a:p>
            <a:endParaRPr lang="en-IN"/>
          </a:p>
        </p:txBody>
      </p:sp>
      <p:pic>
        <p:nvPicPr>
          <p:cNvPr id="17" name="Image 1" descr="preencoded.png"/>
          <p:cNvPicPr>
            <a:picLocks noChangeAspect="1"/>
          </p:cNvPicPr>
          <p:nvPr/>
        </p:nvPicPr>
        <p:blipFill>
          <a:blip r:embed="rId4"/>
          <a:stretch>
            <a:fillRect/>
          </a:stretch>
        </p:blipFill>
        <p:spPr>
          <a:xfrm>
            <a:off x="3566160" y="1463040"/>
            <a:ext cx="438912" cy="438912"/>
          </a:xfrm>
          <a:prstGeom prst="rect">
            <a:avLst/>
          </a:prstGeom>
        </p:spPr>
      </p:pic>
      <p:sp>
        <p:nvSpPr>
          <p:cNvPr id="18" name="Text 14"/>
          <p:cNvSpPr/>
          <p:nvPr/>
        </p:nvSpPr>
        <p:spPr>
          <a:xfrm>
            <a:off x="4114800" y="1463040"/>
            <a:ext cx="1691640" cy="438912"/>
          </a:xfrm>
          <a:prstGeom prst="rect">
            <a:avLst/>
          </a:prstGeom>
          <a:noFill/>
          <a:ln/>
        </p:spPr>
        <p:txBody>
          <a:bodyPr wrap="square" lIns="0" tIns="0" rIns="0" bIns="0" rtlCol="0" anchor="ctr"/>
          <a:lstStyle/>
          <a:p>
            <a:pPr marL="0" indent="0" algn="l">
              <a:buNone/>
            </a:pPr>
            <a:r>
              <a:rPr lang="en-US" sz="2000" b="1" dirty="0">
                <a:solidFill>
                  <a:srgbClr val="02C39A"/>
                </a:solidFill>
                <a:latin typeface="Trebuchet MS" pitchFamily="34" charset="0"/>
                <a:ea typeface="Trebuchet MS" pitchFamily="34" charset="-122"/>
                <a:cs typeface="Trebuchet MS" pitchFamily="34" charset="-120"/>
              </a:rPr>
              <a:t>Storage Node</a:t>
            </a:r>
            <a:endParaRPr lang="en-US" sz="2000" dirty="0"/>
          </a:p>
        </p:txBody>
      </p:sp>
      <p:sp>
        <p:nvSpPr>
          <p:cNvPr id="19" name="Text 15"/>
          <p:cNvSpPr/>
          <p:nvPr/>
        </p:nvSpPr>
        <p:spPr>
          <a:xfrm>
            <a:off x="3429000" y="1993392"/>
            <a:ext cx="2377440" cy="256032"/>
          </a:xfrm>
          <a:prstGeom prst="rect">
            <a:avLst/>
          </a:prstGeom>
          <a:noFill/>
          <a:ln/>
        </p:spPr>
        <p:txBody>
          <a:bodyPr wrap="square" lIns="0" tIns="0" rIns="0" bIns="0" rtlCol="0" anchor="ctr"/>
          <a:lstStyle/>
          <a:p>
            <a:pPr marL="0" indent="0" algn="ctr">
              <a:buNone/>
            </a:pPr>
            <a:r>
              <a:rPr lang="en-US" sz="1200" i="1" dirty="0">
                <a:solidFill>
                  <a:srgbClr val="8B949E"/>
                </a:solidFill>
              </a:rPr>
              <a:t>The Edge</a:t>
            </a:r>
            <a:endParaRPr lang="en-US" sz="1200" dirty="0"/>
          </a:p>
        </p:txBody>
      </p:sp>
      <p:sp>
        <p:nvSpPr>
          <p:cNvPr id="20" name="Text 16"/>
          <p:cNvSpPr/>
          <p:nvPr/>
        </p:nvSpPr>
        <p:spPr>
          <a:xfrm>
            <a:off x="3429000" y="2304288"/>
            <a:ext cx="2377440" cy="384048"/>
          </a:xfrm>
          <a:prstGeom prst="rect">
            <a:avLst/>
          </a:prstGeom>
          <a:noFill/>
          <a:ln/>
        </p:spPr>
        <p:txBody>
          <a:bodyPr wrap="square" lIns="0" tIns="0" rIns="0" bIns="0" rtlCol="0" anchor="t"/>
          <a:lstStyle/>
          <a:p>
            <a:pPr marL="0" indent="0" algn="l">
              <a:buNone/>
            </a:pPr>
            <a:r>
              <a:rPr lang="en-US" sz="1400" b="1" dirty="0">
                <a:solidFill>
                  <a:srgbClr val="02C39A"/>
                </a:solidFill>
              </a:rPr>
              <a:t xml:space="preserve">›  </a:t>
            </a:r>
            <a:r>
              <a:rPr lang="en-US" sz="1400" dirty="0">
                <a:solidFill>
                  <a:srgbClr val="B0BEC5"/>
                </a:solidFill>
              </a:rPr>
              <a:t>Runs on friends' machines</a:t>
            </a:r>
            <a:endParaRPr lang="en-US" sz="1400" dirty="0"/>
          </a:p>
        </p:txBody>
      </p:sp>
      <p:sp>
        <p:nvSpPr>
          <p:cNvPr id="21" name="Text 17"/>
          <p:cNvSpPr/>
          <p:nvPr/>
        </p:nvSpPr>
        <p:spPr>
          <a:xfrm>
            <a:off x="3429000" y="2706624"/>
            <a:ext cx="2377440" cy="384048"/>
          </a:xfrm>
          <a:prstGeom prst="rect">
            <a:avLst/>
          </a:prstGeom>
          <a:noFill/>
          <a:ln/>
        </p:spPr>
        <p:txBody>
          <a:bodyPr wrap="square" lIns="0" tIns="0" rIns="0" bIns="0" rtlCol="0" anchor="t"/>
          <a:lstStyle/>
          <a:p>
            <a:pPr marL="0" indent="0" algn="l">
              <a:buNone/>
            </a:pPr>
            <a:r>
              <a:rPr lang="en-US" sz="1400" b="1" dirty="0">
                <a:solidFill>
                  <a:srgbClr val="02C39A"/>
                </a:solidFill>
              </a:rPr>
              <a:t xml:space="preserve">›  </a:t>
            </a:r>
            <a:r>
              <a:rPr lang="en-US" sz="1400" dirty="0">
                <a:solidFill>
                  <a:srgbClr val="B0BEC5"/>
                </a:solidFill>
              </a:rPr>
              <a:t>Dockerized — one command</a:t>
            </a:r>
            <a:endParaRPr lang="en-US" sz="1400" dirty="0"/>
          </a:p>
        </p:txBody>
      </p:sp>
      <p:sp>
        <p:nvSpPr>
          <p:cNvPr id="22" name="Text 18"/>
          <p:cNvSpPr/>
          <p:nvPr/>
        </p:nvSpPr>
        <p:spPr>
          <a:xfrm>
            <a:off x="3429000" y="3108960"/>
            <a:ext cx="2377440" cy="384048"/>
          </a:xfrm>
          <a:prstGeom prst="rect">
            <a:avLst/>
          </a:prstGeom>
          <a:noFill/>
          <a:ln/>
        </p:spPr>
        <p:txBody>
          <a:bodyPr wrap="square" lIns="0" tIns="0" rIns="0" bIns="0" rtlCol="0" anchor="t"/>
          <a:lstStyle/>
          <a:p>
            <a:pPr marL="0" indent="0" algn="l">
              <a:buNone/>
            </a:pPr>
            <a:r>
              <a:rPr lang="en-US" sz="1400" b="1" dirty="0">
                <a:solidFill>
                  <a:srgbClr val="02C39A"/>
                </a:solidFill>
              </a:rPr>
              <a:t xml:space="preserve">›  </a:t>
            </a:r>
            <a:r>
              <a:rPr lang="en-US" sz="1400" dirty="0">
                <a:solidFill>
                  <a:srgbClr val="B0BEC5"/>
                </a:solidFill>
              </a:rPr>
              <a:t>Watches local directories</a:t>
            </a:r>
            <a:endParaRPr lang="en-US" sz="1400" dirty="0"/>
          </a:p>
        </p:txBody>
      </p:sp>
      <p:sp>
        <p:nvSpPr>
          <p:cNvPr id="23" name="Text 19"/>
          <p:cNvSpPr/>
          <p:nvPr/>
        </p:nvSpPr>
        <p:spPr>
          <a:xfrm>
            <a:off x="3429000" y="3511296"/>
            <a:ext cx="2377440" cy="384048"/>
          </a:xfrm>
          <a:prstGeom prst="rect">
            <a:avLst/>
          </a:prstGeom>
          <a:noFill/>
          <a:ln/>
        </p:spPr>
        <p:txBody>
          <a:bodyPr wrap="square" lIns="0" tIns="0" rIns="0" bIns="0" rtlCol="0" anchor="t"/>
          <a:lstStyle/>
          <a:p>
            <a:pPr marL="0" indent="0" algn="l">
              <a:buNone/>
            </a:pPr>
            <a:r>
              <a:rPr lang="en-US" sz="1400" b="1" dirty="0">
                <a:solidFill>
                  <a:srgbClr val="02C39A"/>
                </a:solidFill>
              </a:rPr>
              <a:t xml:space="preserve">›  </a:t>
            </a:r>
            <a:r>
              <a:rPr lang="en-US" sz="1400" dirty="0">
                <a:solidFill>
                  <a:srgbClr val="B0BEC5"/>
                </a:solidFill>
              </a:rPr>
              <a:t>Generates semantic embeddings</a:t>
            </a:r>
            <a:endParaRPr lang="en-US" sz="1400" dirty="0"/>
          </a:p>
        </p:txBody>
      </p:sp>
      <p:sp>
        <p:nvSpPr>
          <p:cNvPr id="24" name="Text 20"/>
          <p:cNvSpPr/>
          <p:nvPr/>
        </p:nvSpPr>
        <p:spPr>
          <a:xfrm>
            <a:off x="3429000" y="3913632"/>
            <a:ext cx="2377440" cy="384048"/>
          </a:xfrm>
          <a:prstGeom prst="rect">
            <a:avLst/>
          </a:prstGeom>
          <a:noFill/>
          <a:ln/>
        </p:spPr>
        <p:txBody>
          <a:bodyPr wrap="square" lIns="0" tIns="0" rIns="0" bIns="0" rtlCol="0" anchor="t"/>
          <a:lstStyle/>
          <a:p>
            <a:pPr marL="0" indent="0" algn="l">
              <a:buNone/>
            </a:pPr>
            <a:r>
              <a:rPr lang="en-US" sz="1400" b="1" dirty="0">
                <a:solidFill>
                  <a:srgbClr val="02C39A"/>
                </a:solidFill>
              </a:rPr>
              <a:t xml:space="preserve">›  </a:t>
            </a:r>
            <a:r>
              <a:rPr lang="en-US" sz="1400" dirty="0">
                <a:solidFill>
                  <a:srgbClr val="B0BEC5"/>
                </a:solidFill>
              </a:rPr>
              <a:t>Serves raw file bytes on demand</a:t>
            </a:r>
            <a:endParaRPr lang="en-US" sz="1400" dirty="0"/>
          </a:p>
        </p:txBody>
      </p:sp>
      <p:sp>
        <p:nvSpPr>
          <p:cNvPr id="25" name="Shape 21"/>
          <p:cNvSpPr/>
          <p:nvPr/>
        </p:nvSpPr>
        <p:spPr>
          <a:xfrm>
            <a:off x="6217920" y="1298448"/>
            <a:ext cx="2468880" cy="3474720"/>
          </a:xfrm>
          <a:prstGeom prst="rect">
            <a:avLst/>
          </a:prstGeom>
          <a:solidFill>
            <a:srgbClr val="140B2A"/>
          </a:solidFill>
          <a:ln w="12700">
            <a:solidFill>
              <a:srgbClr val="21262D"/>
            </a:solidFill>
            <a:prstDash val="solid"/>
          </a:ln>
        </p:spPr>
        <p:txBody>
          <a:bodyPr/>
          <a:lstStyle/>
          <a:p>
            <a:endParaRPr lang="en-IN"/>
          </a:p>
        </p:txBody>
      </p:sp>
      <p:sp>
        <p:nvSpPr>
          <p:cNvPr id="26" name="Shape 22"/>
          <p:cNvSpPr/>
          <p:nvPr/>
        </p:nvSpPr>
        <p:spPr>
          <a:xfrm>
            <a:off x="6217920" y="1298448"/>
            <a:ext cx="2468880" cy="45720"/>
          </a:xfrm>
          <a:prstGeom prst="rect">
            <a:avLst/>
          </a:prstGeom>
          <a:solidFill>
            <a:srgbClr val="7B2FBE"/>
          </a:solidFill>
          <a:ln w="12700">
            <a:solidFill>
              <a:srgbClr val="7B2FBE"/>
            </a:solidFill>
            <a:prstDash val="solid"/>
          </a:ln>
        </p:spPr>
        <p:txBody>
          <a:bodyPr/>
          <a:lstStyle/>
          <a:p>
            <a:endParaRPr lang="en-IN"/>
          </a:p>
        </p:txBody>
      </p:sp>
      <p:pic>
        <p:nvPicPr>
          <p:cNvPr id="27" name="Image 2" descr="preencoded.png"/>
          <p:cNvPicPr>
            <a:picLocks noChangeAspect="1"/>
          </p:cNvPicPr>
          <p:nvPr/>
        </p:nvPicPr>
        <p:blipFill>
          <a:blip r:embed="rId5"/>
          <a:stretch>
            <a:fillRect/>
          </a:stretch>
        </p:blipFill>
        <p:spPr>
          <a:xfrm>
            <a:off x="6473952" y="1463040"/>
            <a:ext cx="438912" cy="438912"/>
          </a:xfrm>
          <a:prstGeom prst="rect">
            <a:avLst/>
          </a:prstGeom>
        </p:spPr>
      </p:pic>
      <p:sp>
        <p:nvSpPr>
          <p:cNvPr id="28" name="Text 23"/>
          <p:cNvSpPr/>
          <p:nvPr/>
        </p:nvSpPr>
        <p:spPr>
          <a:xfrm>
            <a:off x="6995160" y="1463040"/>
            <a:ext cx="1554480" cy="438912"/>
          </a:xfrm>
          <a:prstGeom prst="rect">
            <a:avLst/>
          </a:prstGeom>
          <a:noFill/>
          <a:ln/>
        </p:spPr>
        <p:txBody>
          <a:bodyPr wrap="square" lIns="0" tIns="0" rIns="0" bIns="0" rtlCol="0" anchor="ctr"/>
          <a:lstStyle/>
          <a:p>
            <a:pPr marL="0" indent="0" algn="l">
              <a:buNone/>
            </a:pPr>
            <a:r>
              <a:rPr lang="en-US" sz="1600" b="1" dirty="0">
                <a:solidFill>
                  <a:srgbClr val="7B2FBE"/>
                </a:solidFill>
                <a:latin typeface="Trebuchet MS" pitchFamily="34" charset="0"/>
                <a:ea typeface="Trebuchet MS" pitchFamily="34" charset="-122"/>
                <a:cs typeface="Trebuchet MS" pitchFamily="34" charset="-120"/>
              </a:rPr>
              <a:t>VPS Edge Proxy</a:t>
            </a:r>
            <a:endParaRPr lang="en-US" sz="1600" dirty="0"/>
          </a:p>
        </p:txBody>
      </p:sp>
      <p:sp>
        <p:nvSpPr>
          <p:cNvPr id="29" name="Text 24"/>
          <p:cNvSpPr/>
          <p:nvPr/>
        </p:nvSpPr>
        <p:spPr>
          <a:xfrm>
            <a:off x="6355080" y="1993392"/>
            <a:ext cx="2194560" cy="256032"/>
          </a:xfrm>
          <a:prstGeom prst="rect">
            <a:avLst/>
          </a:prstGeom>
          <a:noFill/>
          <a:ln/>
        </p:spPr>
        <p:txBody>
          <a:bodyPr wrap="square" lIns="0" tIns="0" rIns="0" bIns="0" rtlCol="0" anchor="ctr"/>
          <a:lstStyle/>
          <a:p>
            <a:pPr marL="0" indent="0" algn="ctr">
              <a:buNone/>
            </a:pPr>
            <a:r>
              <a:rPr lang="en-US" sz="1200" i="1" dirty="0">
                <a:solidFill>
                  <a:srgbClr val="8B949E"/>
                </a:solidFill>
              </a:rPr>
              <a:t>The Fallback</a:t>
            </a:r>
            <a:endParaRPr lang="en-US" sz="1200" dirty="0"/>
          </a:p>
        </p:txBody>
      </p:sp>
      <p:sp>
        <p:nvSpPr>
          <p:cNvPr id="30" name="Text 25"/>
          <p:cNvSpPr/>
          <p:nvPr/>
        </p:nvSpPr>
        <p:spPr>
          <a:xfrm>
            <a:off x="6355080" y="2304288"/>
            <a:ext cx="2194560" cy="384048"/>
          </a:xfrm>
          <a:prstGeom prst="rect">
            <a:avLst/>
          </a:prstGeom>
          <a:noFill/>
          <a:ln/>
        </p:spPr>
        <p:txBody>
          <a:bodyPr wrap="square" lIns="0" tIns="0" rIns="0" bIns="0" rtlCol="0" anchor="t"/>
          <a:lstStyle/>
          <a:p>
            <a:pPr marL="0" indent="0" algn="l">
              <a:buNone/>
            </a:pPr>
            <a:r>
              <a:rPr lang="en-US" sz="1400" b="1" dirty="0">
                <a:solidFill>
                  <a:srgbClr val="7B2FBE"/>
                </a:solidFill>
              </a:rPr>
              <a:t xml:space="preserve">›  </a:t>
            </a:r>
            <a:r>
              <a:rPr lang="en-US" sz="1400" dirty="0">
                <a:solidFill>
                  <a:srgbClr val="B0BEC5"/>
                </a:solidFill>
              </a:rPr>
              <a:t>Oracle Cloud Free Tier VPS</a:t>
            </a:r>
            <a:endParaRPr lang="en-US" sz="1400" dirty="0"/>
          </a:p>
        </p:txBody>
      </p:sp>
      <p:sp>
        <p:nvSpPr>
          <p:cNvPr id="31" name="Text 26"/>
          <p:cNvSpPr/>
          <p:nvPr/>
        </p:nvSpPr>
        <p:spPr>
          <a:xfrm>
            <a:off x="6355080" y="2706624"/>
            <a:ext cx="2194560" cy="384048"/>
          </a:xfrm>
          <a:prstGeom prst="rect">
            <a:avLst/>
          </a:prstGeom>
          <a:noFill/>
          <a:ln/>
        </p:spPr>
        <p:txBody>
          <a:bodyPr wrap="square" lIns="0" tIns="0" rIns="0" bIns="0" rtlCol="0" anchor="t"/>
          <a:lstStyle/>
          <a:p>
            <a:pPr marL="0" indent="0" algn="l">
              <a:buNone/>
            </a:pPr>
            <a:r>
              <a:rPr lang="en-US" sz="1400" b="1" dirty="0">
                <a:solidFill>
                  <a:srgbClr val="7B2FBE"/>
                </a:solidFill>
              </a:rPr>
              <a:t xml:space="preserve">›  </a:t>
            </a:r>
            <a:r>
              <a:rPr lang="en-US" sz="1400" dirty="0">
                <a:solidFill>
                  <a:srgbClr val="B0BEC5"/>
                </a:solidFill>
              </a:rPr>
              <a:t>DNS round-robin routing</a:t>
            </a:r>
            <a:endParaRPr lang="en-US" sz="1400" dirty="0"/>
          </a:p>
        </p:txBody>
      </p:sp>
      <p:sp>
        <p:nvSpPr>
          <p:cNvPr id="32" name="Text 27"/>
          <p:cNvSpPr/>
          <p:nvPr/>
        </p:nvSpPr>
        <p:spPr>
          <a:xfrm>
            <a:off x="6355080" y="3108960"/>
            <a:ext cx="2194560" cy="384048"/>
          </a:xfrm>
          <a:prstGeom prst="rect">
            <a:avLst/>
          </a:prstGeom>
          <a:noFill/>
          <a:ln/>
        </p:spPr>
        <p:txBody>
          <a:bodyPr wrap="square" lIns="0" tIns="0" rIns="0" bIns="0" rtlCol="0" anchor="t"/>
          <a:lstStyle/>
          <a:p>
            <a:pPr marL="0" indent="0" algn="l">
              <a:buNone/>
            </a:pPr>
            <a:r>
              <a:rPr lang="en-US" sz="1400" b="1" dirty="0">
                <a:solidFill>
                  <a:srgbClr val="7B2FBE"/>
                </a:solidFill>
              </a:rPr>
              <a:t xml:space="preserve">›  </a:t>
            </a:r>
            <a:r>
              <a:rPr lang="en-US" sz="1400" dirty="0">
                <a:solidFill>
                  <a:srgbClr val="B0BEC5"/>
                </a:solidFill>
              </a:rPr>
              <a:t>Cached read-only snapshot</a:t>
            </a:r>
            <a:endParaRPr lang="en-US" sz="1400" dirty="0"/>
          </a:p>
        </p:txBody>
      </p:sp>
      <p:sp>
        <p:nvSpPr>
          <p:cNvPr id="33" name="Text 28"/>
          <p:cNvSpPr/>
          <p:nvPr/>
        </p:nvSpPr>
        <p:spPr>
          <a:xfrm>
            <a:off x="6355080" y="3511296"/>
            <a:ext cx="2194560" cy="384048"/>
          </a:xfrm>
          <a:prstGeom prst="rect">
            <a:avLst/>
          </a:prstGeom>
          <a:noFill/>
          <a:ln/>
        </p:spPr>
        <p:txBody>
          <a:bodyPr wrap="square" lIns="0" tIns="0" rIns="0" bIns="0" rtlCol="0" anchor="t"/>
          <a:lstStyle/>
          <a:p>
            <a:pPr marL="0" indent="0" algn="l">
              <a:buNone/>
            </a:pPr>
            <a:r>
              <a:rPr lang="en-US" sz="1400" b="1" dirty="0">
                <a:solidFill>
                  <a:srgbClr val="7B2FBE"/>
                </a:solidFill>
              </a:rPr>
              <a:t xml:space="preserve">›  </a:t>
            </a:r>
            <a:r>
              <a:rPr lang="en-US" sz="1400" dirty="0">
                <a:solidFill>
                  <a:srgbClr val="B0BEC5"/>
                </a:solidFill>
              </a:rPr>
              <a:t>Auto-detects primary outage</a:t>
            </a:r>
            <a:endParaRPr lang="en-US" sz="1400" dirty="0"/>
          </a:p>
        </p:txBody>
      </p:sp>
      <p:sp>
        <p:nvSpPr>
          <p:cNvPr id="34" name="Text 29"/>
          <p:cNvSpPr/>
          <p:nvPr/>
        </p:nvSpPr>
        <p:spPr>
          <a:xfrm>
            <a:off x="6355080" y="3913632"/>
            <a:ext cx="2194560" cy="384048"/>
          </a:xfrm>
          <a:prstGeom prst="rect">
            <a:avLst/>
          </a:prstGeom>
          <a:noFill/>
          <a:ln/>
        </p:spPr>
        <p:txBody>
          <a:bodyPr wrap="square" lIns="0" tIns="0" rIns="0" bIns="0" rtlCol="0" anchor="t"/>
          <a:lstStyle/>
          <a:p>
            <a:pPr marL="0" indent="0" algn="l">
              <a:buNone/>
            </a:pPr>
            <a:r>
              <a:rPr lang="en-US" sz="1400" b="1" dirty="0">
                <a:solidFill>
                  <a:srgbClr val="7B2FBE"/>
                </a:solidFill>
              </a:rPr>
              <a:t xml:space="preserve">›  </a:t>
            </a:r>
            <a:r>
              <a:rPr lang="en-US" sz="1400" dirty="0">
                <a:solidFill>
                  <a:srgbClr val="B0BEC5"/>
                </a:solidFill>
              </a:rPr>
              <a:t>Zero-downtime for read ops</a:t>
            </a:r>
            <a:endParaRPr lang="en-US" sz="1400" dirty="0"/>
          </a:p>
        </p:txBody>
      </p:sp>
      <p:sp>
        <p:nvSpPr>
          <p:cNvPr id="35" name="Shape 30"/>
          <p:cNvSpPr/>
          <p:nvPr/>
        </p:nvSpPr>
        <p:spPr>
          <a:xfrm>
            <a:off x="3017520" y="2743200"/>
            <a:ext cx="274320" cy="0"/>
          </a:xfrm>
          <a:prstGeom prst="line">
            <a:avLst/>
          </a:prstGeom>
          <a:noFill/>
          <a:ln w="25400">
            <a:solidFill>
              <a:srgbClr val="00B4D8"/>
            </a:solidFill>
            <a:prstDash val="solid"/>
          </a:ln>
        </p:spPr>
        <p:txBody>
          <a:bodyPr/>
          <a:lstStyle/>
          <a:p>
            <a:endParaRPr lang="en-IN"/>
          </a:p>
        </p:txBody>
      </p:sp>
      <p:sp>
        <p:nvSpPr>
          <p:cNvPr id="36" name="Shape 31"/>
          <p:cNvSpPr/>
          <p:nvPr/>
        </p:nvSpPr>
        <p:spPr>
          <a:xfrm>
            <a:off x="5943600" y="2743200"/>
            <a:ext cx="274320" cy="0"/>
          </a:xfrm>
          <a:prstGeom prst="line">
            <a:avLst/>
          </a:prstGeom>
          <a:noFill/>
          <a:ln w="25400">
            <a:solidFill>
              <a:srgbClr val="02C39A"/>
            </a:solidFill>
            <a:prstDash val="solid"/>
          </a:ln>
        </p:spPr>
        <p:txBody>
          <a:bodyPr/>
          <a:lstStyle/>
          <a:p>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A"/>
        </a:solidFill>
        <a:effectLst/>
      </p:bgPr>
    </p:bg>
    <p:spTree>
      <p:nvGrpSpPr>
        <p:cNvPr id="1" name=""/>
        <p:cNvGrpSpPr/>
        <p:nvPr/>
      </p:nvGrpSpPr>
      <p:grpSpPr>
        <a:xfrm>
          <a:off x="0" y="0"/>
          <a:ext cx="0" cy="0"/>
          <a:chOff x="0" y="0"/>
          <a:chExt cx="0" cy="0"/>
        </a:xfrm>
      </p:grpSpPr>
      <p:sp>
        <p:nvSpPr>
          <p:cNvPr id="2" name="Shape 0"/>
          <p:cNvSpPr/>
          <p:nvPr/>
        </p:nvSpPr>
        <p:spPr>
          <a:xfrm>
            <a:off x="457200" y="256032"/>
            <a:ext cx="2011680" cy="237744"/>
          </a:xfrm>
          <a:prstGeom prst="rect">
            <a:avLst/>
          </a:prstGeom>
          <a:solidFill>
            <a:srgbClr val="E6F7FF"/>
          </a:solidFill>
          <a:ln w="12700">
            <a:solidFill>
              <a:srgbClr val="00B4D8"/>
            </a:solidFill>
            <a:prstDash val="solid"/>
          </a:ln>
        </p:spPr>
        <p:txBody>
          <a:bodyPr/>
          <a:lstStyle/>
          <a:p>
            <a:endParaRPr lang="en-IN"/>
          </a:p>
        </p:txBody>
      </p:sp>
      <p:sp>
        <p:nvSpPr>
          <p:cNvPr id="3" name="Text 1"/>
          <p:cNvSpPr/>
          <p:nvPr/>
        </p:nvSpPr>
        <p:spPr>
          <a:xfrm>
            <a:off x="457200" y="256032"/>
            <a:ext cx="2011680" cy="237744"/>
          </a:xfrm>
          <a:prstGeom prst="rect">
            <a:avLst/>
          </a:prstGeom>
          <a:noFill/>
          <a:ln/>
        </p:spPr>
        <p:txBody>
          <a:bodyPr wrap="square" lIns="0" tIns="0" rIns="0" bIns="0" rtlCol="0" anchor="ctr"/>
          <a:lstStyle/>
          <a:p>
            <a:pPr marL="0" indent="0" algn="ctr">
              <a:buNone/>
            </a:pPr>
            <a:r>
              <a:rPr lang="en-US" sz="850" b="1" dirty="0">
                <a:solidFill>
                  <a:srgbClr val="0077B6"/>
                </a:solidFill>
              </a:rPr>
              <a:t>KEY INNOVATION #1</a:t>
            </a:r>
            <a:endParaRPr lang="en-US" sz="850" dirty="0"/>
          </a:p>
        </p:txBody>
      </p:sp>
      <p:sp>
        <p:nvSpPr>
          <p:cNvPr id="4" name="Text 2"/>
          <p:cNvSpPr/>
          <p:nvPr/>
        </p:nvSpPr>
        <p:spPr>
          <a:xfrm>
            <a:off x="457200" y="566928"/>
            <a:ext cx="8229600" cy="594360"/>
          </a:xfrm>
          <a:prstGeom prst="rect">
            <a:avLst/>
          </a:prstGeom>
          <a:noFill/>
          <a:ln/>
        </p:spPr>
        <p:txBody>
          <a:bodyPr wrap="square" lIns="0" tIns="0" rIns="0" bIns="0" rtlCol="0" anchor="ctr"/>
          <a:lstStyle/>
          <a:p>
            <a:pPr marL="0" indent="0" algn="l">
              <a:buNone/>
            </a:pPr>
            <a:r>
              <a:rPr lang="en-US" sz="3000" b="1" dirty="0">
                <a:solidFill>
                  <a:srgbClr val="24292F"/>
                </a:solidFill>
                <a:latin typeface="Trebuchet MS" pitchFamily="34" charset="0"/>
                <a:ea typeface="Trebuchet MS" pitchFamily="34" charset="-122"/>
                <a:cs typeface="Trebuchet MS" pitchFamily="34" charset="-120"/>
              </a:rPr>
              <a:t>Multi-Route Array Addressing</a:t>
            </a:r>
            <a:endParaRPr lang="en-US" sz="3000" dirty="0"/>
          </a:p>
        </p:txBody>
      </p:sp>
      <p:sp>
        <p:nvSpPr>
          <p:cNvPr id="5" name="Shape 3"/>
          <p:cNvSpPr/>
          <p:nvPr/>
        </p:nvSpPr>
        <p:spPr>
          <a:xfrm>
            <a:off x="457200" y="1298448"/>
            <a:ext cx="8229600" cy="621792"/>
          </a:xfrm>
          <a:prstGeom prst="rect">
            <a:avLst/>
          </a:prstGeom>
          <a:solidFill>
            <a:srgbClr val="1E2A35"/>
          </a:solidFill>
          <a:ln w="12700">
            <a:solidFill>
              <a:srgbClr val="2D3E4D"/>
            </a:solidFill>
            <a:prstDash val="solid"/>
          </a:ln>
        </p:spPr>
        <p:txBody>
          <a:bodyPr/>
          <a:lstStyle/>
          <a:p>
            <a:endParaRPr lang="en-IN"/>
          </a:p>
        </p:txBody>
      </p:sp>
      <p:sp>
        <p:nvSpPr>
          <p:cNvPr id="6" name="Text 4"/>
          <p:cNvSpPr/>
          <p:nvPr/>
        </p:nvSpPr>
        <p:spPr>
          <a:xfrm>
            <a:off x="594360" y="1298448"/>
            <a:ext cx="7955280" cy="621792"/>
          </a:xfrm>
          <a:prstGeom prst="rect">
            <a:avLst/>
          </a:prstGeom>
          <a:noFill/>
          <a:ln/>
        </p:spPr>
        <p:txBody>
          <a:bodyPr wrap="square" lIns="0" tIns="0" rIns="0" bIns="0" rtlCol="0" anchor="ctr"/>
          <a:lstStyle/>
          <a:p>
            <a:pPr marL="0" indent="0" algn="l">
              <a:buNone/>
            </a:pPr>
            <a:r>
              <a:rPr lang="en-US" sz="1150" dirty="0">
                <a:solidFill>
                  <a:srgbClr val="9ECFF0"/>
                </a:solidFill>
                <a:latin typeface="Consolas" pitchFamily="34" charset="0"/>
                <a:ea typeface="Consolas" pitchFamily="34" charset="-122"/>
                <a:cs typeface="Consolas" pitchFamily="34" charset="-120"/>
              </a:rPr>
              <a:t>node_address</a:t>
            </a:r>
            <a:r>
              <a:rPr lang="en-US" sz="1150" dirty="0">
                <a:solidFill>
                  <a:srgbClr val="FFFFFF"/>
                </a:solidFill>
                <a:latin typeface="Consolas" pitchFamily="34" charset="0"/>
                <a:ea typeface="Consolas" pitchFamily="34" charset="-122"/>
                <a:cs typeface="Consolas" pitchFamily="34" charset="-120"/>
              </a:rPr>
              <a:t xml:space="preserve"> = </a:t>
            </a:r>
            <a:r>
              <a:rPr lang="en-US" sz="1150" dirty="0">
                <a:solidFill>
                  <a:srgbClr val="A8D8A8"/>
                </a:solidFill>
                <a:latin typeface="Consolas" pitchFamily="34" charset="0"/>
                <a:ea typeface="Consolas" pitchFamily="34" charset="-122"/>
                <a:cs typeface="Consolas" pitchFamily="34" charset="-120"/>
              </a:rPr>
              <a:t>"192.168.1.100, 10.0.0.5, 2001:db8::1, mynode.tailnet.ts.net, home.myserver.dyndns.org"</a:t>
            </a:r>
            <a:endParaRPr lang="en-US" sz="1150" dirty="0"/>
          </a:p>
        </p:txBody>
      </p:sp>
      <p:sp>
        <p:nvSpPr>
          <p:cNvPr id="7" name="Shape 5"/>
          <p:cNvSpPr/>
          <p:nvPr/>
        </p:nvSpPr>
        <p:spPr>
          <a:xfrm>
            <a:off x="457200" y="2084832"/>
            <a:ext cx="2697480" cy="2606040"/>
          </a:xfrm>
          <a:prstGeom prst="rect">
            <a:avLst/>
          </a:prstGeom>
          <a:solidFill>
            <a:srgbClr val="FFFFFF"/>
          </a:solidFill>
          <a:ln w="12700">
            <a:solidFill>
              <a:srgbClr val="D0D7DE"/>
            </a:solidFill>
            <a:prstDash val="solid"/>
          </a:ln>
        </p:spPr>
        <p:txBody>
          <a:bodyPr/>
          <a:lstStyle/>
          <a:p>
            <a:endParaRPr lang="en-IN"/>
          </a:p>
        </p:txBody>
      </p:sp>
      <p:sp>
        <p:nvSpPr>
          <p:cNvPr id="8" name="Shape 6"/>
          <p:cNvSpPr/>
          <p:nvPr/>
        </p:nvSpPr>
        <p:spPr>
          <a:xfrm>
            <a:off x="457200" y="2084832"/>
            <a:ext cx="2697480" cy="36576"/>
          </a:xfrm>
          <a:prstGeom prst="rect">
            <a:avLst/>
          </a:prstGeom>
          <a:solidFill>
            <a:srgbClr val="0077B6"/>
          </a:solidFill>
          <a:ln w="12700">
            <a:solidFill>
              <a:srgbClr val="0077B6"/>
            </a:solidFill>
            <a:prstDash val="solid"/>
          </a:ln>
        </p:spPr>
        <p:txBody>
          <a:bodyPr/>
          <a:lstStyle/>
          <a:p>
            <a:endParaRPr lang="en-IN"/>
          </a:p>
        </p:txBody>
      </p:sp>
      <p:pic>
        <p:nvPicPr>
          <p:cNvPr id="9" name="Image 0" descr="preencoded.png"/>
          <p:cNvPicPr>
            <a:picLocks noChangeAspect="1"/>
          </p:cNvPicPr>
          <p:nvPr/>
        </p:nvPicPr>
        <p:blipFill>
          <a:blip r:embed="rId3"/>
          <a:stretch>
            <a:fillRect/>
          </a:stretch>
        </p:blipFill>
        <p:spPr>
          <a:xfrm>
            <a:off x="640080" y="2286000"/>
            <a:ext cx="384048" cy="384048"/>
          </a:xfrm>
          <a:prstGeom prst="rect">
            <a:avLst/>
          </a:prstGeom>
        </p:spPr>
      </p:pic>
      <p:sp>
        <p:nvSpPr>
          <p:cNvPr id="10" name="Text 7"/>
          <p:cNvSpPr/>
          <p:nvPr/>
        </p:nvSpPr>
        <p:spPr>
          <a:xfrm>
            <a:off x="1143000" y="2249424"/>
            <a:ext cx="1874520" cy="475488"/>
          </a:xfrm>
          <a:prstGeom prst="rect">
            <a:avLst/>
          </a:prstGeom>
          <a:noFill/>
          <a:ln/>
        </p:spPr>
        <p:txBody>
          <a:bodyPr wrap="square" lIns="0" tIns="0" rIns="0" bIns="0" rtlCol="0" anchor="ctr"/>
          <a:lstStyle/>
          <a:p>
            <a:pPr marL="0" indent="0" algn="l">
              <a:buNone/>
            </a:pPr>
            <a:r>
              <a:rPr lang="en-US" sz="1150" b="1" dirty="0">
                <a:solidFill>
                  <a:srgbClr val="24292F"/>
                </a:solidFill>
                <a:latin typeface="Trebuchet MS" pitchFamily="34" charset="0"/>
                <a:ea typeface="Trebuchet MS" pitchFamily="34" charset="-122"/>
                <a:cs typeface="Trebuchet MS" pitchFamily="34" charset="-120"/>
              </a:rPr>
              <a:t>Multi-Address Registration</a:t>
            </a:r>
            <a:endParaRPr lang="en-US" sz="1150" dirty="0"/>
          </a:p>
        </p:txBody>
      </p:sp>
      <p:sp>
        <p:nvSpPr>
          <p:cNvPr id="11" name="Text 8"/>
          <p:cNvSpPr/>
          <p:nvPr/>
        </p:nvSpPr>
        <p:spPr>
          <a:xfrm>
            <a:off x="621792" y="2788920"/>
            <a:ext cx="2377440" cy="914400"/>
          </a:xfrm>
          <a:prstGeom prst="rect">
            <a:avLst/>
          </a:prstGeom>
          <a:noFill/>
          <a:ln/>
        </p:spPr>
        <p:txBody>
          <a:bodyPr wrap="square" lIns="0" tIns="0" rIns="0" bIns="0" rtlCol="0" anchor="t"/>
          <a:lstStyle/>
          <a:p>
            <a:pPr marL="0" indent="0" algn="l">
              <a:buNone/>
            </a:pPr>
            <a:r>
              <a:rPr lang="en-US" sz="1600" dirty="0">
                <a:solidFill>
                  <a:srgbClr val="4A5568"/>
                </a:solidFill>
              </a:rPr>
              <a:t>Each node stores a comma-separated list of all its reachable addresses: LAN IP, IPv6, VPN IP, domain name. All registered at join time.</a:t>
            </a:r>
            <a:endParaRPr lang="en-US" sz="1600" dirty="0"/>
          </a:p>
        </p:txBody>
      </p:sp>
      <p:sp>
        <p:nvSpPr>
          <p:cNvPr id="12" name="Shape 9"/>
          <p:cNvSpPr/>
          <p:nvPr/>
        </p:nvSpPr>
        <p:spPr>
          <a:xfrm>
            <a:off x="3337560" y="2084832"/>
            <a:ext cx="2697480" cy="2606040"/>
          </a:xfrm>
          <a:prstGeom prst="rect">
            <a:avLst/>
          </a:prstGeom>
          <a:solidFill>
            <a:srgbClr val="FFFFFF"/>
          </a:solidFill>
          <a:ln w="12700">
            <a:solidFill>
              <a:srgbClr val="D0D7DE"/>
            </a:solidFill>
            <a:prstDash val="solid"/>
          </a:ln>
        </p:spPr>
        <p:txBody>
          <a:bodyPr/>
          <a:lstStyle/>
          <a:p>
            <a:endParaRPr lang="en-IN"/>
          </a:p>
        </p:txBody>
      </p:sp>
      <p:sp>
        <p:nvSpPr>
          <p:cNvPr id="13" name="Shape 10"/>
          <p:cNvSpPr/>
          <p:nvPr/>
        </p:nvSpPr>
        <p:spPr>
          <a:xfrm>
            <a:off x="3337560" y="2084832"/>
            <a:ext cx="2697480" cy="36576"/>
          </a:xfrm>
          <a:prstGeom prst="rect">
            <a:avLst/>
          </a:prstGeom>
          <a:solidFill>
            <a:srgbClr val="02C39A"/>
          </a:solidFill>
          <a:ln w="12700">
            <a:solidFill>
              <a:srgbClr val="02C39A"/>
            </a:solidFill>
            <a:prstDash val="solid"/>
          </a:ln>
        </p:spPr>
        <p:txBody>
          <a:bodyPr/>
          <a:lstStyle/>
          <a:p>
            <a:endParaRPr lang="en-IN"/>
          </a:p>
        </p:txBody>
      </p:sp>
      <p:pic>
        <p:nvPicPr>
          <p:cNvPr id="14" name="Image 1" descr="preencoded.png"/>
          <p:cNvPicPr>
            <a:picLocks noChangeAspect="1"/>
          </p:cNvPicPr>
          <p:nvPr/>
        </p:nvPicPr>
        <p:blipFill>
          <a:blip r:embed="rId4"/>
          <a:stretch>
            <a:fillRect/>
          </a:stretch>
        </p:blipFill>
        <p:spPr>
          <a:xfrm>
            <a:off x="3520440" y="2286000"/>
            <a:ext cx="384048" cy="384048"/>
          </a:xfrm>
          <a:prstGeom prst="rect">
            <a:avLst/>
          </a:prstGeom>
        </p:spPr>
      </p:pic>
      <p:sp>
        <p:nvSpPr>
          <p:cNvPr id="15" name="Text 11"/>
          <p:cNvSpPr/>
          <p:nvPr/>
        </p:nvSpPr>
        <p:spPr>
          <a:xfrm>
            <a:off x="4023360" y="2249424"/>
            <a:ext cx="1874520" cy="475488"/>
          </a:xfrm>
          <a:prstGeom prst="rect">
            <a:avLst/>
          </a:prstGeom>
          <a:noFill/>
          <a:ln/>
        </p:spPr>
        <p:txBody>
          <a:bodyPr wrap="square" lIns="0" tIns="0" rIns="0" bIns="0" rtlCol="0" anchor="ctr"/>
          <a:lstStyle/>
          <a:p>
            <a:pPr marL="0" indent="0" algn="l">
              <a:buNone/>
            </a:pPr>
            <a:r>
              <a:rPr lang="en-US" sz="1150" b="1" dirty="0">
                <a:solidFill>
                  <a:srgbClr val="24292F"/>
                </a:solidFill>
                <a:latin typeface="Trebuchet MS" pitchFamily="34" charset="0"/>
                <a:ea typeface="Trebuchet MS" pitchFamily="34" charset="-122"/>
                <a:cs typeface="Trebuchet MS" pitchFamily="34" charset="-120"/>
              </a:rPr>
              <a:t>Dynamic Route Iteration</a:t>
            </a:r>
            <a:endParaRPr lang="en-US" sz="1150" dirty="0"/>
          </a:p>
        </p:txBody>
      </p:sp>
      <p:sp>
        <p:nvSpPr>
          <p:cNvPr id="16" name="Text 12"/>
          <p:cNvSpPr/>
          <p:nvPr/>
        </p:nvSpPr>
        <p:spPr>
          <a:xfrm>
            <a:off x="3502152" y="2788920"/>
            <a:ext cx="2377440" cy="914400"/>
          </a:xfrm>
          <a:prstGeom prst="rect">
            <a:avLst/>
          </a:prstGeom>
          <a:noFill/>
          <a:ln/>
        </p:spPr>
        <p:txBody>
          <a:bodyPr wrap="square" lIns="0" tIns="0" rIns="0" bIns="0" rtlCol="0" anchor="t"/>
          <a:lstStyle/>
          <a:p>
            <a:pPr marL="0" indent="0" algn="l">
              <a:buNone/>
            </a:pPr>
            <a:r>
              <a:rPr lang="en-US" sz="1600" dirty="0">
                <a:solidFill>
                  <a:srgbClr val="4A5568"/>
                </a:solidFill>
              </a:rPr>
              <a:t>On connection, the system tries each address in sequence. First successful route wins. Failed routes are skipped automatically.</a:t>
            </a:r>
            <a:endParaRPr lang="en-US" sz="1600" dirty="0"/>
          </a:p>
        </p:txBody>
      </p:sp>
      <p:sp>
        <p:nvSpPr>
          <p:cNvPr id="17" name="Shape 13"/>
          <p:cNvSpPr/>
          <p:nvPr/>
        </p:nvSpPr>
        <p:spPr>
          <a:xfrm>
            <a:off x="6217920" y="2084832"/>
            <a:ext cx="2697480" cy="2606040"/>
          </a:xfrm>
          <a:prstGeom prst="rect">
            <a:avLst/>
          </a:prstGeom>
          <a:solidFill>
            <a:srgbClr val="FFFFFF"/>
          </a:solidFill>
          <a:ln w="12700">
            <a:solidFill>
              <a:srgbClr val="D0D7DE"/>
            </a:solidFill>
            <a:prstDash val="solid"/>
          </a:ln>
        </p:spPr>
        <p:txBody>
          <a:bodyPr/>
          <a:lstStyle/>
          <a:p>
            <a:endParaRPr lang="en-IN"/>
          </a:p>
        </p:txBody>
      </p:sp>
      <p:sp>
        <p:nvSpPr>
          <p:cNvPr id="18" name="Shape 14"/>
          <p:cNvSpPr/>
          <p:nvPr/>
        </p:nvSpPr>
        <p:spPr>
          <a:xfrm>
            <a:off x="6217920" y="2084832"/>
            <a:ext cx="2697480" cy="36576"/>
          </a:xfrm>
          <a:prstGeom prst="rect">
            <a:avLst/>
          </a:prstGeom>
          <a:solidFill>
            <a:srgbClr val="FFB703"/>
          </a:solidFill>
          <a:ln w="12700">
            <a:solidFill>
              <a:srgbClr val="FFB703"/>
            </a:solidFill>
            <a:prstDash val="solid"/>
          </a:ln>
        </p:spPr>
        <p:txBody>
          <a:bodyPr/>
          <a:lstStyle/>
          <a:p>
            <a:endParaRPr lang="en-IN"/>
          </a:p>
        </p:txBody>
      </p:sp>
      <p:pic>
        <p:nvPicPr>
          <p:cNvPr id="19" name="Image 2" descr="preencoded.png"/>
          <p:cNvPicPr>
            <a:picLocks noChangeAspect="1"/>
          </p:cNvPicPr>
          <p:nvPr/>
        </p:nvPicPr>
        <p:blipFill>
          <a:blip r:embed="rId5"/>
          <a:stretch>
            <a:fillRect/>
          </a:stretch>
        </p:blipFill>
        <p:spPr>
          <a:xfrm>
            <a:off x="6400800" y="2286000"/>
            <a:ext cx="384048" cy="384048"/>
          </a:xfrm>
          <a:prstGeom prst="rect">
            <a:avLst/>
          </a:prstGeom>
        </p:spPr>
      </p:pic>
      <p:sp>
        <p:nvSpPr>
          <p:cNvPr id="20" name="Text 15"/>
          <p:cNvSpPr/>
          <p:nvPr/>
        </p:nvSpPr>
        <p:spPr>
          <a:xfrm>
            <a:off x="6903720" y="2249424"/>
            <a:ext cx="1874520" cy="475488"/>
          </a:xfrm>
          <a:prstGeom prst="rect">
            <a:avLst/>
          </a:prstGeom>
          <a:noFill/>
          <a:ln/>
        </p:spPr>
        <p:txBody>
          <a:bodyPr wrap="square" lIns="0" tIns="0" rIns="0" bIns="0" rtlCol="0" anchor="ctr"/>
          <a:lstStyle/>
          <a:p>
            <a:pPr marL="0" indent="0" algn="l">
              <a:buNone/>
            </a:pPr>
            <a:r>
              <a:rPr lang="en-US" sz="1150" b="1" dirty="0">
                <a:solidFill>
                  <a:srgbClr val="24292F"/>
                </a:solidFill>
                <a:latin typeface="Trebuchet MS" pitchFamily="34" charset="0"/>
                <a:ea typeface="Trebuchet MS" pitchFamily="34" charset="-122"/>
                <a:cs typeface="Trebuchet MS" pitchFamily="34" charset="-120"/>
              </a:rPr>
              <a:t>Topology Agnostic</a:t>
            </a:r>
            <a:endParaRPr lang="en-US" sz="1150" dirty="0"/>
          </a:p>
        </p:txBody>
      </p:sp>
      <p:sp>
        <p:nvSpPr>
          <p:cNvPr id="21" name="Text 16"/>
          <p:cNvSpPr/>
          <p:nvPr/>
        </p:nvSpPr>
        <p:spPr>
          <a:xfrm>
            <a:off x="6382512" y="2788920"/>
            <a:ext cx="2377440" cy="914400"/>
          </a:xfrm>
          <a:prstGeom prst="rect">
            <a:avLst/>
          </a:prstGeom>
          <a:noFill/>
          <a:ln/>
        </p:spPr>
        <p:txBody>
          <a:bodyPr wrap="square" lIns="0" tIns="0" rIns="0" bIns="0" rtlCol="0" anchor="t"/>
          <a:lstStyle/>
          <a:p>
            <a:pPr marL="0" indent="0" algn="l">
              <a:buNone/>
            </a:pPr>
            <a:r>
              <a:rPr lang="en-US" sz="1600" dirty="0">
                <a:solidFill>
                  <a:srgbClr val="4A5568"/>
                </a:solidFill>
              </a:rPr>
              <a:t>Works across home LANs, WireGuard tunnels, CGNAT, and public internet simultaneously. No manual network config required.</a:t>
            </a:r>
            <a:endParaRPr lang="en-US" sz="1600" dirty="0"/>
          </a:p>
        </p:txBody>
      </p:sp>
      <p:sp>
        <p:nvSpPr>
          <p:cNvPr id="22" name="Shape 17"/>
          <p:cNvSpPr/>
          <p:nvPr/>
        </p:nvSpPr>
        <p:spPr>
          <a:xfrm>
            <a:off x="457200" y="4663440"/>
            <a:ext cx="8229600" cy="292608"/>
          </a:xfrm>
          <a:prstGeom prst="rect">
            <a:avLst/>
          </a:prstGeom>
          <a:solidFill>
            <a:srgbClr val="E6F7FF"/>
          </a:solidFill>
          <a:ln w="12700">
            <a:solidFill>
              <a:srgbClr val="00B4D8"/>
            </a:solidFill>
            <a:prstDash val="solid"/>
          </a:ln>
        </p:spPr>
        <p:txBody>
          <a:bodyPr/>
          <a:lstStyle/>
          <a:p>
            <a:endParaRPr lang="en-IN"/>
          </a:p>
        </p:txBody>
      </p:sp>
      <p:sp>
        <p:nvSpPr>
          <p:cNvPr id="23" name="Text 18"/>
          <p:cNvSpPr/>
          <p:nvPr/>
        </p:nvSpPr>
        <p:spPr>
          <a:xfrm>
            <a:off x="457200" y="4663440"/>
            <a:ext cx="8229600" cy="292608"/>
          </a:xfrm>
          <a:prstGeom prst="rect">
            <a:avLst/>
          </a:prstGeom>
          <a:noFill/>
          <a:ln/>
        </p:spPr>
        <p:txBody>
          <a:bodyPr wrap="square" lIns="0" tIns="0" rIns="0" bIns="0" rtlCol="0" anchor="ctr"/>
          <a:lstStyle/>
          <a:p>
            <a:pPr marL="0" indent="0" algn="ctr">
              <a:buNone/>
            </a:pPr>
            <a:r>
              <a:rPr lang="en-US" sz="1150" i="1" dirty="0">
                <a:solidFill>
                  <a:srgbClr val="0077B6"/>
                </a:solidFill>
                <a:latin typeface="Calibri" pitchFamily="34" charset="0"/>
                <a:ea typeface="Calibri" pitchFamily="34" charset="-122"/>
                <a:cs typeface="Calibri" pitchFamily="34" charset="-120"/>
              </a:rPr>
              <a:t>"As long as connectivity exists between, the system will work."</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457200" y="256032"/>
            <a:ext cx="2011680" cy="237744"/>
          </a:xfrm>
          <a:prstGeom prst="rect">
            <a:avLst/>
          </a:prstGeom>
          <a:solidFill>
            <a:srgbClr val="2A0A14"/>
          </a:solidFill>
          <a:ln w="12700">
            <a:solidFill>
              <a:srgbClr val="EF476F"/>
            </a:solidFill>
            <a:prstDash val="solid"/>
          </a:ln>
        </p:spPr>
        <p:txBody>
          <a:bodyPr/>
          <a:lstStyle/>
          <a:p>
            <a:endParaRPr lang="en-IN"/>
          </a:p>
        </p:txBody>
      </p:sp>
      <p:sp>
        <p:nvSpPr>
          <p:cNvPr id="3" name="Text 1"/>
          <p:cNvSpPr/>
          <p:nvPr/>
        </p:nvSpPr>
        <p:spPr>
          <a:xfrm>
            <a:off x="457200" y="256032"/>
            <a:ext cx="2011680" cy="237744"/>
          </a:xfrm>
          <a:prstGeom prst="rect">
            <a:avLst/>
          </a:prstGeom>
          <a:noFill/>
          <a:ln/>
        </p:spPr>
        <p:txBody>
          <a:bodyPr wrap="square" lIns="0" tIns="0" rIns="0" bIns="0" rtlCol="0" anchor="ctr"/>
          <a:lstStyle/>
          <a:p>
            <a:pPr marL="0" indent="0" algn="ctr">
              <a:buNone/>
            </a:pPr>
            <a:r>
              <a:rPr lang="en-US" sz="900" b="1" dirty="0">
                <a:solidFill>
                  <a:srgbClr val="EF476F"/>
                </a:solidFill>
              </a:rPr>
              <a:t>KEY INNOVATION #2</a:t>
            </a:r>
            <a:endParaRPr lang="en-US" sz="900" dirty="0"/>
          </a:p>
        </p:txBody>
      </p:sp>
      <p:sp>
        <p:nvSpPr>
          <p:cNvPr id="4" name="Text 2"/>
          <p:cNvSpPr/>
          <p:nvPr/>
        </p:nvSpPr>
        <p:spPr>
          <a:xfrm>
            <a:off x="457200" y="566928"/>
            <a:ext cx="8229600" cy="594360"/>
          </a:xfrm>
          <a:prstGeom prst="rect">
            <a:avLst/>
          </a:prstGeom>
          <a:noFill/>
          <a:ln/>
        </p:spPr>
        <p:txBody>
          <a:bodyPr wrap="square" lIns="0" tIns="0" rIns="0" bIns="0" rtlCol="0" anchor="ctr"/>
          <a:lstStyle/>
          <a:p>
            <a:pPr marL="0" indent="0" algn="l">
              <a:buNone/>
            </a:pPr>
            <a:r>
              <a:rPr lang="en-US" sz="3200" b="1" dirty="0">
                <a:solidFill>
                  <a:srgbClr val="FFFFFF"/>
                </a:solidFill>
                <a:latin typeface="Trebuchet MS" pitchFamily="34" charset="0"/>
                <a:ea typeface="Trebuchet MS" pitchFamily="34" charset="-122"/>
                <a:cs typeface="Trebuchet MS" pitchFamily="34" charset="-120"/>
              </a:rPr>
              <a:t>FTS5 Full-Text Document Search</a:t>
            </a:r>
            <a:endParaRPr lang="en-US" sz="3200" dirty="0"/>
          </a:p>
        </p:txBody>
      </p:sp>
      <p:sp>
        <p:nvSpPr>
          <p:cNvPr id="5" name="Shape 3"/>
          <p:cNvSpPr/>
          <p:nvPr/>
        </p:nvSpPr>
        <p:spPr>
          <a:xfrm>
            <a:off x="365760" y="1417320"/>
            <a:ext cx="3291840" cy="640080"/>
          </a:xfrm>
          <a:prstGeom prst="rect">
            <a:avLst/>
          </a:prstGeom>
          <a:solidFill>
            <a:srgbClr val="161B22"/>
          </a:solidFill>
          <a:ln w="12700">
            <a:solidFill>
              <a:srgbClr val="21262D"/>
            </a:solidFill>
            <a:prstDash val="solid"/>
          </a:ln>
        </p:spPr>
        <p:txBody>
          <a:bodyPr/>
          <a:lstStyle/>
          <a:p>
            <a:endParaRPr lang="en-IN"/>
          </a:p>
        </p:txBody>
      </p:sp>
      <p:sp>
        <p:nvSpPr>
          <p:cNvPr id="6" name="Text 4"/>
          <p:cNvSpPr/>
          <p:nvPr/>
        </p:nvSpPr>
        <p:spPr>
          <a:xfrm>
            <a:off x="365760" y="1417320"/>
            <a:ext cx="3291840" cy="640080"/>
          </a:xfrm>
          <a:prstGeom prst="rect">
            <a:avLst/>
          </a:prstGeom>
          <a:noFill/>
          <a:ln/>
        </p:spPr>
        <p:txBody>
          <a:bodyPr wrap="square" lIns="0" tIns="0" rIns="0" bIns="0" rtlCol="0" anchor="ctr"/>
          <a:lstStyle/>
          <a:p>
            <a:pPr marL="0" indent="0" algn="ctr">
              <a:buNone/>
            </a:pPr>
            <a:r>
              <a:rPr lang="en-US" sz="1100" dirty="0">
                <a:solidFill>
                  <a:srgbClr val="8B949E"/>
                </a:solidFill>
              </a:rPr>
              <a:t>File Ingestion</a:t>
            </a:r>
            <a:endParaRPr lang="en-US" sz="1100" dirty="0"/>
          </a:p>
          <a:p>
            <a:pPr marL="0" indent="0" algn="ctr">
              <a:buNone/>
            </a:pPr>
            <a:r>
              <a:rPr lang="en-US" sz="1100" dirty="0">
                <a:solidFill>
                  <a:srgbClr val="8B949E"/>
                </a:solidFill>
              </a:rPr>
              <a:t>(on file detected)</a:t>
            </a:r>
            <a:endParaRPr lang="en-US" sz="1100" dirty="0"/>
          </a:p>
        </p:txBody>
      </p:sp>
      <p:sp>
        <p:nvSpPr>
          <p:cNvPr id="7" name="Shape 5"/>
          <p:cNvSpPr/>
          <p:nvPr/>
        </p:nvSpPr>
        <p:spPr>
          <a:xfrm>
            <a:off x="2011680" y="2057400"/>
            <a:ext cx="0" cy="173736"/>
          </a:xfrm>
          <a:prstGeom prst="line">
            <a:avLst/>
          </a:prstGeom>
          <a:noFill/>
          <a:ln w="19050">
            <a:solidFill>
              <a:srgbClr val="21262D"/>
            </a:solidFill>
            <a:prstDash val="solid"/>
          </a:ln>
        </p:spPr>
        <p:txBody>
          <a:bodyPr/>
          <a:lstStyle/>
          <a:p>
            <a:endParaRPr lang="en-IN"/>
          </a:p>
        </p:txBody>
      </p:sp>
      <p:sp>
        <p:nvSpPr>
          <p:cNvPr id="8" name="Shape 6"/>
          <p:cNvSpPr/>
          <p:nvPr/>
        </p:nvSpPr>
        <p:spPr>
          <a:xfrm>
            <a:off x="365760" y="2240280"/>
            <a:ext cx="3291840" cy="640080"/>
          </a:xfrm>
          <a:prstGeom prst="rect">
            <a:avLst/>
          </a:prstGeom>
          <a:solidFill>
            <a:srgbClr val="1A0A20"/>
          </a:solidFill>
          <a:ln w="12700">
            <a:solidFill>
              <a:srgbClr val="EF476F"/>
            </a:solidFill>
            <a:prstDash val="solid"/>
          </a:ln>
        </p:spPr>
        <p:txBody>
          <a:bodyPr/>
          <a:lstStyle/>
          <a:p>
            <a:endParaRPr lang="en-IN"/>
          </a:p>
        </p:txBody>
      </p:sp>
      <p:sp>
        <p:nvSpPr>
          <p:cNvPr id="9" name="Text 7"/>
          <p:cNvSpPr/>
          <p:nvPr/>
        </p:nvSpPr>
        <p:spPr>
          <a:xfrm>
            <a:off x="365760" y="2240280"/>
            <a:ext cx="3291840" cy="640080"/>
          </a:xfrm>
          <a:prstGeom prst="rect">
            <a:avLst/>
          </a:prstGeom>
          <a:noFill/>
          <a:ln/>
        </p:spPr>
        <p:txBody>
          <a:bodyPr wrap="square" lIns="0" tIns="0" rIns="0" bIns="0" rtlCol="0" anchor="ctr"/>
          <a:lstStyle/>
          <a:p>
            <a:pPr marL="0" indent="0" algn="ctr">
              <a:buNone/>
            </a:pPr>
            <a:r>
              <a:rPr lang="en-US" sz="1100" dirty="0">
                <a:solidFill>
                  <a:srgbClr val="EF476F"/>
                </a:solidFill>
              </a:rPr>
              <a:t>Text Extraction</a:t>
            </a:r>
            <a:endParaRPr lang="en-US" sz="1100" dirty="0"/>
          </a:p>
          <a:p>
            <a:pPr marL="0" indent="0" algn="ctr">
              <a:buNone/>
            </a:pPr>
            <a:r>
              <a:rPr lang="en-US" sz="1100" dirty="0">
                <a:solidFill>
                  <a:srgbClr val="EF476F"/>
                </a:solidFill>
              </a:rPr>
              <a:t>(pdfplumber / docx / openpyxl)</a:t>
            </a:r>
            <a:endParaRPr lang="en-US" sz="1100" dirty="0"/>
          </a:p>
        </p:txBody>
      </p:sp>
      <p:sp>
        <p:nvSpPr>
          <p:cNvPr id="10" name="Shape 8"/>
          <p:cNvSpPr/>
          <p:nvPr/>
        </p:nvSpPr>
        <p:spPr>
          <a:xfrm>
            <a:off x="2011680" y="2880360"/>
            <a:ext cx="0" cy="173736"/>
          </a:xfrm>
          <a:prstGeom prst="line">
            <a:avLst/>
          </a:prstGeom>
          <a:noFill/>
          <a:ln w="19050">
            <a:solidFill>
              <a:srgbClr val="21262D"/>
            </a:solidFill>
            <a:prstDash val="solid"/>
          </a:ln>
        </p:spPr>
        <p:txBody>
          <a:bodyPr/>
          <a:lstStyle/>
          <a:p>
            <a:endParaRPr lang="en-IN"/>
          </a:p>
        </p:txBody>
      </p:sp>
      <p:sp>
        <p:nvSpPr>
          <p:cNvPr id="11" name="Shape 9"/>
          <p:cNvSpPr/>
          <p:nvPr/>
        </p:nvSpPr>
        <p:spPr>
          <a:xfrm>
            <a:off x="365760" y="3063240"/>
            <a:ext cx="3291840" cy="640080"/>
          </a:xfrm>
          <a:prstGeom prst="rect">
            <a:avLst/>
          </a:prstGeom>
          <a:solidFill>
            <a:srgbClr val="0B1A12"/>
          </a:solidFill>
          <a:ln w="12700">
            <a:solidFill>
              <a:srgbClr val="02C39A"/>
            </a:solidFill>
            <a:prstDash val="solid"/>
          </a:ln>
        </p:spPr>
        <p:txBody>
          <a:bodyPr/>
          <a:lstStyle/>
          <a:p>
            <a:endParaRPr lang="en-IN"/>
          </a:p>
        </p:txBody>
      </p:sp>
      <p:sp>
        <p:nvSpPr>
          <p:cNvPr id="12" name="Text 10"/>
          <p:cNvSpPr/>
          <p:nvPr/>
        </p:nvSpPr>
        <p:spPr>
          <a:xfrm>
            <a:off x="365760" y="3063240"/>
            <a:ext cx="3291840" cy="640080"/>
          </a:xfrm>
          <a:prstGeom prst="rect">
            <a:avLst/>
          </a:prstGeom>
          <a:noFill/>
          <a:ln/>
        </p:spPr>
        <p:txBody>
          <a:bodyPr wrap="square" lIns="0" tIns="0" rIns="0" bIns="0" rtlCol="0" anchor="ctr"/>
          <a:lstStyle/>
          <a:p>
            <a:pPr marL="0" indent="0" algn="ctr">
              <a:buNone/>
            </a:pPr>
            <a:r>
              <a:rPr lang="en-US" sz="1100" dirty="0">
                <a:solidFill>
                  <a:srgbClr val="02C39A"/>
                </a:solidFill>
              </a:rPr>
              <a:t>FTS5 Index</a:t>
            </a:r>
            <a:endParaRPr lang="en-US" sz="1100" dirty="0"/>
          </a:p>
          <a:p>
            <a:pPr marL="0" indent="0" algn="ctr">
              <a:buNone/>
            </a:pPr>
            <a:r>
              <a:rPr lang="en-US" sz="1100" dirty="0">
                <a:solidFill>
                  <a:srgbClr val="02C39A"/>
                </a:solidFill>
              </a:rPr>
              <a:t>(SQLite FTS5 virtual table)</a:t>
            </a:r>
            <a:endParaRPr lang="en-US" sz="1100" dirty="0"/>
          </a:p>
        </p:txBody>
      </p:sp>
      <p:sp>
        <p:nvSpPr>
          <p:cNvPr id="13" name="Shape 11"/>
          <p:cNvSpPr/>
          <p:nvPr/>
        </p:nvSpPr>
        <p:spPr>
          <a:xfrm>
            <a:off x="2011680" y="3703320"/>
            <a:ext cx="0" cy="173736"/>
          </a:xfrm>
          <a:prstGeom prst="line">
            <a:avLst/>
          </a:prstGeom>
          <a:noFill/>
          <a:ln w="19050">
            <a:solidFill>
              <a:srgbClr val="21262D"/>
            </a:solidFill>
            <a:prstDash val="solid"/>
          </a:ln>
        </p:spPr>
        <p:txBody>
          <a:bodyPr/>
          <a:lstStyle/>
          <a:p>
            <a:endParaRPr lang="en-IN"/>
          </a:p>
        </p:txBody>
      </p:sp>
      <p:sp>
        <p:nvSpPr>
          <p:cNvPr id="14" name="Shape 12"/>
          <p:cNvSpPr/>
          <p:nvPr/>
        </p:nvSpPr>
        <p:spPr>
          <a:xfrm>
            <a:off x="365760" y="3886200"/>
            <a:ext cx="3291840" cy="640080"/>
          </a:xfrm>
          <a:prstGeom prst="rect">
            <a:avLst/>
          </a:prstGeom>
          <a:solidFill>
            <a:srgbClr val="161B22"/>
          </a:solidFill>
          <a:ln w="12700">
            <a:solidFill>
              <a:srgbClr val="00B4D8"/>
            </a:solidFill>
            <a:prstDash val="solid"/>
          </a:ln>
        </p:spPr>
        <p:txBody>
          <a:bodyPr/>
          <a:lstStyle/>
          <a:p>
            <a:endParaRPr lang="en-IN"/>
          </a:p>
        </p:txBody>
      </p:sp>
      <p:sp>
        <p:nvSpPr>
          <p:cNvPr id="15" name="Text 13"/>
          <p:cNvSpPr/>
          <p:nvPr/>
        </p:nvSpPr>
        <p:spPr>
          <a:xfrm>
            <a:off x="365760" y="3886200"/>
            <a:ext cx="3291840" cy="640080"/>
          </a:xfrm>
          <a:prstGeom prst="rect">
            <a:avLst/>
          </a:prstGeom>
          <a:noFill/>
          <a:ln/>
        </p:spPr>
        <p:txBody>
          <a:bodyPr wrap="square" lIns="0" tIns="0" rIns="0" bIns="0" rtlCol="0" anchor="ctr"/>
          <a:lstStyle/>
          <a:p>
            <a:pPr marL="0" indent="0" algn="ctr">
              <a:buNone/>
            </a:pPr>
            <a:r>
              <a:rPr lang="en-US" sz="1100" dirty="0">
                <a:solidFill>
                  <a:srgbClr val="00B4D8"/>
                </a:solidFill>
              </a:rPr>
              <a:t>registry.db</a:t>
            </a:r>
            <a:endParaRPr lang="en-US" sz="1100" dirty="0"/>
          </a:p>
          <a:p>
            <a:pPr marL="0" indent="0" algn="ctr">
              <a:buNone/>
            </a:pPr>
            <a:r>
              <a:rPr lang="en-US" sz="1100" dirty="0">
                <a:solidFill>
                  <a:srgbClr val="00B4D8"/>
                </a:solidFill>
              </a:rPr>
              <a:t>(SQLite on Directory Node)</a:t>
            </a:r>
            <a:endParaRPr lang="en-US" sz="1100" dirty="0"/>
          </a:p>
        </p:txBody>
      </p:sp>
      <p:sp>
        <p:nvSpPr>
          <p:cNvPr id="16" name="Text 14"/>
          <p:cNvSpPr/>
          <p:nvPr/>
        </p:nvSpPr>
        <p:spPr>
          <a:xfrm>
            <a:off x="365760" y="4663440"/>
            <a:ext cx="3291840" cy="292608"/>
          </a:xfrm>
          <a:prstGeom prst="rect">
            <a:avLst/>
          </a:prstGeom>
          <a:noFill/>
          <a:ln/>
        </p:spPr>
        <p:txBody>
          <a:bodyPr wrap="square" lIns="0" tIns="0" rIns="0" bIns="0" rtlCol="0" anchor="ctr"/>
          <a:lstStyle/>
          <a:p>
            <a:pPr marL="0" indent="0" algn="ctr">
              <a:buNone/>
            </a:pPr>
            <a:r>
              <a:rPr lang="en-US" sz="900" i="1" dirty="0">
                <a:solidFill>
                  <a:srgbClr val="8B949E"/>
                </a:solidFill>
              </a:rPr>
              <a:t>Indexing Pipeline (on Storage Node → synced to Directory Node)</a:t>
            </a:r>
            <a:endParaRPr lang="en-US" sz="900" dirty="0"/>
          </a:p>
        </p:txBody>
      </p:sp>
      <p:sp>
        <p:nvSpPr>
          <p:cNvPr id="17" name="Shape 15"/>
          <p:cNvSpPr/>
          <p:nvPr/>
        </p:nvSpPr>
        <p:spPr>
          <a:xfrm>
            <a:off x="4023360" y="1417320"/>
            <a:ext cx="4663440" cy="1737360"/>
          </a:xfrm>
          <a:prstGeom prst="rect">
            <a:avLst/>
          </a:prstGeom>
          <a:solidFill>
            <a:srgbClr val="161B22"/>
          </a:solidFill>
          <a:ln w="12700">
            <a:solidFill>
              <a:srgbClr val="21262D"/>
            </a:solidFill>
            <a:prstDash val="solid"/>
          </a:ln>
        </p:spPr>
        <p:txBody>
          <a:bodyPr/>
          <a:lstStyle/>
          <a:p>
            <a:endParaRPr lang="en-IN"/>
          </a:p>
        </p:txBody>
      </p:sp>
      <p:sp>
        <p:nvSpPr>
          <p:cNvPr id="18" name="Text 16"/>
          <p:cNvSpPr/>
          <p:nvPr/>
        </p:nvSpPr>
        <p:spPr>
          <a:xfrm>
            <a:off x="4206240" y="1508760"/>
            <a:ext cx="4297680" cy="274320"/>
          </a:xfrm>
          <a:prstGeom prst="rect">
            <a:avLst/>
          </a:prstGeom>
          <a:noFill/>
          <a:ln/>
        </p:spPr>
        <p:txBody>
          <a:bodyPr wrap="square" lIns="0" tIns="0" rIns="0" bIns="0" rtlCol="0" anchor="ctr"/>
          <a:lstStyle/>
          <a:p>
            <a:pPr marL="0" indent="0" algn="l">
              <a:buNone/>
            </a:pPr>
            <a:r>
              <a:rPr lang="en-US" sz="1050" dirty="0">
                <a:solidFill>
                  <a:srgbClr val="8B949E"/>
                </a:solidFill>
              </a:rPr>
              <a:t>User Query (keyword search)</a:t>
            </a:r>
            <a:endParaRPr lang="en-US" sz="1050" dirty="0"/>
          </a:p>
        </p:txBody>
      </p:sp>
      <p:sp>
        <p:nvSpPr>
          <p:cNvPr id="19" name="Shape 17"/>
          <p:cNvSpPr/>
          <p:nvPr/>
        </p:nvSpPr>
        <p:spPr>
          <a:xfrm>
            <a:off x="4206240" y="1847088"/>
            <a:ext cx="4297680" cy="329184"/>
          </a:xfrm>
          <a:prstGeom prst="rect">
            <a:avLst/>
          </a:prstGeom>
          <a:solidFill>
            <a:srgbClr val="0D1117"/>
          </a:solidFill>
          <a:ln w="12700">
            <a:solidFill>
              <a:srgbClr val="EF476F"/>
            </a:solidFill>
            <a:prstDash val="solid"/>
          </a:ln>
        </p:spPr>
        <p:txBody>
          <a:bodyPr/>
          <a:lstStyle/>
          <a:p>
            <a:endParaRPr lang="en-IN"/>
          </a:p>
        </p:txBody>
      </p:sp>
      <p:sp>
        <p:nvSpPr>
          <p:cNvPr id="20" name="Text 18"/>
          <p:cNvSpPr/>
          <p:nvPr/>
        </p:nvSpPr>
        <p:spPr>
          <a:xfrm>
            <a:off x="4206240" y="1847088"/>
            <a:ext cx="4297680" cy="329184"/>
          </a:xfrm>
          <a:prstGeom prst="rect">
            <a:avLst/>
          </a:prstGeom>
          <a:noFill/>
          <a:ln/>
        </p:spPr>
        <p:txBody>
          <a:bodyPr wrap="square" lIns="101600" tIns="101600" rIns="101600" bIns="101600" rtlCol="0" anchor="ctr"/>
          <a:lstStyle/>
          <a:p>
            <a:pPr marL="0" indent="0" algn="l">
              <a:buNone/>
            </a:pPr>
            <a:r>
              <a:rPr lang="en-US" sz="1200" i="1" dirty="0">
                <a:solidFill>
                  <a:srgbClr val="EF476F"/>
                </a:solidFill>
                <a:latin typeface="Consolas" pitchFamily="34" charset="0"/>
                <a:ea typeface="Consolas" pitchFamily="34" charset="-122"/>
                <a:cs typeface="Consolas" pitchFamily="34" charset="-120"/>
              </a:rPr>
              <a:t>"federated learning neural network"</a:t>
            </a:r>
            <a:endParaRPr lang="en-US" sz="1200" dirty="0"/>
          </a:p>
        </p:txBody>
      </p:sp>
      <p:sp>
        <p:nvSpPr>
          <p:cNvPr id="21" name="Text 19"/>
          <p:cNvSpPr/>
          <p:nvPr/>
        </p:nvSpPr>
        <p:spPr>
          <a:xfrm>
            <a:off x="4206240" y="2240280"/>
            <a:ext cx="4297680" cy="384048"/>
          </a:xfrm>
          <a:prstGeom prst="rect">
            <a:avLst/>
          </a:prstGeom>
          <a:noFill/>
          <a:ln/>
        </p:spPr>
        <p:txBody>
          <a:bodyPr wrap="square" lIns="0" tIns="0" rIns="0" bIns="0" rtlCol="0" anchor="ctr"/>
          <a:lstStyle/>
          <a:p>
            <a:pPr marL="0" indent="0" algn="l">
              <a:buNone/>
            </a:pPr>
            <a:r>
              <a:rPr lang="en-US" sz="1050" dirty="0">
                <a:solidFill>
                  <a:srgbClr val="8B949E"/>
                </a:solidFill>
              </a:rPr>
              <a:t>→ Tokenized → BM25 ranked FTS5 search → top results returned from all nodes</a:t>
            </a:r>
            <a:endParaRPr lang="en-US" sz="1050" dirty="0"/>
          </a:p>
        </p:txBody>
      </p:sp>
      <p:sp>
        <p:nvSpPr>
          <p:cNvPr id="22" name="Shape 20"/>
          <p:cNvSpPr/>
          <p:nvPr/>
        </p:nvSpPr>
        <p:spPr>
          <a:xfrm>
            <a:off x="4023360" y="3310128"/>
            <a:ext cx="54864" cy="402336"/>
          </a:xfrm>
          <a:prstGeom prst="rect">
            <a:avLst/>
          </a:prstGeom>
          <a:solidFill>
            <a:srgbClr val="02C39A"/>
          </a:solidFill>
          <a:ln w="12700">
            <a:solidFill>
              <a:srgbClr val="02C39A"/>
            </a:solidFill>
            <a:prstDash val="solid"/>
          </a:ln>
        </p:spPr>
        <p:txBody>
          <a:bodyPr/>
          <a:lstStyle/>
          <a:p>
            <a:endParaRPr lang="en-IN"/>
          </a:p>
        </p:txBody>
      </p:sp>
      <p:sp>
        <p:nvSpPr>
          <p:cNvPr id="23" name="Text 21"/>
          <p:cNvSpPr/>
          <p:nvPr/>
        </p:nvSpPr>
        <p:spPr>
          <a:xfrm>
            <a:off x="4206240" y="3328416"/>
            <a:ext cx="4389120" cy="201168"/>
          </a:xfrm>
          <a:prstGeom prst="rect">
            <a:avLst/>
          </a:prstGeom>
          <a:noFill/>
          <a:ln/>
        </p:spPr>
        <p:txBody>
          <a:bodyPr wrap="square" lIns="0" tIns="0" rIns="0" bIns="0" rtlCol="0" anchor="ctr"/>
          <a:lstStyle/>
          <a:p>
            <a:pPr marL="0" indent="0" algn="l">
              <a:buNone/>
            </a:pPr>
            <a:r>
              <a:rPr lang="en-US" sz="1200" b="1" dirty="0">
                <a:solidFill>
                  <a:srgbClr val="02C39A"/>
                </a:solidFill>
              </a:rPr>
              <a:t>Zero Dependencies</a:t>
            </a:r>
            <a:endParaRPr lang="en-US" sz="1200" dirty="0"/>
          </a:p>
        </p:txBody>
      </p:sp>
      <p:sp>
        <p:nvSpPr>
          <p:cNvPr id="24" name="Text 22"/>
          <p:cNvSpPr/>
          <p:nvPr/>
        </p:nvSpPr>
        <p:spPr>
          <a:xfrm>
            <a:off x="4206240" y="3529584"/>
            <a:ext cx="4389120" cy="256032"/>
          </a:xfrm>
          <a:prstGeom prst="rect">
            <a:avLst/>
          </a:prstGeom>
          <a:noFill/>
          <a:ln/>
        </p:spPr>
        <p:txBody>
          <a:bodyPr wrap="square" lIns="0" tIns="0" rIns="0" bIns="0" rtlCol="0" anchor="ctr"/>
          <a:lstStyle/>
          <a:p>
            <a:pPr marL="0" indent="0" algn="l">
              <a:buNone/>
            </a:pPr>
            <a:r>
              <a:rPr lang="en-US" sz="1050" dirty="0">
                <a:solidFill>
                  <a:srgbClr val="8B949E"/>
                </a:solidFill>
              </a:rPr>
              <a:t>SQLite FTS5 is built-in — no external search engine, no vector DB, no GPU required.</a:t>
            </a:r>
            <a:endParaRPr lang="en-US" sz="1050" dirty="0"/>
          </a:p>
        </p:txBody>
      </p:sp>
      <p:sp>
        <p:nvSpPr>
          <p:cNvPr id="25" name="Shape 23"/>
          <p:cNvSpPr/>
          <p:nvPr/>
        </p:nvSpPr>
        <p:spPr>
          <a:xfrm>
            <a:off x="4023360" y="3840480"/>
            <a:ext cx="54864" cy="402336"/>
          </a:xfrm>
          <a:prstGeom prst="rect">
            <a:avLst/>
          </a:prstGeom>
          <a:solidFill>
            <a:srgbClr val="00B4D8"/>
          </a:solidFill>
          <a:ln w="12700">
            <a:solidFill>
              <a:srgbClr val="00B4D8"/>
            </a:solidFill>
            <a:prstDash val="solid"/>
          </a:ln>
        </p:spPr>
        <p:txBody>
          <a:bodyPr/>
          <a:lstStyle/>
          <a:p>
            <a:endParaRPr lang="en-IN"/>
          </a:p>
        </p:txBody>
      </p:sp>
      <p:sp>
        <p:nvSpPr>
          <p:cNvPr id="26" name="Text 24"/>
          <p:cNvSpPr/>
          <p:nvPr/>
        </p:nvSpPr>
        <p:spPr>
          <a:xfrm>
            <a:off x="4206240" y="3858768"/>
            <a:ext cx="4389120" cy="201168"/>
          </a:xfrm>
          <a:prstGeom prst="rect">
            <a:avLst/>
          </a:prstGeom>
          <a:noFill/>
          <a:ln/>
        </p:spPr>
        <p:txBody>
          <a:bodyPr wrap="square" lIns="0" tIns="0" rIns="0" bIns="0" rtlCol="0" anchor="ctr"/>
          <a:lstStyle/>
          <a:p>
            <a:pPr marL="0" indent="0" algn="l">
              <a:buNone/>
            </a:pPr>
            <a:r>
              <a:rPr lang="en-US" sz="1200" b="1" dirty="0">
                <a:solidFill>
                  <a:srgbClr val="00B4D8"/>
                </a:solidFill>
              </a:rPr>
              <a:t>Deep Doc Parsing</a:t>
            </a:r>
            <a:endParaRPr lang="en-US" sz="1200" dirty="0"/>
          </a:p>
        </p:txBody>
      </p:sp>
      <p:sp>
        <p:nvSpPr>
          <p:cNvPr id="27" name="Text 25"/>
          <p:cNvSpPr/>
          <p:nvPr/>
        </p:nvSpPr>
        <p:spPr>
          <a:xfrm>
            <a:off x="4206240" y="4059936"/>
            <a:ext cx="4389120" cy="256032"/>
          </a:xfrm>
          <a:prstGeom prst="rect">
            <a:avLst/>
          </a:prstGeom>
          <a:noFill/>
          <a:ln/>
        </p:spPr>
        <p:txBody>
          <a:bodyPr wrap="square" lIns="0" tIns="0" rIns="0" bIns="0" rtlCol="0" anchor="ctr"/>
          <a:lstStyle/>
          <a:p>
            <a:pPr marL="0" indent="0" algn="l">
              <a:buNone/>
            </a:pPr>
            <a:r>
              <a:rPr lang="en-US" sz="1050" dirty="0">
                <a:solidFill>
                  <a:srgbClr val="8B949E"/>
                </a:solidFill>
              </a:rPr>
              <a:t>Up to 500 words extracted per file from PDFs, DOCX, XLSX, TXT, and code files.</a:t>
            </a:r>
            <a:endParaRPr lang="en-US" sz="1050" dirty="0"/>
          </a:p>
        </p:txBody>
      </p:sp>
      <p:sp>
        <p:nvSpPr>
          <p:cNvPr id="28" name="Shape 26"/>
          <p:cNvSpPr/>
          <p:nvPr/>
        </p:nvSpPr>
        <p:spPr>
          <a:xfrm>
            <a:off x="4023360" y="4370832"/>
            <a:ext cx="54864" cy="402336"/>
          </a:xfrm>
          <a:prstGeom prst="rect">
            <a:avLst/>
          </a:prstGeom>
          <a:solidFill>
            <a:srgbClr val="FFB703"/>
          </a:solidFill>
          <a:ln w="12700">
            <a:solidFill>
              <a:srgbClr val="FFB703"/>
            </a:solidFill>
            <a:prstDash val="solid"/>
          </a:ln>
        </p:spPr>
        <p:txBody>
          <a:bodyPr/>
          <a:lstStyle/>
          <a:p>
            <a:endParaRPr lang="en-IN"/>
          </a:p>
        </p:txBody>
      </p:sp>
      <p:sp>
        <p:nvSpPr>
          <p:cNvPr id="29" name="Text 27"/>
          <p:cNvSpPr/>
          <p:nvPr/>
        </p:nvSpPr>
        <p:spPr>
          <a:xfrm>
            <a:off x="4206240" y="4389120"/>
            <a:ext cx="4389120" cy="201168"/>
          </a:xfrm>
          <a:prstGeom prst="rect">
            <a:avLst/>
          </a:prstGeom>
          <a:noFill/>
          <a:ln/>
        </p:spPr>
        <p:txBody>
          <a:bodyPr wrap="square" lIns="0" tIns="0" rIns="0" bIns="0" rtlCol="0" anchor="ctr"/>
          <a:lstStyle/>
          <a:p>
            <a:pPr marL="0" indent="0" algn="l">
              <a:buNone/>
            </a:pPr>
            <a:r>
              <a:rPr lang="en-US" sz="1200" b="1" dirty="0">
                <a:solidFill>
                  <a:srgbClr val="FFB703"/>
                </a:solidFill>
              </a:rPr>
              <a:t>Private by Design</a:t>
            </a:r>
            <a:endParaRPr lang="en-US" sz="1200" dirty="0"/>
          </a:p>
        </p:txBody>
      </p:sp>
      <p:sp>
        <p:nvSpPr>
          <p:cNvPr id="30" name="Text 28"/>
          <p:cNvSpPr/>
          <p:nvPr/>
        </p:nvSpPr>
        <p:spPr>
          <a:xfrm>
            <a:off x="4206240" y="4590288"/>
            <a:ext cx="4389120" cy="256032"/>
          </a:xfrm>
          <a:prstGeom prst="rect">
            <a:avLst/>
          </a:prstGeom>
          <a:noFill/>
          <a:ln/>
        </p:spPr>
        <p:txBody>
          <a:bodyPr wrap="square" lIns="0" tIns="0" rIns="0" bIns="0" rtlCol="0" anchor="ctr"/>
          <a:lstStyle/>
          <a:p>
            <a:pPr marL="0" indent="0" algn="l">
              <a:buNone/>
            </a:pPr>
            <a:r>
              <a:rPr lang="en-US" sz="1050" dirty="0">
                <a:solidFill>
                  <a:srgbClr val="8B949E"/>
                </a:solidFill>
              </a:rPr>
              <a:t>Only text snippets are indexed — no raw file content ever leaves the storage node.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A"/>
        </a:solidFill>
        <a:effectLst/>
      </p:bgPr>
    </p:bg>
    <p:spTree>
      <p:nvGrpSpPr>
        <p:cNvPr id="1" name=""/>
        <p:cNvGrpSpPr/>
        <p:nvPr/>
      </p:nvGrpSpPr>
      <p:grpSpPr>
        <a:xfrm>
          <a:off x="0" y="0"/>
          <a:ext cx="0" cy="0"/>
          <a:chOff x="0" y="0"/>
          <a:chExt cx="0" cy="0"/>
        </a:xfrm>
      </p:grpSpPr>
      <p:sp>
        <p:nvSpPr>
          <p:cNvPr id="2" name="Shape 0"/>
          <p:cNvSpPr/>
          <p:nvPr/>
        </p:nvSpPr>
        <p:spPr>
          <a:xfrm>
            <a:off x="457200" y="256032"/>
            <a:ext cx="1371600" cy="237744"/>
          </a:xfrm>
          <a:prstGeom prst="rect">
            <a:avLst/>
          </a:prstGeom>
          <a:solidFill>
            <a:srgbClr val="FFFAE6"/>
          </a:solidFill>
          <a:ln w="12700">
            <a:solidFill>
              <a:srgbClr val="FFB703"/>
            </a:solidFill>
            <a:prstDash val="solid"/>
          </a:ln>
        </p:spPr>
        <p:txBody>
          <a:bodyPr/>
          <a:lstStyle/>
          <a:p>
            <a:endParaRPr lang="en-IN"/>
          </a:p>
        </p:txBody>
      </p:sp>
      <p:sp>
        <p:nvSpPr>
          <p:cNvPr id="3" name="Text 1"/>
          <p:cNvSpPr/>
          <p:nvPr/>
        </p:nvSpPr>
        <p:spPr>
          <a:xfrm>
            <a:off x="457200" y="256032"/>
            <a:ext cx="1371600" cy="237744"/>
          </a:xfrm>
          <a:prstGeom prst="rect">
            <a:avLst/>
          </a:prstGeom>
          <a:noFill/>
          <a:ln/>
        </p:spPr>
        <p:txBody>
          <a:bodyPr wrap="square" lIns="0" tIns="0" rIns="0" bIns="0" rtlCol="0" anchor="ctr"/>
          <a:lstStyle/>
          <a:p>
            <a:pPr marL="0" indent="0" algn="ctr">
              <a:buNone/>
            </a:pPr>
            <a:r>
              <a:rPr lang="en-US" sz="1000" b="1" dirty="0">
                <a:solidFill>
                  <a:srgbClr val="FFB703"/>
                </a:solidFill>
              </a:rPr>
              <a:t>SECURITY</a:t>
            </a:r>
            <a:endParaRPr lang="en-US" sz="1000" dirty="0"/>
          </a:p>
        </p:txBody>
      </p:sp>
      <p:sp>
        <p:nvSpPr>
          <p:cNvPr id="4" name="Text 2"/>
          <p:cNvSpPr/>
          <p:nvPr/>
        </p:nvSpPr>
        <p:spPr>
          <a:xfrm>
            <a:off x="457200" y="566928"/>
            <a:ext cx="8229600" cy="594360"/>
          </a:xfrm>
          <a:prstGeom prst="rect">
            <a:avLst/>
          </a:prstGeom>
          <a:noFill/>
          <a:ln/>
        </p:spPr>
        <p:txBody>
          <a:bodyPr wrap="square" lIns="0" tIns="0" rIns="0" bIns="0" rtlCol="0" anchor="ctr"/>
          <a:lstStyle/>
          <a:p>
            <a:pPr marL="0" indent="0" algn="l">
              <a:buNone/>
            </a:pPr>
            <a:r>
              <a:rPr lang="en-US" sz="3600" b="1" dirty="0">
                <a:solidFill>
                  <a:srgbClr val="24292F"/>
                </a:solidFill>
                <a:latin typeface="Trebuchet MS" pitchFamily="34" charset="0"/>
                <a:ea typeface="Trebuchet MS" pitchFamily="34" charset="-122"/>
                <a:cs typeface="Trebuchet MS" pitchFamily="34" charset="-120"/>
              </a:rPr>
              <a:t>Granular Access Control &amp; Security</a:t>
            </a:r>
            <a:endParaRPr lang="en-US" sz="3600" dirty="0"/>
          </a:p>
        </p:txBody>
      </p:sp>
      <p:sp>
        <p:nvSpPr>
          <p:cNvPr id="5" name="Shape 3"/>
          <p:cNvSpPr/>
          <p:nvPr/>
        </p:nvSpPr>
        <p:spPr>
          <a:xfrm>
            <a:off x="457200" y="1371600"/>
            <a:ext cx="4023360" cy="1572768"/>
          </a:xfrm>
          <a:prstGeom prst="rect">
            <a:avLst/>
          </a:prstGeom>
          <a:solidFill>
            <a:srgbClr val="FFFFFF"/>
          </a:solidFill>
          <a:ln w="12700">
            <a:solidFill>
              <a:srgbClr val="D0D7DE"/>
            </a:solidFill>
            <a:prstDash val="solid"/>
          </a:ln>
        </p:spPr>
        <p:txBody>
          <a:bodyPr/>
          <a:lstStyle/>
          <a:p>
            <a:endParaRPr lang="en-IN"/>
          </a:p>
        </p:txBody>
      </p:sp>
      <p:sp>
        <p:nvSpPr>
          <p:cNvPr id="6" name="Shape 4"/>
          <p:cNvSpPr/>
          <p:nvPr/>
        </p:nvSpPr>
        <p:spPr>
          <a:xfrm>
            <a:off x="457200" y="1371600"/>
            <a:ext cx="4023360" cy="36576"/>
          </a:xfrm>
          <a:prstGeom prst="rect">
            <a:avLst/>
          </a:prstGeom>
          <a:solidFill>
            <a:srgbClr val="00B4D8"/>
          </a:solidFill>
          <a:ln w="12700">
            <a:solidFill>
              <a:srgbClr val="00B4D8"/>
            </a:solidFill>
            <a:prstDash val="solid"/>
          </a:ln>
        </p:spPr>
        <p:txBody>
          <a:bodyPr/>
          <a:lstStyle/>
          <a:p>
            <a:endParaRPr lang="en-IN"/>
          </a:p>
        </p:txBody>
      </p:sp>
      <p:pic>
        <p:nvPicPr>
          <p:cNvPr id="7" name="Image 0" descr="preencoded.png"/>
          <p:cNvPicPr>
            <a:picLocks noChangeAspect="1"/>
          </p:cNvPicPr>
          <p:nvPr/>
        </p:nvPicPr>
        <p:blipFill>
          <a:blip r:embed="rId3"/>
          <a:stretch>
            <a:fillRect/>
          </a:stretch>
        </p:blipFill>
        <p:spPr>
          <a:xfrm>
            <a:off x="621792" y="1572768"/>
            <a:ext cx="347472" cy="347472"/>
          </a:xfrm>
          <a:prstGeom prst="rect">
            <a:avLst/>
          </a:prstGeom>
        </p:spPr>
      </p:pic>
      <p:sp>
        <p:nvSpPr>
          <p:cNvPr id="8" name="Text 5"/>
          <p:cNvSpPr/>
          <p:nvPr/>
        </p:nvSpPr>
        <p:spPr>
          <a:xfrm>
            <a:off x="1097280" y="1554480"/>
            <a:ext cx="3200400" cy="365760"/>
          </a:xfrm>
          <a:prstGeom prst="rect">
            <a:avLst/>
          </a:prstGeom>
          <a:noFill/>
          <a:ln/>
        </p:spPr>
        <p:txBody>
          <a:bodyPr wrap="square" lIns="0" tIns="0" rIns="0" bIns="0" rtlCol="0" anchor="ctr"/>
          <a:lstStyle/>
          <a:p>
            <a:pPr marL="0" indent="0" algn="l">
              <a:buNone/>
            </a:pPr>
            <a:r>
              <a:rPr lang="en-US" sz="1600" b="1" dirty="0">
                <a:solidFill>
                  <a:srgbClr val="24292F"/>
                </a:solidFill>
                <a:latin typeface="Trebuchet MS" pitchFamily="34" charset="0"/>
                <a:ea typeface="Trebuchet MS" pitchFamily="34" charset="-122"/>
                <a:cs typeface="Trebuchet MS" pitchFamily="34" charset="-120"/>
              </a:rPr>
              <a:t>JWT Authentication</a:t>
            </a:r>
            <a:endParaRPr lang="en-US" sz="1600" dirty="0"/>
          </a:p>
        </p:txBody>
      </p:sp>
      <p:sp>
        <p:nvSpPr>
          <p:cNvPr id="9" name="Text 6"/>
          <p:cNvSpPr/>
          <p:nvPr/>
        </p:nvSpPr>
        <p:spPr>
          <a:xfrm>
            <a:off x="621792" y="2029968"/>
            <a:ext cx="3657600" cy="274320"/>
          </a:xfrm>
          <a:prstGeom prst="rect">
            <a:avLst/>
          </a:prstGeom>
          <a:noFill/>
          <a:ln/>
        </p:spPr>
        <p:txBody>
          <a:bodyPr wrap="square" lIns="0" tIns="0" rIns="0" bIns="0" rtlCol="0" anchor="t"/>
          <a:lstStyle/>
          <a:p>
            <a:pPr marL="0" indent="0" algn="l">
              <a:buNone/>
            </a:pPr>
            <a:r>
              <a:rPr lang="en-US" sz="1200" b="1" dirty="0">
                <a:solidFill>
                  <a:srgbClr val="00B4D8"/>
                </a:solidFill>
              </a:rPr>
              <a:t xml:space="preserve">·  </a:t>
            </a:r>
            <a:r>
              <a:rPr lang="en-US" sz="1200" dirty="0">
                <a:solidFill>
                  <a:srgbClr val="4A5568"/>
                </a:solidFill>
              </a:rPr>
              <a:t>Signed JSON Web Tokens on every API request</a:t>
            </a:r>
            <a:endParaRPr lang="en-US" sz="1200" dirty="0"/>
          </a:p>
        </p:txBody>
      </p:sp>
      <p:sp>
        <p:nvSpPr>
          <p:cNvPr id="10" name="Text 7"/>
          <p:cNvSpPr/>
          <p:nvPr/>
        </p:nvSpPr>
        <p:spPr>
          <a:xfrm>
            <a:off x="621792" y="2322576"/>
            <a:ext cx="3657600" cy="274320"/>
          </a:xfrm>
          <a:prstGeom prst="rect">
            <a:avLst/>
          </a:prstGeom>
          <a:noFill/>
          <a:ln/>
        </p:spPr>
        <p:txBody>
          <a:bodyPr wrap="square" lIns="0" tIns="0" rIns="0" bIns="0" rtlCol="0" anchor="t"/>
          <a:lstStyle/>
          <a:p>
            <a:pPr marL="0" indent="0" algn="l">
              <a:buNone/>
            </a:pPr>
            <a:r>
              <a:rPr lang="en-US" sz="1200" b="1" dirty="0">
                <a:solidFill>
                  <a:srgbClr val="00B4D8"/>
                </a:solidFill>
              </a:rPr>
              <a:t xml:space="preserve">·  </a:t>
            </a:r>
            <a:r>
              <a:rPr lang="en-US" sz="1200" dirty="0">
                <a:solidFill>
                  <a:srgbClr val="4A5568"/>
                </a:solidFill>
              </a:rPr>
              <a:t>Stateless auth — no session storage needed</a:t>
            </a:r>
            <a:endParaRPr lang="en-US" sz="1200" dirty="0"/>
          </a:p>
        </p:txBody>
      </p:sp>
      <p:sp>
        <p:nvSpPr>
          <p:cNvPr id="11" name="Text 8"/>
          <p:cNvSpPr/>
          <p:nvPr/>
        </p:nvSpPr>
        <p:spPr>
          <a:xfrm>
            <a:off x="621792" y="2615184"/>
            <a:ext cx="3657600" cy="274320"/>
          </a:xfrm>
          <a:prstGeom prst="rect">
            <a:avLst/>
          </a:prstGeom>
          <a:noFill/>
          <a:ln/>
        </p:spPr>
        <p:txBody>
          <a:bodyPr wrap="square" lIns="0" tIns="0" rIns="0" bIns="0" rtlCol="0" anchor="t"/>
          <a:lstStyle/>
          <a:p>
            <a:pPr marL="0" indent="0" algn="l">
              <a:buNone/>
            </a:pPr>
            <a:r>
              <a:rPr lang="en-US" sz="1200" b="1" dirty="0">
                <a:solidFill>
                  <a:srgbClr val="00B4D8"/>
                </a:solidFill>
              </a:rPr>
              <a:t xml:space="preserve">·  </a:t>
            </a:r>
            <a:r>
              <a:rPr lang="en-US" sz="1200" dirty="0">
                <a:solidFill>
                  <a:srgbClr val="4A5568"/>
                </a:solidFill>
              </a:rPr>
              <a:t>Token expiry + refresh flow supported</a:t>
            </a:r>
            <a:endParaRPr lang="en-US" sz="1200" dirty="0"/>
          </a:p>
        </p:txBody>
      </p:sp>
      <p:sp>
        <p:nvSpPr>
          <p:cNvPr id="12" name="Shape 9"/>
          <p:cNvSpPr/>
          <p:nvPr/>
        </p:nvSpPr>
        <p:spPr>
          <a:xfrm>
            <a:off x="4800600" y="1371600"/>
            <a:ext cx="4023360" cy="1572768"/>
          </a:xfrm>
          <a:prstGeom prst="rect">
            <a:avLst/>
          </a:prstGeom>
          <a:solidFill>
            <a:srgbClr val="FFFFFF"/>
          </a:solidFill>
          <a:ln w="12700">
            <a:solidFill>
              <a:srgbClr val="D0D7DE"/>
            </a:solidFill>
            <a:prstDash val="solid"/>
          </a:ln>
        </p:spPr>
        <p:txBody>
          <a:bodyPr/>
          <a:lstStyle/>
          <a:p>
            <a:endParaRPr lang="en-IN"/>
          </a:p>
        </p:txBody>
      </p:sp>
      <p:sp>
        <p:nvSpPr>
          <p:cNvPr id="13" name="Shape 10"/>
          <p:cNvSpPr/>
          <p:nvPr/>
        </p:nvSpPr>
        <p:spPr>
          <a:xfrm>
            <a:off x="4800600" y="1371600"/>
            <a:ext cx="4023360" cy="36576"/>
          </a:xfrm>
          <a:prstGeom prst="rect">
            <a:avLst/>
          </a:prstGeom>
          <a:solidFill>
            <a:srgbClr val="FFB703"/>
          </a:solidFill>
          <a:ln w="12700">
            <a:solidFill>
              <a:srgbClr val="FFB703"/>
            </a:solidFill>
            <a:prstDash val="solid"/>
          </a:ln>
        </p:spPr>
        <p:txBody>
          <a:bodyPr/>
          <a:lstStyle/>
          <a:p>
            <a:endParaRPr lang="en-IN"/>
          </a:p>
        </p:txBody>
      </p:sp>
      <p:pic>
        <p:nvPicPr>
          <p:cNvPr id="14" name="Image 1" descr="preencoded.png"/>
          <p:cNvPicPr>
            <a:picLocks noChangeAspect="1"/>
          </p:cNvPicPr>
          <p:nvPr/>
        </p:nvPicPr>
        <p:blipFill>
          <a:blip r:embed="rId4"/>
          <a:stretch>
            <a:fillRect/>
          </a:stretch>
        </p:blipFill>
        <p:spPr>
          <a:xfrm>
            <a:off x="4965192" y="1572768"/>
            <a:ext cx="347472" cy="347472"/>
          </a:xfrm>
          <a:prstGeom prst="rect">
            <a:avLst/>
          </a:prstGeom>
        </p:spPr>
      </p:pic>
      <p:sp>
        <p:nvSpPr>
          <p:cNvPr id="15" name="Text 11"/>
          <p:cNvSpPr/>
          <p:nvPr/>
        </p:nvSpPr>
        <p:spPr>
          <a:xfrm>
            <a:off x="5440680" y="1554480"/>
            <a:ext cx="3200400" cy="365760"/>
          </a:xfrm>
          <a:prstGeom prst="rect">
            <a:avLst/>
          </a:prstGeom>
          <a:noFill/>
          <a:ln/>
        </p:spPr>
        <p:txBody>
          <a:bodyPr wrap="square" lIns="0" tIns="0" rIns="0" bIns="0" rtlCol="0" anchor="ctr"/>
          <a:lstStyle/>
          <a:p>
            <a:pPr marL="0" indent="0" algn="l">
              <a:buNone/>
            </a:pPr>
            <a:r>
              <a:rPr lang="en-US" sz="1600" b="1" dirty="0">
                <a:solidFill>
                  <a:srgbClr val="24292F"/>
                </a:solidFill>
                <a:latin typeface="Trebuchet MS" pitchFamily="34" charset="0"/>
                <a:ea typeface="Trebuchet MS" pitchFamily="34" charset="-122"/>
                <a:cs typeface="Trebuchet MS" pitchFamily="34" charset="-120"/>
              </a:rPr>
              <a:t>Federation Tokens</a:t>
            </a:r>
            <a:endParaRPr lang="en-US" sz="1600" dirty="0"/>
          </a:p>
        </p:txBody>
      </p:sp>
      <p:sp>
        <p:nvSpPr>
          <p:cNvPr id="16" name="Text 12"/>
          <p:cNvSpPr/>
          <p:nvPr/>
        </p:nvSpPr>
        <p:spPr>
          <a:xfrm>
            <a:off x="4965192" y="2029968"/>
            <a:ext cx="3657600" cy="274320"/>
          </a:xfrm>
          <a:prstGeom prst="rect">
            <a:avLst/>
          </a:prstGeom>
          <a:noFill/>
          <a:ln/>
        </p:spPr>
        <p:txBody>
          <a:bodyPr wrap="square" lIns="0" tIns="0" rIns="0" bIns="0" rtlCol="0" anchor="t"/>
          <a:lstStyle/>
          <a:p>
            <a:pPr marL="0" indent="0" algn="l">
              <a:buNone/>
            </a:pPr>
            <a:r>
              <a:rPr lang="en-US" sz="1200" b="1" dirty="0">
                <a:solidFill>
                  <a:srgbClr val="FFB703"/>
                </a:solidFill>
              </a:rPr>
              <a:t xml:space="preserve">·  </a:t>
            </a:r>
            <a:r>
              <a:rPr lang="en-US" sz="1200" dirty="0">
                <a:solidFill>
                  <a:srgbClr val="4A5568"/>
                </a:solidFill>
              </a:rPr>
              <a:t>Unique token per Storage Node joining network</a:t>
            </a:r>
            <a:endParaRPr lang="en-US" sz="1200" dirty="0"/>
          </a:p>
        </p:txBody>
      </p:sp>
      <p:sp>
        <p:nvSpPr>
          <p:cNvPr id="17" name="Text 13"/>
          <p:cNvSpPr/>
          <p:nvPr/>
        </p:nvSpPr>
        <p:spPr>
          <a:xfrm>
            <a:off x="4965192" y="2322576"/>
            <a:ext cx="3657600" cy="274320"/>
          </a:xfrm>
          <a:prstGeom prst="rect">
            <a:avLst/>
          </a:prstGeom>
          <a:noFill/>
          <a:ln/>
        </p:spPr>
        <p:txBody>
          <a:bodyPr wrap="square" lIns="0" tIns="0" rIns="0" bIns="0" rtlCol="0" anchor="t"/>
          <a:lstStyle/>
          <a:p>
            <a:pPr marL="0" indent="0" algn="l">
              <a:buNone/>
            </a:pPr>
            <a:r>
              <a:rPr lang="en-US" sz="1200" b="1" dirty="0">
                <a:solidFill>
                  <a:srgbClr val="FFB703"/>
                </a:solidFill>
              </a:rPr>
              <a:t xml:space="preserve">·  </a:t>
            </a:r>
            <a:r>
              <a:rPr lang="en-US" sz="1200" dirty="0">
                <a:solidFill>
                  <a:srgbClr val="4A5568"/>
                </a:solidFill>
              </a:rPr>
              <a:t>Tokens can be revoked instantly by admin</a:t>
            </a:r>
            <a:endParaRPr lang="en-US" sz="1200" dirty="0"/>
          </a:p>
        </p:txBody>
      </p:sp>
      <p:sp>
        <p:nvSpPr>
          <p:cNvPr id="18" name="Text 14"/>
          <p:cNvSpPr/>
          <p:nvPr/>
        </p:nvSpPr>
        <p:spPr>
          <a:xfrm>
            <a:off x="4965192" y="2615184"/>
            <a:ext cx="3657600" cy="274320"/>
          </a:xfrm>
          <a:prstGeom prst="rect">
            <a:avLst/>
          </a:prstGeom>
          <a:noFill/>
          <a:ln/>
        </p:spPr>
        <p:txBody>
          <a:bodyPr wrap="square" lIns="0" tIns="0" rIns="0" bIns="0" rtlCol="0" anchor="t"/>
          <a:lstStyle/>
          <a:p>
            <a:pPr marL="0" indent="0" algn="l">
              <a:buNone/>
            </a:pPr>
            <a:r>
              <a:rPr lang="en-US" sz="1200" b="1" dirty="0">
                <a:solidFill>
                  <a:srgbClr val="FFB703"/>
                </a:solidFill>
              </a:rPr>
              <a:t xml:space="preserve">·  </a:t>
            </a:r>
            <a:r>
              <a:rPr lang="en-US" sz="1200" dirty="0">
                <a:solidFill>
                  <a:srgbClr val="4A5568"/>
                </a:solidFill>
              </a:rPr>
              <a:t>Analogous to an invitation code for the mesh</a:t>
            </a:r>
            <a:endParaRPr lang="en-US" sz="1200" dirty="0"/>
          </a:p>
        </p:txBody>
      </p:sp>
      <p:sp>
        <p:nvSpPr>
          <p:cNvPr id="19" name="Shape 15"/>
          <p:cNvSpPr/>
          <p:nvPr/>
        </p:nvSpPr>
        <p:spPr>
          <a:xfrm>
            <a:off x="457200" y="3090672"/>
            <a:ext cx="4023360" cy="1572768"/>
          </a:xfrm>
          <a:prstGeom prst="rect">
            <a:avLst/>
          </a:prstGeom>
          <a:solidFill>
            <a:srgbClr val="FFFFFF"/>
          </a:solidFill>
          <a:ln w="12700">
            <a:solidFill>
              <a:srgbClr val="D0D7DE"/>
            </a:solidFill>
            <a:prstDash val="solid"/>
          </a:ln>
        </p:spPr>
        <p:txBody>
          <a:bodyPr/>
          <a:lstStyle/>
          <a:p>
            <a:endParaRPr lang="en-IN"/>
          </a:p>
        </p:txBody>
      </p:sp>
      <p:sp>
        <p:nvSpPr>
          <p:cNvPr id="20" name="Shape 16"/>
          <p:cNvSpPr/>
          <p:nvPr/>
        </p:nvSpPr>
        <p:spPr>
          <a:xfrm>
            <a:off x="457200" y="3090672"/>
            <a:ext cx="4023360" cy="36576"/>
          </a:xfrm>
          <a:prstGeom prst="rect">
            <a:avLst/>
          </a:prstGeom>
          <a:solidFill>
            <a:srgbClr val="02C39A"/>
          </a:solidFill>
          <a:ln w="12700">
            <a:solidFill>
              <a:srgbClr val="02C39A"/>
            </a:solidFill>
            <a:prstDash val="solid"/>
          </a:ln>
        </p:spPr>
        <p:txBody>
          <a:bodyPr/>
          <a:lstStyle/>
          <a:p>
            <a:endParaRPr lang="en-IN"/>
          </a:p>
        </p:txBody>
      </p:sp>
      <p:pic>
        <p:nvPicPr>
          <p:cNvPr id="21" name="Image 2" descr="preencoded.png"/>
          <p:cNvPicPr>
            <a:picLocks noChangeAspect="1"/>
          </p:cNvPicPr>
          <p:nvPr/>
        </p:nvPicPr>
        <p:blipFill>
          <a:blip r:embed="rId5"/>
          <a:stretch>
            <a:fillRect/>
          </a:stretch>
        </p:blipFill>
        <p:spPr>
          <a:xfrm>
            <a:off x="621792" y="3291840"/>
            <a:ext cx="347472" cy="347472"/>
          </a:xfrm>
          <a:prstGeom prst="rect">
            <a:avLst/>
          </a:prstGeom>
        </p:spPr>
      </p:pic>
      <p:sp>
        <p:nvSpPr>
          <p:cNvPr id="22" name="Text 17"/>
          <p:cNvSpPr/>
          <p:nvPr/>
        </p:nvSpPr>
        <p:spPr>
          <a:xfrm>
            <a:off x="1097280" y="3273552"/>
            <a:ext cx="3200400" cy="365760"/>
          </a:xfrm>
          <a:prstGeom prst="rect">
            <a:avLst/>
          </a:prstGeom>
          <a:noFill/>
          <a:ln/>
        </p:spPr>
        <p:txBody>
          <a:bodyPr wrap="square" lIns="0" tIns="0" rIns="0" bIns="0" rtlCol="0" anchor="ctr"/>
          <a:lstStyle/>
          <a:p>
            <a:pPr marL="0" indent="0" algn="l">
              <a:buNone/>
            </a:pPr>
            <a:r>
              <a:rPr lang="en-US" sz="1600" b="1" dirty="0">
                <a:solidFill>
                  <a:srgbClr val="24292F"/>
                </a:solidFill>
                <a:latin typeface="Trebuchet MS" pitchFamily="34" charset="0"/>
                <a:ea typeface="Trebuchet MS" pitchFamily="34" charset="-122"/>
                <a:cs typeface="Trebuchet MS" pitchFamily="34" charset="-120"/>
              </a:rPr>
              <a:t>Granular ACLs</a:t>
            </a:r>
            <a:endParaRPr lang="en-US" sz="1600" dirty="0"/>
          </a:p>
        </p:txBody>
      </p:sp>
      <p:sp>
        <p:nvSpPr>
          <p:cNvPr id="23" name="Text 18"/>
          <p:cNvSpPr/>
          <p:nvPr/>
        </p:nvSpPr>
        <p:spPr>
          <a:xfrm>
            <a:off x="621792" y="3749040"/>
            <a:ext cx="3657600" cy="274320"/>
          </a:xfrm>
          <a:prstGeom prst="rect">
            <a:avLst/>
          </a:prstGeom>
          <a:noFill/>
          <a:ln/>
        </p:spPr>
        <p:txBody>
          <a:bodyPr wrap="square" lIns="0" tIns="0" rIns="0" bIns="0" rtlCol="0" anchor="t"/>
          <a:lstStyle/>
          <a:p>
            <a:pPr marL="0" indent="0" algn="l">
              <a:buNone/>
            </a:pPr>
            <a:r>
              <a:rPr lang="en-US" sz="1200" b="1" dirty="0">
                <a:solidFill>
                  <a:srgbClr val="02C39A"/>
                </a:solidFill>
              </a:rPr>
              <a:t xml:space="preserve">·  </a:t>
            </a:r>
            <a:r>
              <a:rPr lang="en-US" sz="1200" dirty="0">
                <a:solidFill>
                  <a:srgbClr val="4A5568"/>
                </a:solidFill>
              </a:rPr>
              <a:t>Admin grants per-user access to specific shared roots</a:t>
            </a:r>
            <a:endParaRPr lang="en-US" sz="1200" dirty="0"/>
          </a:p>
        </p:txBody>
      </p:sp>
      <p:sp>
        <p:nvSpPr>
          <p:cNvPr id="24" name="Text 19"/>
          <p:cNvSpPr/>
          <p:nvPr/>
        </p:nvSpPr>
        <p:spPr>
          <a:xfrm>
            <a:off x="621792" y="4041648"/>
            <a:ext cx="3657600" cy="274320"/>
          </a:xfrm>
          <a:prstGeom prst="rect">
            <a:avLst/>
          </a:prstGeom>
          <a:noFill/>
          <a:ln/>
        </p:spPr>
        <p:txBody>
          <a:bodyPr wrap="square" lIns="0" tIns="0" rIns="0" bIns="0" rtlCol="0" anchor="t"/>
          <a:lstStyle/>
          <a:p>
            <a:pPr marL="0" indent="0" algn="l">
              <a:buNone/>
            </a:pPr>
            <a:r>
              <a:rPr lang="en-US" sz="1200" b="1" dirty="0">
                <a:solidFill>
                  <a:srgbClr val="02C39A"/>
                </a:solidFill>
              </a:rPr>
              <a:t xml:space="preserve">·  </a:t>
            </a:r>
            <a:r>
              <a:rPr lang="en-US" sz="1200" dirty="0">
                <a:solidFill>
                  <a:srgbClr val="4A5568"/>
                </a:solidFill>
              </a:rPr>
              <a:t>Node owners choose exactly which directories to expose</a:t>
            </a:r>
            <a:endParaRPr lang="en-US" sz="1200" dirty="0"/>
          </a:p>
        </p:txBody>
      </p:sp>
      <p:sp>
        <p:nvSpPr>
          <p:cNvPr id="25" name="Text 20"/>
          <p:cNvSpPr/>
          <p:nvPr/>
        </p:nvSpPr>
        <p:spPr>
          <a:xfrm>
            <a:off x="621792" y="4334256"/>
            <a:ext cx="3657600" cy="274320"/>
          </a:xfrm>
          <a:prstGeom prst="rect">
            <a:avLst/>
          </a:prstGeom>
          <a:noFill/>
          <a:ln/>
        </p:spPr>
        <p:txBody>
          <a:bodyPr wrap="square" lIns="0" tIns="0" rIns="0" bIns="0" rtlCol="0" anchor="t"/>
          <a:lstStyle/>
          <a:p>
            <a:pPr marL="0" indent="0" algn="l">
              <a:buNone/>
            </a:pPr>
            <a:r>
              <a:rPr lang="en-US" sz="1200" b="1" dirty="0">
                <a:solidFill>
                  <a:srgbClr val="02C39A"/>
                </a:solidFill>
              </a:rPr>
              <a:t xml:space="preserve">·  </a:t>
            </a:r>
            <a:r>
              <a:rPr lang="en-US" sz="1200" dirty="0">
                <a:solidFill>
                  <a:srgbClr val="4A5568"/>
                </a:solidFill>
              </a:rPr>
              <a:t>Access changes propagate in real time</a:t>
            </a:r>
            <a:endParaRPr lang="en-US" sz="1200" dirty="0"/>
          </a:p>
        </p:txBody>
      </p:sp>
      <p:sp>
        <p:nvSpPr>
          <p:cNvPr id="26" name="Shape 21"/>
          <p:cNvSpPr/>
          <p:nvPr/>
        </p:nvSpPr>
        <p:spPr>
          <a:xfrm>
            <a:off x="4800600" y="3090672"/>
            <a:ext cx="4023360" cy="1572768"/>
          </a:xfrm>
          <a:prstGeom prst="rect">
            <a:avLst/>
          </a:prstGeom>
          <a:solidFill>
            <a:srgbClr val="FFFFFF"/>
          </a:solidFill>
          <a:ln w="12700">
            <a:solidFill>
              <a:srgbClr val="D0D7DE"/>
            </a:solidFill>
            <a:prstDash val="solid"/>
          </a:ln>
        </p:spPr>
        <p:txBody>
          <a:bodyPr/>
          <a:lstStyle/>
          <a:p>
            <a:endParaRPr lang="en-IN"/>
          </a:p>
        </p:txBody>
      </p:sp>
      <p:sp>
        <p:nvSpPr>
          <p:cNvPr id="27" name="Shape 22"/>
          <p:cNvSpPr/>
          <p:nvPr/>
        </p:nvSpPr>
        <p:spPr>
          <a:xfrm>
            <a:off x="4800600" y="3090672"/>
            <a:ext cx="4023360" cy="36576"/>
          </a:xfrm>
          <a:prstGeom prst="rect">
            <a:avLst/>
          </a:prstGeom>
          <a:solidFill>
            <a:srgbClr val="7B2FBE"/>
          </a:solidFill>
          <a:ln w="12700">
            <a:solidFill>
              <a:srgbClr val="7B2FBE"/>
            </a:solidFill>
            <a:prstDash val="solid"/>
          </a:ln>
        </p:spPr>
        <p:txBody>
          <a:bodyPr/>
          <a:lstStyle/>
          <a:p>
            <a:endParaRPr lang="en-IN"/>
          </a:p>
        </p:txBody>
      </p:sp>
      <p:pic>
        <p:nvPicPr>
          <p:cNvPr id="28" name="Image 3" descr="preencoded.png"/>
          <p:cNvPicPr>
            <a:picLocks noChangeAspect="1"/>
          </p:cNvPicPr>
          <p:nvPr/>
        </p:nvPicPr>
        <p:blipFill>
          <a:blip r:embed="rId6"/>
          <a:stretch>
            <a:fillRect/>
          </a:stretch>
        </p:blipFill>
        <p:spPr>
          <a:xfrm>
            <a:off x="4965192" y="3291840"/>
            <a:ext cx="347472" cy="347472"/>
          </a:xfrm>
          <a:prstGeom prst="rect">
            <a:avLst/>
          </a:prstGeom>
        </p:spPr>
      </p:pic>
      <p:sp>
        <p:nvSpPr>
          <p:cNvPr id="29" name="Text 23"/>
          <p:cNvSpPr/>
          <p:nvPr/>
        </p:nvSpPr>
        <p:spPr>
          <a:xfrm>
            <a:off x="5440680" y="3273552"/>
            <a:ext cx="3200400" cy="365760"/>
          </a:xfrm>
          <a:prstGeom prst="rect">
            <a:avLst/>
          </a:prstGeom>
          <a:noFill/>
          <a:ln/>
        </p:spPr>
        <p:txBody>
          <a:bodyPr wrap="square" lIns="0" tIns="0" rIns="0" bIns="0" rtlCol="0" anchor="ctr"/>
          <a:lstStyle/>
          <a:p>
            <a:pPr marL="0" indent="0" algn="l">
              <a:buNone/>
            </a:pPr>
            <a:r>
              <a:rPr lang="en-US" sz="1600" b="1" dirty="0">
                <a:solidFill>
                  <a:srgbClr val="24292F"/>
                </a:solidFill>
                <a:latin typeface="Trebuchet MS" pitchFamily="34" charset="0"/>
                <a:ea typeface="Trebuchet MS" pitchFamily="34" charset="-122"/>
                <a:cs typeface="Trebuchet MS" pitchFamily="34" charset="-120"/>
              </a:rPr>
              <a:t>Data Sovereignty</a:t>
            </a:r>
            <a:endParaRPr lang="en-US" sz="1600" dirty="0"/>
          </a:p>
        </p:txBody>
      </p:sp>
      <p:sp>
        <p:nvSpPr>
          <p:cNvPr id="30" name="Text 24"/>
          <p:cNvSpPr/>
          <p:nvPr/>
        </p:nvSpPr>
        <p:spPr>
          <a:xfrm>
            <a:off x="4965192" y="3749040"/>
            <a:ext cx="3657600" cy="274320"/>
          </a:xfrm>
          <a:prstGeom prst="rect">
            <a:avLst/>
          </a:prstGeom>
          <a:noFill/>
          <a:ln/>
        </p:spPr>
        <p:txBody>
          <a:bodyPr wrap="square" lIns="0" tIns="0" rIns="0" bIns="0" rtlCol="0" anchor="t"/>
          <a:lstStyle/>
          <a:p>
            <a:pPr marL="0" indent="0" algn="l">
              <a:buNone/>
            </a:pPr>
            <a:r>
              <a:rPr lang="en-US" sz="1200" b="1" dirty="0">
                <a:solidFill>
                  <a:srgbClr val="7B2FBE"/>
                </a:solidFill>
              </a:rPr>
              <a:t xml:space="preserve">·  </a:t>
            </a:r>
            <a:r>
              <a:rPr lang="en-US" sz="1200" dirty="0">
                <a:solidFill>
                  <a:srgbClr val="4A5568"/>
                </a:solidFill>
              </a:rPr>
              <a:t>Files never leave the owner's hardware</a:t>
            </a:r>
            <a:endParaRPr lang="en-US" sz="1200" dirty="0"/>
          </a:p>
        </p:txBody>
      </p:sp>
      <p:sp>
        <p:nvSpPr>
          <p:cNvPr id="31" name="Text 25"/>
          <p:cNvSpPr/>
          <p:nvPr/>
        </p:nvSpPr>
        <p:spPr>
          <a:xfrm>
            <a:off x="4965192" y="4041648"/>
            <a:ext cx="3657600" cy="274320"/>
          </a:xfrm>
          <a:prstGeom prst="rect">
            <a:avLst/>
          </a:prstGeom>
          <a:noFill/>
          <a:ln/>
        </p:spPr>
        <p:txBody>
          <a:bodyPr wrap="square" lIns="0" tIns="0" rIns="0" bIns="0" rtlCol="0" anchor="t"/>
          <a:lstStyle/>
          <a:p>
            <a:pPr marL="0" indent="0" algn="l">
              <a:buNone/>
            </a:pPr>
            <a:r>
              <a:rPr lang="en-US" sz="1200" b="1" dirty="0">
                <a:solidFill>
                  <a:srgbClr val="7B2FBE"/>
                </a:solidFill>
              </a:rPr>
              <a:t xml:space="preserve">·  </a:t>
            </a:r>
            <a:r>
              <a:rPr lang="en-US" sz="1200" dirty="0">
                <a:solidFill>
                  <a:srgbClr val="4A5568"/>
                </a:solidFill>
              </a:rPr>
              <a:t>Directory Node stores zero file content</a:t>
            </a:r>
            <a:endParaRPr lang="en-US" sz="1200" dirty="0"/>
          </a:p>
        </p:txBody>
      </p:sp>
      <p:sp>
        <p:nvSpPr>
          <p:cNvPr id="32" name="Text 26"/>
          <p:cNvSpPr/>
          <p:nvPr/>
        </p:nvSpPr>
        <p:spPr>
          <a:xfrm>
            <a:off x="4965192" y="4334256"/>
            <a:ext cx="3657600" cy="274320"/>
          </a:xfrm>
          <a:prstGeom prst="rect">
            <a:avLst/>
          </a:prstGeom>
          <a:noFill/>
          <a:ln/>
        </p:spPr>
        <p:txBody>
          <a:bodyPr wrap="square" lIns="0" tIns="0" rIns="0" bIns="0" rtlCol="0" anchor="t"/>
          <a:lstStyle/>
          <a:p>
            <a:pPr marL="0" indent="0" algn="l">
              <a:buNone/>
            </a:pPr>
            <a:r>
              <a:rPr lang="en-US" sz="1200" b="1" dirty="0">
                <a:solidFill>
                  <a:srgbClr val="7B2FBE"/>
                </a:solidFill>
              </a:rPr>
              <a:t xml:space="preserve">·  </a:t>
            </a:r>
            <a:r>
              <a:rPr lang="en-US" sz="1200" dirty="0">
                <a:solidFill>
                  <a:srgbClr val="4A5568"/>
                </a:solidFill>
              </a:rPr>
              <a:t>Storage Node owners remain in full control</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457200" y="256032"/>
            <a:ext cx="1371600" cy="237744"/>
          </a:xfrm>
          <a:prstGeom prst="rect">
            <a:avLst/>
          </a:prstGeom>
          <a:solidFill>
            <a:srgbClr val="082030"/>
          </a:solidFill>
          <a:ln w="12700">
            <a:solidFill>
              <a:srgbClr val="00B4D8"/>
            </a:solidFill>
            <a:prstDash val="solid"/>
          </a:ln>
        </p:spPr>
        <p:txBody>
          <a:bodyPr/>
          <a:lstStyle/>
          <a:p>
            <a:endParaRPr lang="en-IN"/>
          </a:p>
        </p:txBody>
      </p:sp>
      <p:sp>
        <p:nvSpPr>
          <p:cNvPr id="3" name="Text 1"/>
          <p:cNvSpPr/>
          <p:nvPr/>
        </p:nvSpPr>
        <p:spPr>
          <a:xfrm>
            <a:off x="457200" y="256032"/>
            <a:ext cx="1371600" cy="237744"/>
          </a:xfrm>
          <a:prstGeom prst="rect">
            <a:avLst/>
          </a:prstGeom>
          <a:noFill/>
          <a:ln/>
        </p:spPr>
        <p:txBody>
          <a:bodyPr wrap="square" lIns="0" tIns="0" rIns="0" bIns="0" rtlCol="0" anchor="ctr"/>
          <a:lstStyle/>
          <a:p>
            <a:pPr marL="0" indent="0" algn="ctr">
              <a:buNone/>
            </a:pPr>
            <a:r>
              <a:rPr lang="en-US" sz="900" b="1" dirty="0">
                <a:solidFill>
                  <a:srgbClr val="00B4D8"/>
                </a:solidFill>
              </a:rPr>
              <a:t>TECH STACK</a:t>
            </a:r>
            <a:endParaRPr lang="en-US" sz="900" dirty="0"/>
          </a:p>
        </p:txBody>
      </p:sp>
      <p:sp>
        <p:nvSpPr>
          <p:cNvPr id="4" name="Text 2"/>
          <p:cNvSpPr/>
          <p:nvPr/>
        </p:nvSpPr>
        <p:spPr>
          <a:xfrm>
            <a:off x="457200" y="566928"/>
            <a:ext cx="8229600" cy="594360"/>
          </a:xfrm>
          <a:prstGeom prst="rect">
            <a:avLst/>
          </a:prstGeom>
          <a:noFill/>
          <a:ln/>
        </p:spPr>
        <p:txBody>
          <a:bodyPr wrap="square" lIns="0" tIns="0" rIns="0" bIns="0" rtlCol="0" anchor="ctr"/>
          <a:lstStyle/>
          <a:p>
            <a:pPr marL="0" indent="0" algn="l">
              <a:buNone/>
            </a:pPr>
            <a:r>
              <a:rPr lang="en-US" sz="3200" b="1" dirty="0">
                <a:solidFill>
                  <a:srgbClr val="FFFFFF"/>
                </a:solidFill>
                <a:latin typeface="Trebuchet MS" pitchFamily="34" charset="0"/>
                <a:ea typeface="Trebuchet MS" pitchFamily="34" charset="-122"/>
                <a:cs typeface="Trebuchet MS" pitchFamily="34" charset="-120"/>
              </a:rPr>
              <a:t>Stack &amp; Deployment Model</a:t>
            </a:r>
            <a:endParaRPr lang="en-US" sz="3200" dirty="0"/>
          </a:p>
        </p:txBody>
      </p:sp>
      <p:sp>
        <p:nvSpPr>
          <p:cNvPr id="5" name="Shape 3"/>
          <p:cNvSpPr/>
          <p:nvPr/>
        </p:nvSpPr>
        <p:spPr>
          <a:xfrm>
            <a:off x="365760" y="1325880"/>
            <a:ext cx="1938528" cy="3108960"/>
          </a:xfrm>
          <a:prstGeom prst="rect">
            <a:avLst/>
          </a:prstGeom>
          <a:solidFill>
            <a:srgbClr val="161B22"/>
          </a:solidFill>
          <a:ln w="12700">
            <a:solidFill>
              <a:srgbClr val="21262D"/>
            </a:solidFill>
            <a:prstDash val="solid"/>
          </a:ln>
        </p:spPr>
        <p:txBody>
          <a:bodyPr/>
          <a:lstStyle/>
          <a:p>
            <a:endParaRPr lang="en-IN"/>
          </a:p>
        </p:txBody>
      </p:sp>
      <p:sp>
        <p:nvSpPr>
          <p:cNvPr id="6" name="Shape 4"/>
          <p:cNvSpPr/>
          <p:nvPr/>
        </p:nvSpPr>
        <p:spPr>
          <a:xfrm>
            <a:off x="365760" y="1325880"/>
            <a:ext cx="1938528" cy="54864"/>
          </a:xfrm>
          <a:prstGeom prst="rect">
            <a:avLst/>
          </a:prstGeom>
          <a:solidFill>
            <a:srgbClr val="02C39A"/>
          </a:solidFill>
          <a:ln w="12700">
            <a:solidFill>
              <a:srgbClr val="02C39A"/>
            </a:solidFill>
            <a:prstDash val="solid"/>
          </a:ln>
        </p:spPr>
        <p:txBody>
          <a:bodyPr/>
          <a:lstStyle/>
          <a:p>
            <a:endParaRPr lang="en-IN"/>
          </a:p>
        </p:txBody>
      </p:sp>
      <p:sp>
        <p:nvSpPr>
          <p:cNvPr id="7" name="Text 5"/>
          <p:cNvSpPr/>
          <p:nvPr/>
        </p:nvSpPr>
        <p:spPr>
          <a:xfrm>
            <a:off x="365760" y="1417320"/>
            <a:ext cx="1938528" cy="347472"/>
          </a:xfrm>
          <a:prstGeom prst="rect">
            <a:avLst/>
          </a:prstGeom>
          <a:noFill/>
          <a:ln/>
        </p:spPr>
        <p:txBody>
          <a:bodyPr wrap="square" lIns="0" tIns="0" rIns="0" bIns="0" rtlCol="0" anchor="ctr"/>
          <a:lstStyle/>
          <a:p>
            <a:pPr marL="0" indent="0" algn="ctr">
              <a:buNone/>
            </a:pPr>
            <a:r>
              <a:rPr lang="en-US" b="1" dirty="0">
                <a:solidFill>
                  <a:srgbClr val="02C39A"/>
                </a:solidFill>
                <a:latin typeface="Trebuchet MS" pitchFamily="34" charset="0"/>
                <a:ea typeface="Trebuchet MS" pitchFamily="34" charset="-122"/>
                <a:cs typeface="Trebuchet MS" pitchFamily="34" charset="-120"/>
              </a:rPr>
              <a:t>Frontend</a:t>
            </a:r>
            <a:endParaRPr lang="en-US" dirty="0"/>
          </a:p>
        </p:txBody>
      </p:sp>
      <p:sp>
        <p:nvSpPr>
          <p:cNvPr id="8" name="Text 6"/>
          <p:cNvSpPr/>
          <p:nvPr/>
        </p:nvSpPr>
        <p:spPr>
          <a:xfrm>
            <a:off x="475488" y="1901952"/>
            <a:ext cx="1719072" cy="457200"/>
          </a:xfrm>
          <a:prstGeom prst="rect">
            <a:avLst/>
          </a:prstGeom>
          <a:noFill/>
          <a:ln/>
        </p:spPr>
        <p:txBody>
          <a:bodyPr wrap="square" lIns="0" tIns="0" rIns="0" bIns="0" rtlCol="0" anchor="ctr"/>
          <a:lstStyle/>
          <a:p>
            <a:pPr marL="0" indent="0" algn="ctr">
              <a:buNone/>
            </a:pPr>
            <a:r>
              <a:rPr lang="en-US" sz="1200" dirty="0">
                <a:solidFill>
                  <a:srgbClr val="8B949E"/>
                </a:solidFill>
              </a:rPr>
              <a:t>React 18 + TypeScript</a:t>
            </a:r>
            <a:endParaRPr lang="en-US" sz="1200" dirty="0"/>
          </a:p>
        </p:txBody>
      </p:sp>
      <p:sp>
        <p:nvSpPr>
          <p:cNvPr id="9" name="Text 7"/>
          <p:cNvSpPr/>
          <p:nvPr/>
        </p:nvSpPr>
        <p:spPr>
          <a:xfrm>
            <a:off x="475488" y="2404872"/>
            <a:ext cx="1719072" cy="457200"/>
          </a:xfrm>
          <a:prstGeom prst="rect">
            <a:avLst/>
          </a:prstGeom>
          <a:noFill/>
          <a:ln/>
        </p:spPr>
        <p:txBody>
          <a:bodyPr wrap="square" lIns="0" tIns="0" rIns="0" bIns="0" rtlCol="0" anchor="ctr"/>
          <a:lstStyle/>
          <a:p>
            <a:pPr marL="0" indent="0" algn="ctr">
              <a:buNone/>
            </a:pPr>
            <a:r>
              <a:rPr lang="en-US" sz="1200" dirty="0">
                <a:solidFill>
                  <a:srgbClr val="8B949E"/>
                </a:solidFill>
              </a:rPr>
              <a:t>Vite build tool</a:t>
            </a:r>
            <a:endParaRPr lang="en-US" sz="1200" dirty="0"/>
          </a:p>
        </p:txBody>
      </p:sp>
      <p:sp>
        <p:nvSpPr>
          <p:cNvPr id="10" name="Text 8"/>
          <p:cNvSpPr/>
          <p:nvPr/>
        </p:nvSpPr>
        <p:spPr>
          <a:xfrm>
            <a:off x="475488" y="2907792"/>
            <a:ext cx="1719072" cy="457200"/>
          </a:xfrm>
          <a:prstGeom prst="rect">
            <a:avLst/>
          </a:prstGeom>
          <a:noFill/>
          <a:ln/>
        </p:spPr>
        <p:txBody>
          <a:bodyPr wrap="square" lIns="0" tIns="0" rIns="0" bIns="0" rtlCol="0" anchor="ctr"/>
          <a:lstStyle/>
          <a:p>
            <a:pPr marL="0" indent="0" algn="ctr">
              <a:buNone/>
            </a:pPr>
            <a:r>
              <a:rPr lang="en-US" sz="1200" dirty="0">
                <a:solidFill>
                  <a:srgbClr val="8B949E"/>
                </a:solidFill>
              </a:rPr>
              <a:t>Zustand + React Query</a:t>
            </a:r>
            <a:endParaRPr lang="en-US" sz="1200" dirty="0"/>
          </a:p>
        </p:txBody>
      </p:sp>
      <p:sp>
        <p:nvSpPr>
          <p:cNvPr id="11" name="Text 9"/>
          <p:cNvSpPr/>
          <p:nvPr/>
        </p:nvSpPr>
        <p:spPr>
          <a:xfrm>
            <a:off x="475488" y="3410712"/>
            <a:ext cx="1719072" cy="457200"/>
          </a:xfrm>
          <a:prstGeom prst="rect">
            <a:avLst/>
          </a:prstGeom>
          <a:noFill/>
          <a:ln/>
        </p:spPr>
        <p:txBody>
          <a:bodyPr wrap="square" lIns="0" tIns="0" rIns="0" bIns="0" rtlCol="0" anchor="ctr"/>
          <a:lstStyle/>
          <a:p>
            <a:pPr marL="0" indent="0" algn="ctr">
              <a:buNone/>
            </a:pPr>
            <a:r>
              <a:rPr lang="en-US" sz="1200" dirty="0">
                <a:solidFill>
                  <a:srgbClr val="8B949E"/>
                </a:solidFill>
              </a:rPr>
              <a:t>docx-preview / react-player</a:t>
            </a:r>
            <a:endParaRPr lang="en-US" sz="1200" dirty="0"/>
          </a:p>
        </p:txBody>
      </p:sp>
      <p:sp>
        <p:nvSpPr>
          <p:cNvPr id="12" name="Shape 10"/>
          <p:cNvSpPr/>
          <p:nvPr/>
        </p:nvSpPr>
        <p:spPr>
          <a:xfrm>
            <a:off x="2487168" y="1325880"/>
            <a:ext cx="1938528" cy="3108960"/>
          </a:xfrm>
          <a:prstGeom prst="rect">
            <a:avLst/>
          </a:prstGeom>
          <a:solidFill>
            <a:srgbClr val="161B22"/>
          </a:solidFill>
          <a:ln w="12700">
            <a:solidFill>
              <a:srgbClr val="21262D"/>
            </a:solidFill>
            <a:prstDash val="solid"/>
          </a:ln>
        </p:spPr>
        <p:txBody>
          <a:bodyPr/>
          <a:lstStyle/>
          <a:p>
            <a:endParaRPr lang="en-IN"/>
          </a:p>
        </p:txBody>
      </p:sp>
      <p:sp>
        <p:nvSpPr>
          <p:cNvPr id="13" name="Shape 11"/>
          <p:cNvSpPr/>
          <p:nvPr/>
        </p:nvSpPr>
        <p:spPr>
          <a:xfrm>
            <a:off x="2487168" y="1325880"/>
            <a:ext cx="1938528" cy="54864"/>
          </a:xfrm>
          <a:prstGeom prst="rect">
            <a:avLst/>
          </a:prstGeom>
          <a:solidFill>
            <a:srgbClr val="00B4D8"/>
          </a:solidFill>
          <a:ln w="12700">
            <a:solidFill>
              <a:srgbClr val="00B4D8"/>
            </a:solidFill>
            <a:prstDash val="solid"/>
          </a:ln>
        </p:spPr>
        <p:txBody>
          <a:bodyPr/>
          <a:lstStyle/>
          <a:p>
            <a:endParaRPr lang="en-IN"/>
          </a:p>
        </p:txBody>
      </p:sp>
      <p:sp>
        <p:nvSpPr>
          <p:cNvPr id="14" name="Text 12"/>
          <p:cNvSpPr/>
          <p:nvPr/>
        </p:nvSpPr>
        <p:spPr>
          <a:xfrm>
            <a:off x="2487168" y="1417320"/>
            <a:ext cx="1938528" cy="347472"/>
          </a:xfrm>
          <a:prstGeom prst="rect">
            <a:avLst/>
          </a:prstGeom>
          <a:noFill/>
          <a:ln/>
        </p:spPr>
        <p:txBody>
          <a:bodyPr wrap="square" lIns="0" tIns="0" rIns="0" bIns="0" rtlCol="0" anchor="ctr"/>
          <a:lstStyle/>
          <a:p>
            <a:pPr marL="0" indent="0" algn="ctr">
              <a:buNone/>
            </a:pPr>
            <a:r>
              <a:rPr lang="en-US" b="1" dirty="0">
                <a:solidFill>
                  <a:srgbClr val="00B4D8"/>
                </a:solidFill>
                <a:latin typeface="Trebuchet MS" pitchFamily="34" charset="0"/>
                <a:ea typeface="Trebuchet MS" pitchFamily="34" charset="-122"/>
                <a:cs typeface="Trebuchet MS" pitchFamily="34" charset="-120"/>
              </a:rPr>
              <a:t>Backend</a:t>
            </a:r>
            <a:endParaRPr lang="en-US" dirty="0"/>
          </a:p>
        </p:txBody>
      </p:sp>
      <p:sp>
        <p:nvSpPr>
          <p:cNvPr id="15" name="Text 13"/>
          <p:cNvSpPr/>
          <p:nvPr/>
        </p:nvSpPr>
        <p:spPr>
          <a:xfrm>
            <a:off x="2596896" y="1901952"/>
            <a:ext cx="1719072" cy="457200"/>
          </a:xfrm>
          <a:prstGeom prst="rect">
            <a:avLst/>
          </a:prstGeom>
          <a:noFill/>
          <a:ln/>
        </p:spPr>
        <p:txBody>
          <a:bodyPr wrap="square" lIns="0" tIns="0" rIns="0" bIns="0" rtlCol="0" anchor="ctr"/>
          <a:lstStyle/>
          <a:p>
            <a:pPr marL="0" indent="0" algn="ctr">
              <a:buNone/>
            </a:pPr>
            <a:r>
              <a:rPr lang="en-US" sz="1200" dirty="0">
                <a:solidFill>
                  <a:srgbClr val="8B949E"/>
                </a:solidFill>
              </a:rPr>
              <a:t>Python + FastAPI (async)</a:t>
            </a:r>
            <a:endParaRPr lang="en-US" sz="1200" dirty="0"/>
          </a:p>
        </p:txBody>
      </p:sp>
      <p:sp>
        <p:nvSpPr>
          <p:cNvPr id="16" name="Text 14"/>
          <p:cNvSpPr/>
          <p:nvPr/>
        </p:nvSpPr>
        <p:spPr>
          <a:xfrm>
            <a:off x="2596896" y="2404872"/>
            <a:ext cx="1719072" cy="457200"/>
          </a:xfrm>
          <a:prstGeom prst="rect">
            <a:avLst/>
          </a:prstGeom>
          <a:noFill/>
          <a:ln/>
        </p:spPr>
        <p:txBody>
          <a:bodyPr wrap="square" lIns="0" tIns="0" rIns="0" bIns="0" rtlCol="0" anchor="ctr"/>
          <a:lstStyle/>
          <a:p>
            <a:pPr marL="0" indent="0" algn="ctr">
              <a:buNone/>
            </a:pPr>
            <a:r>
              <a:rPr lang="en-US" sz="1200" dirty="0">
                <a:solidFill>
                  <a:srgbClr val="8B949E"/>
                </a:solidFill>
              </a:rPr>
              <a:t>SQLAlchemy ORM + SQLite</a:t>
            </a:r>
            <a:endParaRPr lang="en-US" sz="1200" dirty="0"/>
          </a:p>
        </p:txBody>
      </p:sp>
      <p:sp>
        <p:nvSpPr>
          <p:cNvPr id="17" name="Text 15"/>
          <p:cNvSpPr/>
          <p:nvPr/>
        </p:nvSpPr>
        <p:spPr>
          <a:xfrm>
            <a:off x="2596896" y="2907792"/>
            <a:ext cx="1719072" cy="457200"/>
          </a:xfrm>
          <a:prstGeom prst="rect">
            <a:avLst/>
          </a:prstGeom>
          <a:noFill/>
          <a:ln/>
        </p:spPr>
        <p:txBody>
          <a:bodyPr wrap="square" lIns="0" tIns="0" rIns="0" bIns="0" rtlCol="0" anchor="ctr"/>
          <a:lstStyle/>
          <a:p>
            <a:pPr marL="0" indent="0" algn="ctr">
              <a:buNone/>
            </a:pPr>
            <a:r>
              <a:rPr lang="en-US" sz="1200" dirty="0">
                <a:solidFill>
                  <a:srgbClr val="8B949E"/>
                </a:solidFill>
              </a:rPr>
              <a:t>Pydantic validation + httpx</a:t>
            </a:r>
            <a:endParaRPr lang="en-US" sz="1200" dirty="0"/>
          </a:p>
        </p:txBody>
      </p:sp>
      <p:sp>
        <p:nvSpPr>
          <p:cNvPr id="18" name="Text 16"/>
          <p:cNvSpPr/>
          <p:nvPr/>
        </p:nvSpPr>
        <p:spPr>
          <a:xfrm>
            <a:off x="2596896" y="3410712"/>
            <a:ext cx="1719072" cy="457200"/>
          </a:xfrm>
          <a:prstGeom prst="rect">
            <a:avLst/>
          </a:prstGeom>
          <a:noFill/>
          <a:ln/>
        </p:spPr>
        <p:txBody>
          <a:bodyPr wrap="square" lIns="0" tIns="0" rIns="0" bIns="0" rtlCol="0" anchor="ctr"/>
          <a:lstStyle/>
          <a:p>
            <a:pPr marL="0" indent="0" algn="ctr">
              <a:buNone/>
            </a:pPr>
            <a:r>
              <a:rPr lang="en-US" sz="1200" dirty="0">
                <a:solidFill>
                  <a:srgbClr val="8B949E"/>
                </a:solidFill>
              </a:rPr>
              <a:t>Byte-range streaming proxy</a:t>
            </a:r>
            <a:endParaRPr lang="en-US" sz="1200" dirty="0"/>
          </a:p>
        </p:txBody>
      </p:sp>
      <p:sp>
        <p:nvSpPr>
          <p:cNvPr id="19" name="Shape 17"/>
          <p:cNvSpPr/>
          <p:nvPr/>
        </p:nvSpPr>
        <p:spPr>
          <a:xfrm>
            <a:off x="4608576" y="1325880"/>
            <a:ext cx="1938528" cy="3108960"/>
          </a:xfrm>
          <a:prstGeom prst="rect">
            <a:avLst/>
          </a:prstGeom>
          <a:solidFill>
            <a:srgbClr val="161B22"/>
          </a:solidFill>
          <a:ln w="12700">
            <a:solidFill>
              <a:srgbClr val="21262D"/>
            </a:solidFill>
            <a:prstDash val="solid"/>
          </a:ln>
        </p:spPr>
        <p:txBody>
          <a:bodyPr/>
          <a:lstStyle/>
          <a:p>
            <a:endParaRPr lang="en-IN"/>
          </a:p>
        </p:txBody>
      </p:sp>
      <p:sp>
        <p:nvSpPr>
          <p:cNvPr id="20" name="Shape 18"/>
          <p:cNvSpPr/>
          <p:nvPr/>
        </p:nvSpPr>
        <p:spPr>
          <a:xfrm>
            <a:off x="4608576" y="1325880"/>
            <a:ext cx="1938528" cy="54864"/>
          </a:xfrm>
          <a:prstGeom prst="rect">
            <a:avLst/>
          </a:prstGeom>
          <a:solidFill>
            <a:srgbClr val="EF476F"/>
          </a:solidFill>
          <a:ln w="12700">
            <a:solidFill>
              <a:srgbClr val="EF476F"/>
            </a:solidFill>
            <a:prstDash val="solid"/>
          </a:ln>
        </p:spPr>
        <p:txBody>
          <a:bodyPr/>
          <a:lstStyle/>
          <a:p>
            <a:endParaRPr lang="en-IN"/>
          </a:p>
        </p:txBody>
      </p:sp>
      <p:sp>
        <p:nvSpPr>
          <p:cNvPr id="21" name="Text 19"/>
          <p:cNvSpPr/>
          <p:nvPr/>
        </p:nvSpPr>
        <p:spPr>
          <a:xfrm>
            <a:off x="4608576" y="1417320"/>
            <a:ext cx="1938528" cy="347472"/>
          </a:xfrm>
          <a:prstGeom prst="rect">
            <a:avLst/>
          </a:prstGeom>
          <a:noFill/>
          <a:ln/>
        </p:spPr>
        <p:txBody>
          <a:bodyPr wrap="square" lIns="0" tIns="0" rIns="0" bIns="0" rtlCol="0" anchor="ctr"/>
          <a:lstStyle/>
          <a:p>
            <a:pPr marL="0" indent="0" algn="ctr">
              <a:buNone/>
            </a:pPr>
            <a:r>
              <a:rPr lang="en-US" b="1" dirty="0">
                <a:solidFill>
                  <a:srgbClr val="EF476F"/>
                </a:solidFill>
                <a:latin typeface="Trebuchet MS" pitchFamily="34" charset="0"/>
                <a:ea typeface="Trebuchet MS" pitchFamily="34" charset="-122"/>
                <a:cs typeface="Trebuchet MS" pitchFamily="34" charset="-120"/>
              </a:rPr>
              <a:t>Doc Parsing</a:t>
            </a:r>
            <a:endParaRPr lang="en-US" dirty="0"/>
          </a:p>
        </p:txBody>
      </p:sp>
      <p:sp>
        <p:nvSpPr>
          <p:cNvPr id="22" name="Text 20"/>
          <p:cNvSpPr/>
          <p:nvPr/>
        </p:nvSpPr>
        <p:spPr>
          <a:xfrm>
            <a:off x="4718304" y="1901952"/>
            <a:ext cx="1719072" cy="457200"/>
          </a:xfrm>
          <a:prstGeom prst="rect">
            <a:avLst/>
          </a:prstGeom>
          <a:noFill/>
          <a:ln/>
        </p:spPr>
        <p:txBody>
          <a:bodyPr wrap="square" lIns="0" tIns="0" rIns="0" bIns="0" rtlCol="0" anchor="ctr"/>
          <a:lstStyle/>
          <a:p>
            <a:pPr marL="0" indent="0" algn="ctr">
              <a:buNone/>
            </a:pPr>
            <a:r>
              <a:rPr lang="en-US" sz="1200" dirty="0">
                <a:solidFill>
                  <a:srgbClr val="8B949E"/>
                </a:solidFill>
              </a:rPr>
              <a:t>pdfplumber (PDF)</a:t>
            </a:r>
            <a:endParaRPr lang="en-US" sz="1200" dirty="0"/>
          </a:p>
        </p:txBody>
      </p:sp>
      <p:sp>
        <p:nvSpPr>
          <p:cNvPr id="23" name="Text 21"/>
          <p:cNvSpPr/>
          <p:nvPr/>
        </p:nvSpPr>
        <p:spPr>
          <a:xfrm>
            <a:off x="4718304" y="2404872"/>
            <a:ext cx="1719072" cy="457200"/>
          </a:xfrm>
          <a:prstGeom prst="rect">
            <a:avLst/>
          </a:prstGeom>
          <a:noFill/>
          <a:ln/>
        </p:spPr>
        <p:txBody>
          <a:bodyPr wrap="square" lIns="0" tIns="0" rIns="0" bIns="0" rtlCol="0" anchor="ctr"/>
          <a:lstStyle/>
          <a:p>
            <a:pPr marL="0" indent="0" algn="ctr">
              <a:buNone/>
            </a:pPr>
            <a:r>
              <a:rPr lang="en-US" sz="1200" dirty="0">
                <a:solidFill>
                  <a:srgbClr val="8B949E"/>
                </a:solidFill>
              </a:rPr>
              <a:t>python-docx (Word)</a:t>
            </a:r>
            <a:endParaRPr lang="en-US" sz="1200" dirty="0"/>
          </a:p>
        </p:txBody>
      </p:sp>
      <p:sp>
        <p:nvSpPr>
          <p:cNvPr id="24" name="Text 22"/>
          <p:cNvSpPr/>
          <p:nvPr/>
        </p:nvSpPr>
        <p:spPr>
          <a:xfrm>
            <a:off x="4718304" y="2907792"/>
            <a:ext cx="1719072" cy="457200"/>
          </a:xfrm>
          <a:prstGeom prst="rect">
            <a:avLst/>
          </a:prstGeom>
          <a:noFill/>
          <a:ln/>
        </p:spPr>
        <p:txBody>
          <a:bodyPr wrap="square" lIns="0" tIns="0" rIns="0" bIns="0" rtlCol="0" anchor="ctr"/>
          <a:lstStyle/>
          <a:p>
            <a:pPr marL="0" indent="0" algn="ctr">
              <a:buNone/>
            </a:pPr>
            <a:r>
              <a:rPr lang="en-US" sz="1200" dirty="0">
                <a:solidFill>
                  <a:srgbClr val="8B949E"/>
                </a:solidFill>
              </a:rPr>
              <a:t>openpyxl (Excel)</a:t>
            </a:r>
            <a:endParaRPr lang="en-US" sz="1200" dirty="0"/>
          </a:p>
        </p:txBody>
      </p:sp>
      <p:sp>
        <p:nvSpPr>
          <p:cNvPr id="25" name="Text 23"/>
          <p:cNvSpPr/>
          <p:nvPr/>
        </p:nvSpPr>
        <p:spPr>
          <a:xfrm>
            <a:off x="4718304" y="3410712"/>
            <a:ext cx="1719072" cy="457200"/>
          </a:xfrm>
          <a:prstGeom prst="rect">
            <a:avLst/>
          </a:prstGeom>
          <a:noFill/>
          <a:ln/>
        </p:spPr>
        <p:txBody>
          <a:bodyPr wrap="square" lIns="0" tIns="0" rIns="0" bIns="0" rtlCol="0" anchor="ctr"/>
          <a:lstStyle/>
          <a:p>
            <a:pPr marL="0" indent="0" algn="ctr">
              <a:buNone/>
            </a:pPr>
            <a:r>
              <a:rPr lang="en-US" sz="1200" dirty="0">
                <a:solidFill>
                  <a:srgbClr val="8B949E"/>
                </a:solidFill>
              </a:rPr>
              <a:t>SQLite FTS5 index</a:t>
            </a:r>
            <a:endParaRPr lang="en-US" sz="1200" dirty="0"/>
          </a:p>
        </p:txBody>
      </p:sp>
      <p:sp>
        <p:nvSpPr>
          <p:cNvPr id="26" name="Shape 24"/>
          <p:cNvSpPr/>
          <p:nvPr/>
        </p:nvSpPr>
        <p:spPr>
          <a:xfrm>
            <a:off x="6729984" y="1325880"/>
            <a:ext cx="1938528" cy="3108960"/>
          </a:xfrm>
          <a:prstGeom prst="rect">
            <a:avLst/>
          </a:prstGeom>
          <a:solidFill>
            <a:srgbClr val="161B22"/>
          </a:solidFill>
          <a:ln w="12700">
            <a:solidFill>
              <a:srgbClr val="21262D"/>
            </a:solidFill>
            <a:prstDash val="solid"/>
          </a:ln>
        </p:spPr>
        <p:txBody>
          <a:bodyPr/>
          <a:lstStyle/>
          <a:p>
            <a:endParaRPr lang="en-IN"/>
          </a:p>
        </p:txBody>
      </p:sp>
      <p:sp>
        <p:nvSpPr>
          <p:cNvPr id="27" name="Shape 25"/>
          <p:cNvSpPr/>
          <p:nvPr/>
        </p:nvSpPr>
        <p:spPr>
          <a:xfrm>
            <a:off x="6729984" y="1325880"/>
            <a:ext cx="1938528" cy="54864"/>
          </a:xfrm>
          <a:prstGeom prst="rect">
            <a:avLst/>
          </a:prstGeom>
          <a:solidFill>
            <a:srgbClr val="FFB703"/>
          </a:solidFill>
          <a:ln w="12700">
            <a:solidFill>
              <a:srgbClr val="FFB703"/>
            </a:solidFill>
            <a:prstDash val="solid"/>
          </a:ln>
        </p:spPr>
        <p:txBody>
          <a:bodyPr/>
          <a:lstStyle/>
          <a:p>
            <a:endParaRPr lang="en-IN"/>
          </a:p>
        </p:txBody>
      </p:sp>
      <p:sp>
        <p:nvSpPr>
          <p:cNvPr id="28" name="Text 26"/>
          <p:cNvSpPr/>
          <p:nvPr/>
        </p:nvSpPr>
        <p:spPr>
          <a:xfrm>
            <a:off x="6729984" y="1417320"/>
            <a:ext cx="1938528" cy="347472"/>
          </a:xfrm>
          <a:prstGeom prst="rect">
            <a:avLst/>
          </a:prstGeom>
          <a:noFill/>
          <a:ln/>
        </p:spPr>
        <p:txBody>
          <a:bodyPr wrap="square" lIns="0" tIns="0" rIns="0" bIns="0" rtlCol="0" anchor="ctr"/>
          <a:lstStyle/>
          <a:p>
            <a:pPr marL="0" indent="0" algn="ctr">
              <a:buNone/>
            </a:pPr>
            <a:r>
              <a:rPr lang="en-US" b="1" dirty="0">
                <a:solidFill>
                  <a:srgbClr val="FFB703"/>
                </a:solidFill>
                <a:latin typeface="Trebuchet MS" pitchFamily="34" charset="0"/>
                <a:ea typeface="Trebuchet MS" pitchFamily="34" charset="-122"/>
                <a:cs typeface="Trebuchet MS" pitchFamily="34" charset="-120"/>
              </a:rPr>
              <a:t>Deployment</a:t>
            </a:r>
            <a:endParaRPr lang="en-US" dirty="0"/>
          </a:p>
        </p:txBody>
      </p:sp>
      <p:sp>
        <p:nvSpPr>
          <p:cNvPr id="29" name="Text 27"/>
          <p:cNvSpPr/>
          <p:nvPr/>
        </p:nvSpPr>
        <p:spPr>
          <a:xfrm>
            <a:off x="6839712" y="1901952"/>
            <a:ext cx="1719072" cy="457200"/>
          </a:xfrm>
          <a:prstGeom prst="rect">
            <a:avLst/>
          </a:prstGeom>
          <a:noFill/>
          <a:ln/>
        </p:spPr>
        <p:txBody>
          <a:bodyPr wrap="square" lIns="0" tIns="0" rIns="0" bIns="0" rtlCol="0" anchor="ctr"/>
          <a:lstStyle/>
          <a:p>
            <a:pPr marL="0" indent="0" algn="ctr">
              <a:buNone/>
            </a:pPr>
            <a:r>
              <a:rPr lang="en-US" sz="1200" dirty="0">
                <a:solidFill>
                  <a:srgbClr val="8B949E"/>
                </a:solidFill>
              </a:rPr>
              <a:t>Single Docker image</a:t>
            </a:r>
            <a:endParaRPr lang="en-US" sz="1200" dirty="0"/>
          </a:p>
        </p:txBody>
      </p:sp>
      <p:sp>
        <p:nvSpPr>
          <p:cNvPr id="30" name="Text 28"/>
          <p:cNvSpPr/>
          <p:nvPr/>
        </p:nvSpPr>
        <p:spPr>
          <a:xfrm>
            <a:off x="6839712" y="2404872"/>
            <a:ext cx="1719072" cy="457200"/>
          </a:xfrm>
          <a:prstGeom prst="rect">
            <a:avLst/>
          </a:prstGeom>
          <a:noFill/>
          <a:ln/>
        </p:spPr>
        <p:txBody>
          <a:bodyPr wrap="square" lIns="0" tIns="0" rIns="0" bIns="0" rtlCol="0" anchor="ctr"/>
          <a:lstStyle/>
          <a:p>
            <a:pPr marL="0" indent="0" algn="ctr">
              <a:buNone/>
            </a:pPr>
            <a:r>
              <a:rPr lang="en-US" sz="1200" dirty="0">
                <a:solidFill>
                  <a:srgbClr val="8B949E"/>
                </a:solidFill>
              </a:rPr>
              <a:t>NODE_MODE env var</a:t>
            </a:r>
            <a:endParaRPr lang="en-US" sz="1200" dirty="0"/>
          </a:p>
        </p:txBody>
      </p:sp>
      <p:sp>
        <p:nvSpPr>
          <p:cNvPr id="31" name="Text 29"/>
          <p:cNvSpPr/>
          <p:nvPr/>
        </p:nvSpPr>
        <p:spPr>
          <a:xfrm>
            <a:off x="6839712" y="2907792"/>
            <a:ext cx="1719072" cy="457200"/>
          </a:xfrm>
          <a:prstGeom prst="rect">
            <a:avLst/>
          </a:prstGeom>
          <a:noFill/>
          <a:ln/>
        </p:spPr>
        <p:txBody>
          <a:bodyPr wrap="square" lIns="0" tIns="0" rIns="0" bIns="0" rtlCol="0" anchor="ctr"/>
          <a:lstStyle/>
          <a:p>
            <a:pPr marL="0" indent="0" algn="ctr">
              <a:buNone/>
            </a:pPr>
            <a:r>
              <a:rPr lang="en-US" sz="1200" dirty="0">
                <a:solidFill>
                  <a:srgbClr val="8B949E"/>
                </a:solidFill>
              </a:rPr>
              <a:t>docker-compose per mode</a:t>
            </a:r>
            <a:endParaRPr lang="en-US" sz="1200" dirty="0"/>
          </a:p>
        </p:txBody>
      </p:sp>
      <p:sp>
        <p:nvSpPr>
          <p:cNvPr id="32" name="Text 30"/>
          <p:cNvSpPr/>
          <p:nvPr/>
        </p:nvSpPr>
        <p:spPr>
          <a:xfrm>
            <a:off x="6839712" y="3410712"/>
            <a:ext cx="1719072" cy="457200"/>
          </a:xfrm>
          <a:prstGeom prst="rect">
            <a:avLst/>
          </a:prstGeom>
          <a:noFill/>
          <a:ln/>
        </p:spPr>
        <p:txBody>
          <a:bodyPr wrap="square" lIns="0" tIns="0" rIns="0" bIns="0" rtlCol="0" anchor="ctr"/>
          <a:lstStyle/>
          <a:p>
            <a:pPr marL="0" indent="0" algn="ctr">
              <a:buNone/>
            </a:pPr>
            <a:r>
              <a:rPr lang="en-US" sz="1200" dirty="0">
                <a:solidFill>
                  <a:srgbClr val="8B949E"/>
                </a:solidFill>
              </a:rPr>
              <a:t>Oracle Cloud VPS (free tier)</a:t>
            </a:r>
            <a:endParaRPr lang="en-US" sz="1200" dirty="0"/>
          </a:p>
        </p:txBody>
      </p:sp>
      <p:sp>
        <p:nvSpPr>
          <p:cNvPr id="33" name="Shape 31"/>
          <p:cNvSpPr/>
          <p:nvPr/>
        </p:nvSpPr>
        <p:spPr>
          <a:xfrm>
            <a:off x="365760" y="4572000"/>
            <a:ext cx="8339328" cy="384048"/>
          </a:xfrm>
          <a:prstGeom prst="rect">
            <a:avLst/>
          </a:prstGeom>
          <a:solidFill>
            <a:srgbClr val="08141E"/>
          </a:solidFill>
          <a:ln w="12700">
            <a:solidFill>
              <a:srgbClr val="21262D"/>
            </a:solidFill>
            <a:prstDash val="solid"/>
          </a:ln>
        </p:spPr>
        <p:txBody>
          <a:bodyPr/>
          <a:lstStyle/>
          <a:p>
            <a:endParaRPr lang="en-IN"/>
          </a:p>
        </p:txBody>
      </p:sp>
      <p:sp>
        <p:nvSpPr>
          <p:cNvPr id="34" name="Text 32"/>
          <p:cNvSpPr/>
          <p:nvPr/>
        </p:nvSpPr>
        <p:spPr>
          <a:xfrm>
            <a:off x="365760" y="4572000"/>
            <a:ext cx="8339328" cy="384048"/>
          </a:xfrm>
          <a:prstGeom prst="rect">
            <a:avLst/>
          </a:prstGeom>
          <a:noFill/>
          <a:ln/>
        </p:spPr>
        <p:txBody>
          <a:bodyPr wrap="square" lIns="0" tIns="0" rIns="0" bIns="0" rtlCol="0" anchor="ctr"/>
          <a:lstStyle/>
          <a:p>
            <a:pPr marL="0" indent="0" algn="ctr">
              <a:buNone/>
            </a:pPr>
            <a:r>
              <a:rPr lang="en-US" sz="1100" dirty="0">
                <a:solidFill>
                  <a:srgbClr val="8B949E"/>
                </a:solidFill>
                <a:latin typeface="Consolas" pitchFamily="34" charset="0"/>
                <a:ea typeface="Consolas" pitchFamily="34" charset="-122"/>
                <a:cs typeface="Consolas" pitchFamily="34" charset="-120"/>
              </a:rPr>
              <a:t>docker run -e NODE_MODE=</a:t>
            </a:r>
            <a:r>
              <a:rPr lang="en-US" sz="1100" b="1" dirty="0">
                <a:solidFill>
                  <a:srgbClr val="00B4D8"/>
                </a:solidFill>
                <a:latin typeface="Consolas" pitchFamily="34" charset="0"/>
                <a:ea typeface="Consolas" pitchFamily="34" charset="-122"/>
                <a:cs typeface="Consolas" pitchFamily="34" charset="-120"/>
              </a:rPr>
              <a:t>directory</a:t>
            </a:r>
            <a:r>
              <a:rPr lang="en-US" sz="1100" dirty="0">
                <a:solidFill>
                  <a:srgbClr val="8B949E"/>
                </a:solidFill>
                <a:latin typeface="Consolas" pitchFamily="34" charset="0"/>
                <a:ea typeface="Consolas" pitchFamily="34" charset="-122"/>
                <a:cs typeface="Consolas" pitchFamily="34" charset="-120"/>
              </a:rPr>
              <a:t xml:space="preserve">  |  NODE_MODE=</a:t>
            </a:r>
            <a:r>
              <a:rPr lang="en-US" sz="1100" b="1" dirty="0">
                <a:solidFill>
                  <a:srgbClr val="02C39A"/>
                </a:solidFill>
                <a:latin typeface="Consolas" pitchFamily="34" charset="0"/>
                <a:ea typeface="Consolas" pitchFamily="34" charset="-122"/>
                <a:cs typeface="Consolas" pitchFamily="34" charset="-120"/>
              </a:rPr>
              <a:t>storage</a:t>
            </a:r>
            <a:r>
              <a:rPr lang="en-US" sz="1100" dirty="0">
                <a:solidFill>
                  <a:srgbClr val="8B949E"/>
                </a:solidFill>
                <a:latin typeface="Consolas" pitchFamily="34" charset="0"/>
                <a:ea typeface="Consolas" pitchFamily="34" charset="-122"/>
                <a:cs typeface="Consolas" pitchFamily="34" charset="-120"/>
              </a:rPr>
              <a:t xml:space="preserve">  |  NODE_MODE=</a:t>
            </a:r>
            <a:r>
              <a:rPr lang="en-US" sz="1100" b="1" dirty="0">
                <a:solidFill>
                  <a:srgbClr val="7B2FBE"/>
                </a:solidFill>
                <a:latin typeface="Consolas" pitchFamily="34" charset="0"/>
                <a:ea typeface="Consolas" pitchFamily="34" charset="-122"/>
                <a:cs typeface="Consolas" pitchFamily="34" charset="-120"/>
              </a:rPr>
              <a:t>proxy</a:t>
            </a:r>
            <a:r>
              <a:rPr lang="en-US" sz="1100" i="1" dirty="0">
                <a:solidFill>
                  <a:srgbClr val="8B949E"/>
                </a:solidFill>
                <a:latin typeface="Consolas" pitchFamily="34" charset="0"/>
                <a:ea typeface="Consolas" pitchFamily="34" charset="-122"/>
                <a:cs typeface="Consolas" pitchFamily="34" charset="-120"/>
              </a:rPr>
              <a:t xml:space="preserve">   — one image, three behaviors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A"/>
        </a:solidFill>
        <a:effectLst/>
      </p:bgPr>
    </p:bg>
    <p:spTree>
      <p:nvGrpSpPr>
        <p:cNvPr id="1" name=""/>
        <p:cNvGrpSpPr/>
        <p:nvPr/>
      </p:nvGrpSpPr>
      <p:grpSpPr>
        <a:xfrm>
          <a:off x="0" y="0"/>
          <a:ext cx="0" cy="0"/>
          <a:chOff x="0" y="0"/>
          <a:chExt cx="0" cy="0"/>
        </a:xfrm>
      </p:grpSpPr>
      <p:sp>
        <p:nvSpPr>
          <p:cNvPr id="2" name="Shape 0"/>
          <p:cNvSpPr/>
          <p:nvPr/>
        </p:nvSpPr>
        <p:spPr>
          <a:xfrm>
            <a:off x="457200" y="256032"/>
            <a:ext cx="1371600" cy="237744"/>
          </a:xfrm>
          <a:prstGeom prst="rect">
            <a:avLst/>
          </a:prstGeom>
          <a:solidFill>
            <a:srgbClr val="E6F7FF"/>
          </a:solidFill>
          <a:ln w="12700">
            <a:solidFill>
              <a:srgbClr val="02C39A"/>
            </a:solidFill>
            <a:prstDash val="solid"/>
          </a:ln>
        </p:spPr>
        <p:txBody>
          <a:bodyPr/>
          <a:lstStyle/>
          <a:p>
            <a:endParaRPr lang="en-IN"/>
          </a:p>
        </p:txBody>
      </p:sp>
      <p:sp>
        <p:nvSpPr>
          <p:cNvPr id="3" name="Text 1"/>
          <p:cNvSpPr/>
          <p:nvPr/>
        </p:nvSpPr>
        <p:spPr>
          <a:xfrm>
            <a:off x="457200" y="256032"/>
            <a:ext cx="1371600" cy="237744"/>
          </a:xfrm>
          <a:prstGeom prst="rect">
            <a:avLst/>
          </a:prstGeom>
          <a:noFill/>
          <a:ln/>
        </p:spPr>
        <p:txBody>
          <a:bodyPr wrap="square" lIns="0" tIns="0" rIns="0" bIns="0" rtlCol="0" anchor="ctr"/>
          <a:lstStyle/>
          <a:p>
            <a:pPr marL="0" indent="0" algn="ctr">
              <a:buNone/>
            </a:pPr>
            <a:r>
              <a:rPr lang="en-US" sz="1000" b="1" dirty="0">
                <a:solidFill>
                  <a:srgbClr val="02C39A"/>
                </a:solidFill>
              </a:rPr>
              <a:t>LIVE DEMO</a:t>
            </a:r>
            <a:endParaRPr lang="en-US" sz="1000" dirty="0"/>
          </a:p>
        </p:txBody>
      </p:sp>
      <p:sp>
        <p:nvSpPr>
          <p:cNvPr id="4" name="Text 2"/>
          <p:cNvSpPr/>
          <p:nvPr/>
        </p:nvSpPr>
        <p:spPr>
          <a:xfrm>
            <a:off x="457200" y="566928"/>
            <a:ext cx="8229600" cy="594360"/>
          </a:xfrm>
          <a:prstGeom prst="rect">
            <a:avLst/>
          </a:prstGeom>
          <a:noFill/>
          <a:ln/>
        </p:spPr>
        <p:txBody>
          <a:bodyPr wrap="square" lIns="0" tIns="0" rIns="0" bIns="0" rtlCol="0" anchor="ctr"/>
          <a:lstStyle/>
          <a:p>
            <a:pPr marL="0" indent="0" algn="l">
              <a:buNone/>
            </a:pPr>
            <a:r>
              <a:rPr lang="en-US" sz="3600" b="1" dirty="0">
                <a:solidFill>
                  <a:srgbClr val="24292F"/>
                </a:solidFill>
                <a:latin typeface="Trebuchet MS" pitchFamily="34" charset="0"/>
                <a:ea typeface="Trebuchet MS" pitchFamily="34" charset="-122"/>
                <a:cs typeface="Trebuchet MS" pitchFamily="34" charset="-120"/>
              </a:rPr>
              <a:t>Demo Walkthrough &amp; Key Results</a:t>
            </a:r>
            <a:endParaRPr lang="en-US" sz="3600" dirty="0"/>
          </a:p>
        </p:txBody>
      </p:sp>
      <p:sp>
        <p:nvSpPr>
          <p:cNvPr id="5" name="Shape 3"/>
          <p:cNvSpPr/>
          <p:nvPr/>
        </p:nvSpPr>
        <p:spPr>
          <a:xfrm>
            <a:off x="457200" y="1353312"/>
            <a:ext cx="4023360" cy="1536192"/>
          </a:xfrm>
          <a:prstGeom prst="rect">
            <a:avLst/>
          </a:prstGeom>
          <a:solidFill>
            <a:srgbClr val="FFFFFF"/>
          </a:solidFill>
          <a:ln w="12700">
            <a:solidFill>
              <a:srgbClr val="D0D7DE"/>
            </a:solidFill>
            <a:prstDash val="solid"/>
          </a:ln>
        </p:spPr>
        <p:txBody>
          <a:bodyPr/>
          <a:lstStyle/>
          <a:p>
            <a:endParaRPr lang="en-IN"/>
          </a:p>
        </p:txBody>
      </p:sp>
      <p:sp>
        <p:nvSpPr>
          <p:cNvPr id="6" name="Shape 4"/>
          <p:cNvSpPr/>
          <p:nvPr/>
        </p:nvSpPr>
        <p:spPr>
          <a:xfrm>
            <a:off x="457200" y="1353312"/>
            <a:ext cx="4023360" cy="36576"/>
          </a:xfrm>
          <a:prstGeom prst="rect">
            <a:avLst/>
          </a:prstGeom>
          <a:solidFill>
            <a:srgbClr val="00B4D8"/>
          </a:solidFill>
          <a:ln w="12700">
            <a:solidFill>
              <a:srgbClr val="00B4D8"/>
            </a:solidFill>
            <a:prstDash val="solid"/>
          </a:ln>
        </p:spPr>
        <p:txBody>
          <a:bodyPr/>
          <a:lstStyle/>
          <a:p>
            <a:endParaRPr lang="en-IN"/>
          </a:p>
        </p:txBody>
      </p:sp>
      <p:sp>
        <p:nvSpPr>
          <p:cNvPr id="7" name="Shape 5"/>
          <p:cNvSpPr/>
          <p:nvPr/>
        </p:nvSpPr>
        <p:spPr>
          <a:xfrm>
            <a:off x="621792" y="1536192"/>
            <a:ext cx="438912" cy="438912"/>
          </a:xfrm>
          <a:prstGeom prst="ellipse">
            <a:avLst/>
          </a:prstGeom>
          <a:solidFill>
            <a:srgbClr val="00B4D8"/>
          </a:solidFill>
          <a:ln w="12700">
            <a:solidFill>
              <a:srgbClr val="00B4D8"/>
            </a:solidFill>
            <a:prstDash val="solid"/>
          </a:ln>
        </p:spPr>
        <p:txBody>
          <a:bodyPr/>
          <a:lstStyle/>
          <a:p>
            <a:endParaRPr lang="en-IN"/>
          </a:p>
        </p:txBody>
      </p:sp>
      <p:sp>
        <p:nvSpPr>
          <p:cNvPr id="8" name="Text 6"/>
          <p:cNvSpPr/>
          <p:nvPr/>
        </p:nvSpPr>
        <p:spPr>
          <a:xfrm>
            <a:off x="621792" y="1536192"/>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rPr>
              <a:t>01</a:t>
            </a:r>
            <a:endParaRPr lang="en-US" sz="1600" dirty="0"/>
          </a:p>
        </p:txBody>
      </p:sp>
      <p:sp>
        <p:nvSpPr>
          <p:cNvPr id="9" name="Text 7"/>
          <p:cNvSpPr/>
          <p:nvPr/>
        </p:nvSpPr>
        <p:spPr>
          <a:xfrm>
            <a:off x="1188720" y="1554480"/>
            <a:ext cx="3154680" cy="384048"/>
          </a:xfrm>
          <a:prstGeom prst="rect">
            <a:avLst/>
          </a:prstGeom>
          <a:noFill/>
          <a:ln/>
        </p:spPr>
        <p:txBody>
          <a:bodyPr wrap="square" lIns="0" tIns="0" rIns="0" bIns="0" rtlCol="0" anchor="ctr"/>
          <a:lstStyle/>
          <a:p>
            <a:pPr marL="0" indent="0" algn="l">
              <a:buNone/>
            </a:pPr>
            <a:r>
              <a:rPr lang="en-US" sz="1600" b="1" dirty="0">
                <a:solidFill>
                  <a:srgbClr val="24292F"/>
                </a:solidFill>
                <a:latin typeface="Trebuchet MS" pitchFamily="34" charset="0"/>
                <a:ea typeface="Trebuchet MS" pitchFamily="34" charset="-122"/>
                <a:cs typeface="Trebuchet MS" pitchFamily="34" charset="-120"/>
              </a:rPr>
              <a:t>Federated Browse</a:t>
            </a:r>
            <a:endParaRPr lang="en-US" sz="1600" dirty="0"/>
          </a:p>
        </p:txBody>
      </p:sp>
      <p:sp>
        <p:nvSpPr>
          <p:cNvPr id="10" name="Text 8"/>
          <p:cNvSpPr/>
          <p:nvPr/>
        </p:nvSpPr>
        <p:spPr>
          <a:xfrm>
            <a:off x="621792" y="2066544"/>
            <a:ext cx="3657600" cy="749808"/>
          </a:xfrm>
          <a:prstGeom prst="rect">
            <a:avLst/>
          </a:prstGeom>
          <a:noFill/>
          <a:ln/>
        </p:spPr>
        <p:txBody>
          <a:bodyPr wrap="square" lIns="0" tIns="0" rIns="0" bIns="0" rtlCol="0" anchor="t"/>
          <a:lstStyle/>
          <a:p>
            <a:pPr marL="0" indent="0" algn="l">
              <a:buNone/>
            </a:pPr>
            <a:r>
              <a:rPr lang="en-US" sz="1200" dirty="0">
                <a:solidFill>
                  <a:srgbClr val="4A5568"/>
                </a:solidFill>
              </a:rPr>
              <a:t>Open the React UI and browse files from two Storage Nodes simultaneously — a remote friend's machine and local storage — in one unified file tree.</a:t>
            </a:r>
            <a:endParaRPr lang="en-US" sz="1200" dirty="0"/>
          </a:p>
        </p:txBody>
      </p:sp>
      <p:sp>
        <p:nvSpPr>
          <p:cNvPr id="11" name="Shape 9"/>
          <p:cNvSpPr/>
          <p:nvPr/>
        </p:nvSpPr>
        <p:spPr>
          <a:xfrm>
            <a:off x="4800600" y="1353312"/>
            <a:ext cx="4023360" cy="1536192"/>
          </a:xfrm>
          <a:prstGeom prst="rect">
            <a:avLst/>
          </a:prstGeom>
          <a:solidFill>
            <a:srgbClr val="FFFFFF"/>
          </a:solidFill>
          <a:ln w="12700">
            <a:solidFill>
              <a:srgbClr val="D0D7DE"/>
            </a:solidFill>
            <a:prstDash val="solid"/>
          </a:ln>
        </p:spPr>
        <p:txBody>
          <a:bodyPr/>
          <a:lstStyle/>
          <a:p>
            <a:endParaRPr lang="en-IN"/>
          </a:p>
        </p:txBody>
      </p:sp>
      <p:sp>
        <p:nvSpPr>
          <p:cNvPr id="12" name="Shape 10"/>
          <p:cNvSpPr/>
          <p:nvPr/>
        </p:nvSpPr>
        <p:spPr>
          <a:xfrm>
            <a:off x="4800600" y="1353312"/>
            <a:ext cx="4023360" cy="36576"/>
          </a:xfrm>
          <a:prstGeom prst="rect">
            <a:avLst/>
          </a:prstGeom>
          <a:solidFill>
            <a:srgbClr val="02C39A"/>
          </a:solidFill>
          <a:ln w="12700">
            <a:solidFill>
              <a:srgbClr val="02C39A"/>
            </a:solidFill>
            <a:prstDash val="solid"/>
          </a:ln>
        </p:spPr>
        <p:txBody>
          <a:bodyPr/>
          <a:lstStyle/>
          <a:p>
            <a:endParaRPr lang="en-IN"/>
          </a:p>
        </p:txBody>
      </p:sp>
      <p:sp>
        <p:nvSpPr>
          <p:cNvPr id="13" name="Shape 11"/>
          <p:cNvSpPr/>
          <p:nvPr/>
        </p:nvSpPr>
        <p:spPr>
          <a:xfrm>
            <a:off x="4965192" y="1536192"/>
            <a:ext cx="438912" cy="438912"/>
          </a:xfrm>
          <a:prstGeom prst="ellipse">
            <a:avLst/>
          </a:prstGeom>
          <a:solidFill>
            <a:srgbClr val="02C39A"/>
          </a:solidFill>
          <a:ln w="12700">
            <a:solidFill>
              <a:srgbClr val="02C39A"/>
            </a:solidFill>
            <a:prstDash val="solid"/>
          </a:ln>
        </p:spPr>
        <p:txBody>
          <a:bodyPr/>
          <a:lstStyle/>
          <a:p>
            <a:endParaRPr lang="en-IN"/>
          </a:p>
        </p:txBody>
      </p:sp>
      <p:sp>
        <p:nvSpPr>
          <p:cNvPr id="14" name="Text 12"/>
          <p:cNvSpPr/>
          <p:nvPr/>
        </p:nvSpPr>
        <p:spPr>
          <a:xfrm>
            <a:off x="4965192" y="1536192"/>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rPr>
              <a:t>02</a:t>
            </a:r>
            <a:endParaRPr lang="en-US" sz="1600" dirty="0"/>
          </a:p>
        </p:txBody>
      </p:sp>
      <p:sp>
        <p:nvSpPr>
          <p:cNvPr id="15" name="Text 13"/>
          <p:cNvSpPr/>
          <p:nvPr/>
        </p:nvSpPr>
        <p:spPr>
          <a:xfrm>
            <a:off x="5532120" y="1554480"/>
            <a:ext cx="3154680" cy="384048"/>
          </a:xfrm>
          <a:prstGeom prst="rect">
            <a:avLst/>
          </a:prstGeom>
          <a:noFill/>
          <a:ln/>
        </p:spPr>
        <p:txBody>
          <a:bodyPr wrap="square" lIns="0" tIns="0" rIns="0" bIns="0" rtlCol="0" anchor="ctr"/>
          <a:lstStyle/>
          <a:p>
            <a:pPr marL="0" indent="0" algn="l">
              <a:buNone/>
            </a:pPr>
            <a:r>
              <a:rPr lang="en-US" sz="1600" b="1" dirty="0">
                <a:solidFill>
                  <a:srgbClr val="24292F"/>
                </a:solidFill>
                <a:latin typeface="Trebuchet MS" pitchFamily="34" charset="0"/>
                <a:ea typeface="Trebuchet MS" pitchFamily="34" charset="-122"/>
                <a:cs typeface="Trebuchet MS" pitchFamily="34" charset="-120"/>
              </a:rPr>
              <a:t>Remote Video Stream</a:t>
            </a:r>
            <a:endParaRPr lang="en-US" sz="1600" dirty="0"/>
          </a:p>
        </p:txBody>
      </p:sp>
      <p:sp>
        <p:nvSpPr>
          <p:cNvPr id="16" name="Text 14"/>
          <p:cNvSpPr/>
          <p:nvPr/>
        </p:nvSpPr>
        <p:spPr>
          <a:xfrm>
            <a:off x="4965192" y="2066544"/>
            <a:ext cx="3657600" cy="749808"/>
          </a:xfrm>
          <a:prstGeom prst="rect">
            <a:avLst/>
          </a:prstGeom>
          <a:noFill/>
          <a:ln/>
        </p:spPr>
        <p:txBody>
          <a:bodyPr wrap="square" lIns="0" tIns="0" rIns="0" bIns="0" rtlCol="0" anchor="t"/>
          <a:lstStyle/>
          <a:p>
            <a:pPr marL="0" indent="0" algn="l">
              <a:buNone/>
            </a:pPr>
            <a:r>
              <a:rPr lang="en-US" sz="1200" dirty="0">
                <a:solidFill>
                  <a:srgbClr val="4A5568"/>
                </a:solidFill>
              </a:rPr>
              <a:t>Click a video file hosted on a Storage Node. The Directory Node proxies byte-range requests — video loads instantly in the browser with full seek support.</a:t>
            </a:r>
            <a:endParaRPr lang="en-US" sz="1200" dirty="0"/>
          </a:p>
        </p:txBody>
      </p:sp>
      <p:sp>
        <p:nvSpPr>
          <p:cNvPr id="17" name="Shape 15"/>
          <p:cNvSpPr/>
          <p:nvPr/>
        </p:nvSpPr>
        <p:spPr>
          <a:xfrm>
            <a:off x="457200" y="3044952"/>
            <a:ext cx="4023360" cy="1536192"/>
          </a:xfrm>
          <a:prstGeom prst="rect">
            <a:avLst/>
          </a:prstGeom>
          <a:solidFill>
            <a:srgbClr val="FFFFFF"/>
          </a:solidFill>
          <a:ln w="12700">
            <a:solidFill>
              <a:srgbClr val="D0D7DE"/>
            </a:solidFill>
            <a:prstDash val="solid"/>
          </a:ln>
        </p:spPr>
        <p:txBody>
          <a:bodyPr/>
          <a:lstStyle/>
          <a:p>
            <a:endParaRPr lang="en-IN"/>
          </a:p>
        </p:txBody>
      </p:sp>
      <p:sp>
        <p:nvSpPr>
          <p:cNvPr id="18" name="Shape 16"/>
          <p:cNvSpPr/>
          <p:nvPr/>
        </p:nvSpPr>
        <p:spPr>
          <a:xfrm>
            <a:off x="457200" y="3044952"/>
            <a:ext cx="4023360" cy="36576"/>
          </a:xfrm>
          <a:prstGeom prst="rect">
            <a:avLst/>
          </a:prstGeom>
          <a:solidFill>
            <a:srgbClr val="EF476F"/>
          </a:solidFill>
          <a:ln w="12700">
            <a:solidFill>
              <a:srgbClr val="EF476F"/>
            </a:solidFill>
            <a:prstDash val="solid"/>
          </a:ln>
        </p:spPr>
        <p:txBody>
          <a:bodyPr/>
          <a:lstStyle/>
          <a:p>
            <a:endParaRPr lang="en-IN"/>
          </a:p>
        </p:txBody>
      </p:sp>
      <p:sp>
        <p:nvSpPr>
          <p:cNvPr id="19" name="Shape 17"/>
          <p:cNvSpPr/>
          <p:nvPr/>
        </p:nvSpPr>
        <p:spPr>
          <a:xfrm>
            <a:off x="621792" y="3227832"/>
            <a:ext cx="438912" cy="438912"/>
          </a:xfrm>
          <a:prstGeom prst="ellipse">
            <a:avLst/>
          </a:prstGeom>
          <a:solidFill>
            <a:srgbClr val="EF476F"/>
          </a:solidFill>
          <a:ln w="12700">
            <a:solidFill>
              <a:srgbClr val="EF476F"/>
            </a:solidFill>
            <a:prstDash val="solid"/>
          </a:ln>
        </p:spPr>
        <p:txBody>
          <a:bodyPr/>
          <a:lstStyle/>
          <a:p>
            <a:endParaRPr lang="en-IN"/>
          </a:p>
        </p:txBody>
      </p:sp>
      <p:sp>
        <p:nvSpPr>
          <p:cNvPr id="20" name="Text 18"/>
          <p:cNvSpPr/>
          <p:nvPr/>
        </p:nvSpPr>
        <p:spPr>
          <a:xfrm>
            <a:off x="621792" y="3227832"/>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rPr>
              <a:t>03</a:t>
            </a:r>
            <a:endParaRPr lang="en-US" sz="1600" dirty="0"/>
          </a:p>
        </p:txBody>
      </p:sp>
      <p:sp>
        <p:nvSpPr>
          <p:cNvPr id="21" name="Text 19"/>
          <p:cNvSpPr/>
          <p:nvPr/>
        </p:nvSpPr>
        <p:spPr>
          <a:xfrm>
            <a:off x="1188720" y="3246120"/>
            <a:ext cx="3154680" cy="384048"/>
          </a:xfrm>
          <a:prstGeom prst="rect">
            <a:avLst/>
          </a:prstGeom>
          <a:noFill/>
          <a:ln/>
        </p:spPr>
        <p:txBody>
          <a:bodyPr wrap="square" lIns="0" tIns="0" rIns="0" bIns="0" rtlCol="0" anchor="ctr"/>
          <a:lstStyle/>
          <a:p>
            <a:pPr marL="0" indent="0" algn="l">
              <a:buNone/>
            </a:pPr>
            <a:r>
              <a:rPr lang="en-US" sz="1600" b="1" dirty="0">
                <a:solidFill>
                  <a:srgbClr val="24292F"/>
                </a:solidFill>
                <a:latin typeface="Trebuchet MS" pitchFamily="34" charset="0"/>
                <a:ea typeface="Trebuchet MS" pitchFamily="34" charset="-122"/>
                <a:cs typeface="Trebuchet MS" pitchFamily="34" charset="-120"/>
              </a:rPr>
              <a:t>FTS5 Document Search</a:t>
            </a:r>
            <a:endParaRPr lang="en-US" sz="1600" dirty="0"/>
          </a:p>
        </p:txBody>
      </p:sp>
      <p:sp>
        <p:nvSpPr>
          <p:cNvPr id="22" name="Text 20"/>
          <p:cNvSpPr/>
          <p:nvPr/>
        </p:nvSpPr>
        <p:spPr>
          <a:xfrm>
            <a:off x="621792" y="3758184"/>
            <a:ext cx="3657600" cy="749808"/>
          </a:xfrm>
          <a:prstGeom prst="rect">
            <a:avLst/>
          </a:prstGeom>
          <a:noFill/>
          <a:ln/>
        </p:spPr>
        <p:txBody>
          <a:bodyPr wrap="square" lIns="0" tIns="0" rIns="0" bIns="0" rtlCol="0" anchor="t"/>
          <a:lstStyle/>
          <a:p>
            <a:pPr marL="0" indent="0" algn="l">
              <a:buNone/>
            </a:pPr>
            <a:r>
              <a:rPr lang="en-US" sz="1200" dirty="0">
                <a:solidFill>
                  <a:srgbClr val="4A5568"/>
                </a:solidFill>
              </a:rPr>
              <a:t>Type a keyword like "project report" in the search bar. Results from the distributed filesystem appear instantly — full-text search across PDFs, docs, and code files.</a:t>
            </a:r>
            <a:endParaRPr lang="en-US" sz="1200" dirty="0"/>
          </a:p>
        </p:txBody>
      </p:sp>
      <p:sp>
        <p:nvSpPr>
          <p:cNvPr id="23" name="Shape 21"/>
          <p:cNvSpPr/>
          <p:nvPr/>
        </p:nvSpPr>
        <p:spPr>
          <a:xfrm>
            <a:off x="4800600" y="3044952"/>
            <a:ext cx="4023360" cy="1536192"/>
          </a:xfrm>
          <a:prstGeom prst="rect">
            <a:avLst/>
          </a:prstGeom>
          <a:solidFill>
            <a:srgbClr val="FFFFFF"/>
          </a:solidFill>
          <a:ln w="12700">
            <a:solidFill>
              <a:srgbClr val="D0D7DE"/>
            </a:solidFill>
            <a:prstDash val="solid"/>
          </a:ln>
        </p:spPr>
        <p:txBody>
          <a:bodyPr/>
          <a:lstStyle/>
          <a:p>
            <a:endParaRPr lang="en-IN"/>
          </a:p>
        </p:txBody>
      </p:sp>
      <p:sp>
        <p:nvSpPr>
          <p:cNvPr id="24" name="Shape 22"/>
          <p:cNvSpPr/>
          <p:nvPr/>
        </p:nvSpPr>
        <p:spPr>
          <a:xfrm>
            <a:off x="4800600" y="3044952"/>
            <a:ext cx="4023360" cy="36576"/>
          </a:xfrm>
          <a:prstGeom prst="rect">
            <a:avLst/>
          </a:prstGeom>
          <a:solidFill>
            <a:srgbClr val="FFB703"/>
          </a:solidFill>
          <a:ln w="12700">
            <a:solidFill>
              <a:srgbClr val="FFB703"/>
            </a:solidFill>
            <a:prstDash val="solid"/>
          </a:ln>
        </p:spPr>
        <p:txBody>
          <a:bodyPr/>
          <a:lstStyle/>
          <a:p>
            <a:endParaRPr lang="en-IN"/>
          </a:p>
        </p:txBody>
      </p:sp>
      <p:sp>
        <p:nvSpPr>
          <p:cNvPr id="25" name="Shape 23"/>
          <p:cNvSpPr/>
          <p:nvPr/>
        </p:nvSpPr>
        <p:spPr>
          <a:xfrm>
            <a:off x="4965192" y="3227832"/>
            <a:ext cx="438912" cy="438912"/>
          </a:xfrm>
          <a:prstGeom prst="ellipse">
            <a:avLst/>
          </a:prstGeom>
          <a:solidFill>
            <a:srgbClr val="FFB703"/>
          </a:solidFill>
          <a:ln w="12700">
            <a:solidFill>
              <a:srgbClr val="FFB703"/>
            </a:solidFill>
            <a:prstDash val="solid"/>
          </a:ln>
        </p:spPr>
        <p:txBody>
          <a:bodyPr/>
          <a:lstStyle/>
          <a:p>
            <a:endParaRPr lang="en-IN"/>
          </a:p>
        </p:txBody>
      </p:sp>
      <p:sp>
        <p:nvSpPr>
          <p:cNvPr id="26" name="Text 24"/>
          <p:cNvSpPr/>
          <p:nvPr/>
        </p:nvSpPr>
        <p:spPr>
          <a:xfrm>
            <a:off x="4965192" y="3227832"/>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rPr>
              <a:t>04</a:t>
            </a:r>
            <a:endParaRPr lang="en-US" sz="1600" dirty="0"/>
          </a:p>
        </p:txBody>
      </p:sp>
      <p:sp>
        <p:nvSpPr>
          <p:cNvPr id="27" name="Text 25"/>
          <p:cNvSpPr/>
          <p:nvPr/>
        </p:nvSpPr>
        <p:spPr>
          <a:xfrm>
            <a:off x="5532120" y="3246120"/>
            <a:ext cx="3154680" cy="384048"/>
          </a:xfrm>
          <a:prstGeom prst="rect">
            <a:avLst/>
          </a:prstGeom>
          <a:noFill/>
          <a:ln/>
        </p:spPr>
        <p:txBody>
          <a:bodyPr wrap="square" lIns="0" tIns="0" rIns="0" bIns="0" rtlCol="0" anchor="ctr"/>
          <a:lstStyle/>
          <a:p>
            <a:pPr marL="0" indent="0" algn="l">
              <a:buNone/>
            </a:pPr>
            <a:r>
              <a:rPr lang="en-US" sz="1600" b="1" dirty="0">
                <a:solidFill>
                  <a:srgbClr val="24292F"/>
                </a:solidFill>
                <a:latin typeface="Trebuchet MS" pitchFamily="34" charset="0"/>
                <a:ea typeface="Trebuchet MS" pitchFamily="34" charset="-122"/>
                <a:cs typeface="Trebuchet MS" pitchFamily="34" charset="-120"/>
              </a:rPr>
              <a:t>VPS Failover</a:t>
            </a:r>
            <a:endParaRPr lang="en-US" sz="1600" dirty="0"/>
          </a:p>
        </p:txBody>
      </p:sp>
      <p:sp>
        <p:nvSpPr>
          <p:cNvPr id="28" name="Text 26"/>
          <p:cNvSpPr/>
          <p:nvPr/>
        </p:nvSpPr>
        <p:spPr>
          <a:xfrm>
            <a:off x="4965192" y="3758184"/>
            <a:ext cx="3657600" cy="749808"/>
          </a:xfrm>
          <a:prstGeom prst="rect">
            <a:avLst/>
          </a:prstGeom>
          <a:noFill/>
          <a:ln/>
        </p:spPr>
        <p:txBody>
          <a:bodyPr wrap="square" lIns="0" tIns="0" rIns="0" bIns="0" rtlCol="0" anchor="t"/>
          <a:lstStyle/>
          <a:p>
            <a:pPr marL="0" indent="0" algn="l">
              <a:buNone/>
            </a:pPr>
            <a:r>
              <a:rPr lang="en-US" sz="1200" dirty="0">
                <a:solidFill>
                  <a:srgbClr val="4A5568"/>
                </a:solidFill>
              </a:rPr>
              <a:t>Simulate a Directory Node outage. Within seconds, the VPS Edge Proxy takes over, serving the cached registry. Files remain browsable and streamable.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2C39A"/>
          </a:solidFill>
          <a:ln w="12700">
            <a:solidFill>
              <a:srgbClr val="02C39A"/>
            </a:solidFill>
            <a:prstDash val="solid"/>
          </a:ln>
        </p:spPr>
        <p:txBody>
          <a:bodyPr/>
          <a:lstStyle/>
          <a:p>
            <a:endParaRPr lang="en-IN"/>
          </a:p>
        </p:txBody>
      </p:sp>
      <p:sp>
        <p:nvSpPr>
          <p:cNvPr id="3" name="Text 1"/>
          <p:cNvSpPr/>
          <p:nvPr/>
        </p:nvSpPr>
        <p:spPr>
          <a:xfrm>
            <a:off x="411480" y="572203"/>
            <a:ext cx="8321040" cy="594360"/>
          </a:xfrm>
          <a:prstGeom prst="rect">
            <a:avLst/>
          </a:prstGeom>
          <a:noFill/>
          <a:ln/>
        </p:spPr>
        <p:txBody>
          <a:bodyPr wrap="square" lIns="0" tIns="0" rIns="0" bIns="0" rtlCol="0" anchor="ctr"/>
          <a:lstStyle/>
          <a:p>
            <a:pPr marL="0" indent="0" algn="l">
              <a:buNone/>
            </a:pPr>
            <a:r>
              <a:rPr lang="en-US" sz="3600" b="1" dirty="0">
                <a:solidFill>
                  <a:srgbClr val="FFFFFF"/>
                </a:solidFill>
                <a:latin typeface="Trebuchet MS" pitchFamily="34" charset="0"/>
                <a:ea typeface="Trebuchet MS" pitchFamily="34" charset="-122"/>
                <a:cs typeface="Trebuchet MS" pitchFamily="34" charset="-120"/>
              </a:rPr>
              <a:t>Conclusion &amp; Future Work</a:t>
            </a:r>
            <a:endParaRPr lang="en-US" sz="3600" dirty="0"/>
          </a:p>
        </p:txBody>
      </p:sp>
      <p:sp>
        <p:nvSpPr>
          <p:cNvPr id="4" name="Shape 2"/>
          <p:cNvSpPr/>
          <p:nvPr/>
        </p:nvSpPr>
        <p:spPr>
          <a:xfrm>
            <a:off x="411480" y="1267147"/>
            <a:ext cx="8229600" cy="685800"/>
          </a:xfrm>
          <a:prstGeom prst="rect">
            <a:avLst/>
          </a:prstGeom>
          <a:solidFill>
            <a:srgbClr val="061A14"/>
          </a:solidFill>
          <a:ln w="12700">
            <a:solidFill>
              <a:srgbClr val="21262D"/>
            </a:solidFill>
            <a:prstDash val="solid"/>
          </a:ln>
        </p:spPr>
        <p:txBody>
          <a:bodyPr/>
          <a:lstStyle/>
          <a:p>
            <a:endParaRPr lang="en-IN"/>
          </a:p>
        </p:txBody>
      </p:sp>
      <p:sp>
        <p:nvSpPr>
          <p:cNvPr id="5" name="Text 3"/>
          <p:cNvSpPr/>
          <p:nvPr/>
        </p:nvSpPr>
        <p:spPr>
          <a:xfrm>
            <a:off x="594360" y="1267147"/>
            <a:ext cx="7863840" cy="685800"/>
          </a:xfrm>
          <a:prstGeom prst="rect">
            <a:avLst/>
          </a:prstGeom>
          <a:noFill/>
          <a:ln/>
        </p:spPr>
        <p:txBody>
          <a:bodyPr wrap="square" lIns="0" tIns="0" rIns="0" bIns="0" rtlCol="0" anchor="ctr"/>
          <a:lstStyle/>
          <a:p>
            <a:pPr marL="0" indent="0" algn="l">
              <a:buNone/>
            </a:pPr>
            <a:r>
              <a:rPr lang="en-US" sz="1600" b="1" dirty="0">
                <a:solidFill>
                  <a:srgbClr val="02C39A"/>
                </a:solidFill>
              </a:rPr>
              <a:t xml:space="preserve">Files Hub </a:t>
            </a:r>
            <a:r>
              <a:rPr lang="en-US" sz="1600" dirty="0">
                <a:solidFill>
                  <a:srgbClr val="8B949E"/>
                </a:solidFill>
              </a:rPr>
              <a:t>proves that a privacy-first, federated file network is buildable with modern open-source tools — no cloud subscriptions, no data surrendered, no single point of failure.</a:t>
            </a:r>
            <a:endParaRPr lang="en-US" sz="1600" dirty="0"/>
          </a:p>
        </p:txBody>
      </p:sp>
      <p:sp>
        <p:nvSpPr>
          <p:cNvPr id="6" name="Shape 4"/>
          <p:cNvSpPr/>
          <p:nvPr/>
        </p:nvSpPr>
        <p:spPr>
          <a:xfrm>
            <a:off x="411480" y="1920240"/>
            <a:ext cx="3931920" cy="2651760"/>
          </a:xfrm>
          <a:prstGeom prst="rect">
            <a:avLst/>
          </a:prstGeom>
          <a:solidFill>
            <a:srgbClr val="161B22"/>
          </a:solidFill>
          <a:ln w="12700">
            <a:solidFill>
              <a:srgbClr val="21262D"/>
            </a:solidFill>
            <a:prstDash val="solid"/>
          </a:ln>
        </p:spPr>
        <p:txBody>
          <a:bodyPr/>
          <a:lstStyle/>
          <a:p>
            <a:endParaRPr lang="en-IN"/>
          </a:p>
        </p:txBody>
      </p:sp>
      <p:sp>
        <p:nvSpPr>
          <p:cNvPr id="7" name="Text 5"/>
          <p:cNvSpPr/>
          <p:nvPr/>
        </p:nvSpPr>
        <p:spPr>
          <a:xfrm>
            <a:off x="594360" y="2199835"/>
            <a:ext cx="3566160" cy="347472"/>
          </a:xfrm>
          <a:prstGeom prst="rect">
            <a:avLst/>
          </a:prstGeom>
          <a:noFill/>
          <a:ln/>
        </p:spPr>
        <p:txBody>
          <a:bodyPr wrap="square" lIns="0" tIns="0" rIns="0" bIns="0" rtlCol="0" anchor="ctr"/>
          <a:lstStyle/>
          <a:p>
            <a:pPr marL="0" indent="0" algn="l">
              <a:buNone/>
            </a:pPr>
            <a:r>
              <a:rPr lang="en-US" b="1" dirty="0">
                <a:solidFill>
                  <a:srgbClr val="02C39A"/>
                </a:solidFill>
                <a:latin typeface="Trebuchet MS" pitchFamily="34" charset="0"/>
                <a:ea typeface="Trebuchet MS" pitchFamily="34" charset="-122"/>
                <a:cs typeface="Trebuchet MS" pitchFamily="34" charset="-120"/>
              </a:rPr>
              <a:t>What We Built</a:t>
            </a:r>
            <a:endParaRPr lang="en-US" dirty="0"/>
          </a:p>
        </p:txBody>
      </p:sp>
      <p:sp>
        <p:nvSpPr>
          <p:cNvPr id="8" name="Text 6"/>
          <p:cNvSpPr/>
          <p:nvPr/>
        </p:nvSpPr>
        <p:spPr>
          <a:xfrm>
            <a:off x="594360" y="2638747"/>
            <a:ext cx="3566160" cy="310896"/>
          </a:xfrm>
          <a:prstGeom prst="rect">
            <a:avLst/>
          </a:prstGeom>
          <a:noFill/>
          <a:ln/>
        </p:spPr>
        <p:txBody>
          <a:bodyPr wrap="square" lIns="0" tIns="0" rIns="0" bIns="0" rtlCol="0" anchor="t"/>
          <a:lstStyle/>
          <a:p>
            <a:pPr marL="0" indent="0" algn="l">
              <a:buNone/>
            </a:pPr>
            <a:r>
              <a:rPr lang="en-US" sz="1200" b="1" dirty="0">
                <a:solidFill>
                  <a:srgbClr val="02C39A"/>
                </a:solidFill>
              </a:rPr>
              <a:t xml:space="preserve">✓  </a:t>
            </a:r>
            <a:r>
              <a:rPr lang="en-US" sz="1200" dirty="0">
                <a:solidFill>
                  <a:srgbClr val="8B949E"/>
                </a:solidFill>
              </a:rPr>
              <a:t>Federated 3-node architecture</a:t>
            </a:r>
            <a:endParaRPr lang="en-US" sz="1200" dirty="0"/>
          </a:p>
        </p:txBody>
      </p:sp>
      <p:sp>
        <p:nvSpPr>
          <p:cNvPr id="9" name="Text 7"/>
          <p:cNvSpPr/>
          <p:nvPr/>
        </p:nvSpPr>
        <p:spPr>
          <a:xfrm>
            <a:off x="594360" y="2967931"/>
            <a:ext cx="3566160" cy="310896"/>
          </a:xfrm>
          <a:prstGeom prst="rect">
            <a:avLst/>
          </a:prstGeom>
          <a:noFill/>
          <a:ln/>
        </p:spPr>
        <p:txBody>
          <a:bodyPr wrap="square" lIns="0" tIns="0" rIns="0" bIns="0" rtlCol="0" anchor="t"/>
          <a:lstStyle/>
          <a:p>
            <a:pPr marL="0" indent="0" algn="l">
              <a:buNone/>
            </a:pPr>
            <a:r>
              <a:rPr lang="en-US" sz="1200" b="1" dirty="0">
                <a:solidFill>
                  <a:srgbClr val="02C39A"/>
                </a:solidFill>
              </a:rPr>
              <a:t xml:space="preserve">✓  </a:t>
            </a:r>
            <a:r>
              <a:rPr lang="en-US" sz="1200" dirty="0">
                <a:solidFill>
                  <a:srgbClr val="8B949E"/>
                </a:solidFill>
              </a:rPr>
              <a:t>Multi-Route Array routing</a:t>
            </a:r>
            <a:endParaRPr lang="en-US" sz="1200" dirty="0"/>
          </a:p>
        </p:txBody>
      </p:sp>
      <p:sp>
        <p:nvSpPr>
          <p:cNvPr id="10" name="Text 8"/>
          <p:cNvSpPr/>
          <p:nvPr/>
        </p:nvSpPr>
        <p:spPr>
          <a:xfrm>
            <a:off x="594360" y="3297115"/>
            <a:ext cx="3566160" cy="310896"/>
          </a:xfrm>
          <a:prstGeom prst="rect">
            <a:avLst/>
          </a:prstGeom>
          <a:noFill/>
          <a:ln/>
        </p:spPr>
        <p:txBody>
          <a:bodyPr wrap="square" lIns="0" tIns="0" rIns="0" bIns="0" rtlCol="0" anchor="t"/>
          <a:lstStyle/>
          <a:p>
            <a:pPr marL="0" indent="0" algn="l">
              <a:buNone/>
            </a:pPr>
            <a:r>
              <a:rPr lang="en-US" sz="1200" b="1" dirty="0">
                <a:solidFill>
                  <a:srgbClr val="02C39A"/>
                </a:solidFill>
              </a:rPr>
              <a:t xml:space="preserve">✓  </a:t>
            </a:r>
            <a:r>
              <a:rPr lang="en-US" sz="1200" dirty="0">
                <a:solidFill>
                  <a:srgbClr val="8B949E"/>
                </a:solidFill>
              </a:rPr>
              <a:t>FTS5 full-text document search</a:t>
            </a:r>
            <a:endParaRPr lang="en-US" sz="1200" dirty="0"/>
          </a:p>
        </p:txBody>
      </p:sp>
      <p:sp>
        <p:nvSpPr>
          <p:cNvPr id="11" name="Text 9"/>
          <p:cNvSpPr/>
          <p:nvPr/>
        </p:nvSpPr>
        <p:spPr>
          <a:xfrm>
            <a:off x="594360" y="3626299"/>
            <a:ext cx="3566160" cy="310896"/>
          </a:xfrm>
          <a:prstGeom prst="rect">
            <a:avLst/>
          </a:prstGeom>
          <a:noFill/>
          <a:ln/>
        </p:spPr>
        <p:txBody>
          <a:bodyPr wrap="square" lIns="0" tIns="0" rIns="0" bIns="0" rtlCol="0" anchor="t"/>
          <a:lstStyle/>
          <a:p>
            <a:pPr marL="0" indent="0" algn="l">
              <a:buNone/>
            </a:pPr>
            <a:r>
              <a:rPr lang="en-US" sz="1200" b="1" dirty="0">
                <a:solidFill>
                  <a:srgbClr val="02C39A"/>
                </a:solidFill>
              </a:rPr>
              <a:t xml:space="preserve">✓  </a:t>
            </a:r>
            <a:r>
              <a:rPr lang="en-US" sz="1200" dirty="0">
                <a:solidFill>
                  <a:srgbClr val="8B949E"/>
                </a:solidFill>
              </a:rPr>
              <a:t>JWT + federation token security</a:t>
            </a:r>
            <a:endParaRPr lang="en-US" sz="1200" dirty="0"/>
          </a:p>
        </p:txBody>
      </p:sp>
      <p:sp>
        <p:nvSpPr>
          <p:cNvPr id="12" name="Text 10"/>
          <p:cNvSpPr/>
          <p:nvPr/>
        </p:nvSpPr>
        <p:spPr>
          <a:xfrm>
            <a:off x="594360" y="3955483"/>
            <a:ext cx="3566160" cy="310896"/>
          </a:xfrm>
          <a:prstGeom prst="rect">
            <a:avLst/>
          </a:prstGeom>
          <a:noFill/>
          <a:ln/>
        </p:spPr>
        <p:txBody>
          <a:bodyPr wrap="square" lIns="0" tIns="0" rIns="0" bIns="0" rtlCol="0" anchor="t"/>
          <a:lstStyle/>
          <a:p>
            <a:pPr marL="0" indent="0" algn="l">
              <a:buNone/>
            </a:pPr>
            <a:r>
              <a:rPr lang="en-US" sz="1200" b="1" dirty="0">
                <a:solidFill>
                  <a:srgbClr val="02C39A"/>
                </a:solidFill>
              </a:rPr>
              <a:t xml:space="preserve">✓  </a:t>
            </a:r>
            <a:r>
              <a:rPr lang="en-US" sz="1200" dirty="0">
                <a:solidFill>
                  <a:srgbClr val="8B949E"/>
                </a:solidFill>
              </a:rPr>
              <a:t>Single Docker image deployment</a:t>
            </a:r>
            <a:endParaRPr lang="en-US" sz="1200" dirty="0"/>
          </a:p>
        </p:txBody>
      </p:sp>
      <p:sp>
        <p:nvSpPr>
          <p:cNvPr id="13" name="Text 11"/>
          <p:cNvSpPr/>
          <p:nvPr/>
        </p:nvSpPr>
        <p:spPr>
          <a:xfrm>
            <a:off x="594360" y="4096512"/>
            <a:ext cx="3566160" cy="310896"/>
          </a:xfrm>
          <a:prstGeom prst="rect">
            <a:avLst/>
          </a:prstGeom>
          <a:noFill/>
          <a:ln/>
        </p:spPr>
        <p:txBody>
          <a:bodyPr wrap="square" lIns="0" tIns="0" rIns="0" bIns="0" rtlCol="0" anchor="t"/>
          <a:lstStyle/>
          <a:p>
            <a:pPr marL="0" indent="0" algn="l">
              <a:buNone/>
            </a:pPr>
            <a:r>
              <a:rPr lang="en-US" sz="1200" b="1" dirty="0">
                <a:solidFill>
                  <a:srgbClr val="02C39A"/>
                </a:solidFill>
              </a:rPr>
              <a:t xml:space="preserve">✓  </a:t>
            </a:r>
            <a:r>
              <a:rPr lang="en-US" sz="1200" dirty="0">
                <a:solidFill>
                  <a:srgbClr val="8B949E"/>
                </a:solidFill>
              </a:rPr>
              <a:t>Zero-downtime VPS fallback</a:t>
            </a:r>
            <a:endParaRPr lang="en-US" sz="1200" dirty="0"/>
          </a:p>
        </p:txBody>
      </p:sp>
      <p:sp>
        <p:nvSpPr>
          <p:cNvPr id="14" name="Shape 12"/>
          <p:cNvSpPr/>
          <p:nvPr/>
        </p:nvSpPr>
        <p:spPr>
          <a:xfrm>
            <a:off x="4663440" y="1920240"/>
            <a:ext cx="3977640" cy="2651760"/>
          </a:xfrm>
          <a:prstGeom prst="rect">
            <a:avLst/>
          </a:prstGeom>
          <a:solidFill>
            <a:srgbClr val="161B22"/>
          </a:solidFill>
          <a:ln w="12700">
            <a:solidFill>
              <a:srgbClr val="21262D"/>
            </a:solidFill>
            <a:prstDash val="solid"/>
          </a:ln>
        </p:spPr>
        <p:txBody>
          <a:bodyPr/>
          <a:lstStyle/>
          <a:p>
            <a:endParaRPr lang="en-IN"/>
          </a:p>
        </p:txBody>
      </p:sp>
      <p:sp>
        <p:nvSpPr>
          <p:cNvPr id="15" name="Text 13"/>
          <p:cNvSpPr/>
          <p:nvPr/>
        </p:nvSpPr>
        <p:spPr>
          <a:xfrm>
            <a:off x="4846320" y="2199835"/>
            <a:ext cx="3611880" cy="347472"/>
          </a:xfrm>
          <a:prstGeom prst="rect">
            <a:avLst/>
          </a:prstGeom>
          <a:noFill/>
          <a:ln/>
        </p:spPr>
        <p:txBody>
          <a:bodyPr wrap="square" lIns="0" tIns="0" rIns="0" bIns="0" rtlCol="0" anchor="ctr"/>
          <a:lstStyle/>
          <a:p>
            <a:pPr marL="0" indent="0" algn="l">
              <a:buNone/>
            </a:pPr>
            <a:r>
              <a:rPr lang="en-US" b="1" dirty="0">
                <a:solidFill>
                  <a:srgbClr val="00B4D8"/>
                </a:solidFill>
                <a:latin typeface="Trebuchet MS" pitchFamily="34" charset="0"/>
                <a:ea typeface="Trebuchet MS" pitchFamily="34" charset="-122"/>
                <a:cs typeface="Trebuchet MS" pitchFamily="34" charset="-120"/>
              </a:rPr>
              <a:t>Future Roadmap</a:t>
            </a:r>
            <a:endParaRPr lang="en-US" dirty="0"/>
          </a:p>
        </p:txBody>
      </p:sp>
      <p:sp>
        <p:nvSpPr>
          <p:cNvPr id="16" name="Text 14"/>
          <p:cNvSpPr/>
          <p:nvPr/>
        </p:nvSpPr>
        <p:spPr>
          <a:xfrm>
            <a:off x="4846320" y="2638747"/>
            <a:ext cx="3611880" cy="310896"/>
          </a:xfrm>
          <a:prstGeom prst="rect">
            <a:avLst/>
          </a:prstGeom>
          <a:noFill/>
          <a:ln/>
        </p:spPr>
        <p:txBody>
          <a:bodyPr wrap="square" lIns="0" tIns="0" rIns="0" bIns="0" rtlCol="0" anchor="t"/>
          <a:lstStyle/>
          <a:p>
            <a:pPr marL="0" indent="0" algn="l">
              <a:buNone/>
            </a:pPr>
            <a:r>
              <a:rPr lang="en-US" sz="1200" b="1" dirty="0">
                <a:solidFill>
                  <a:srgbClr val="00B4D8"/>
                </a:solidFill>
              </a:rPr>
              <a:t xml:space="preserve">→  </a:t>
            </a:r>
            <a:r>
              <a:rPr lang="en-US" sz="1200" dirty="0">
                <a:solidFill>
                  <a:srgbClr val="8B949E"/>
                </a:solidFill>
              </a:rPr>
              <a:t>WireGuard mesh between nodes</a:t>
            </a:r>
            <a:endParaRPr lang="en-US" sz="1200" dirty="0"/>
          </a:p>
        </p:txBody>
      </p:sp>
      <p:sp>
        <p:nvSpPr>
          <p:cNvPr id="17" name="Text 15"/>
          <p:cNvSpPr/>
          <p:nvPr/>
        </p:nvSpPr>
        <p:spPr>
          <a:xfrm>
            <a:off x="4846320" y="2967931"/>
            <a:ext cx="3611880" cy="310896"/>
          </a:xfrm>
          <a:prstGeom prst="rect">
            <a:avLst/>
          </a:prstGeom>
          <a:noFill/>
          <a:ln/>
        </p:spPr>
        <p:txBody>
          <a:bodyPr wrap="square" lIns="0" tIns="0" rIns="0" bIns="0" rtlCol="0" anchor="t"/>
          <a:lstStyle/>
          <a:p>
            <a:pPr marL="0" indent="0" algn="l">
              <a:buNone/>
            </a:pPr>
            <a:r>
              <a:rPr lang="en-US" sz="1200" b="1" dirty="0">
                <a:solidFill>
                  <a:srgbClr val="00B4D8"/>
                </a:solidFill>
              </a:rPr>
              <a:t xml:space="preserve">→  </a:t>
            </a:r>
            <a:r>
              <a:rPr lang="en-US" sz="1200" dirty="0">
                <a:solidFill>
                  <a:srgbClr val="8B949E"/>
                </a:solidFill>
              </a:rPr>
              <a:t>Mobile client (React Native)</a:t>
            </a:r>
            <a:endParaRPr lang="en-US" sz="1200" dirty="0"/>
          </a:p>
        </p:txBody>
      </p:sp>
      <p:sp>
        <p:nvSpPr>
          <p:cNvPr id="18" name="Text 16"/>
          <p:cNvSpPr/>
          <p:nvPr/>
        </p:nvSpPr>
        <p:spPr>
          <a:xfrm>
            <a:off x="4846320" y="3297115"/>
            <a:ext cx="3611880" cy="310896"/>
          </a:xfrm>
          <a:prstGeom prst="rect">
            <a:avLst/>
          </a:prstGeom>
          <a:noFill/>
          <a:ln/>
        </p:spPr>
        <p:txBody>
          <a:bodyPr wrap="square" lIns="0" tIns="0" rIns="0" bIns="0" rtlCol="0" anchor="t"/>
          <a:lstStyle/>
          <a:p>
            <a:pPr marL="0" indent="0" algn="l">
              <a:buNone/>
            </a:pPr>
            <a:r>
              <a:rPr lang="en-US" sz="1200" b="1" dirty="0">
                <a:solidFill>
                  <a:srgbClr val="00B4D8"/>
                </a:solidFill>
              </a:rPr>
              <a:t xml:space="preserve">→  </a:t>
            </a:r>
            <a:r>
              <a:rPr lang="en-US" sz="1200" dirty="0">
                <a:solidFill>
                  <a:srgbClr val="8B949E"/>
                </a:solidFill>
              </a:rPr>
              <a:t>Delta sync (rsync-style)</a:t>
            </a:r>
            <a:endParaRPr lang="en-US" sz="1200" dirty="0"/>
          </a:p>
        </p:txBody>
      </p:sp>
      <p:sp>
        <p:nvSpPr>
          <p:cNvPr id="19" name="Text 17"/>
          <p:cNvSpPr/>
          <p:nvPr/>
        </p:nvSpPr>
        <p:spPr>
          <a:xfrm>
            <a:off x="4846320" y="3626299"/>
            <a:ext cx="3611880" cy="310896"/>
          </a:xfrm>
          <a:prstGeom prst="rect">
            <a:avLst/>
          </a:prstGeom>
          <a:noFill/>
          <a:ln/>
        </p:spPr>
        <p:txBody>
          <a:bodyPr wrap="square" lIns="0" tIns="0" rIns="0" bIns="0" rtlCol="0" anchor="t"/>
          <a:lstStyle/>
          <a:p>
            <a:pPr marL="0" indent="0" algn="l">
              <a:buNone/>
            </a:pPr>
            <a:r>
              <a:rPr lang="en-US" sz="1200" b="1" dirty="0">
                <a:solidFill>
                  <a:srgbClr val="00B4D8"/>
                </a:solidFill>
              </a:rPr>
              <a:t xml:space="preserve">→  </a:t>
            </a:r>
            <a:r>
              <a:rPr lang="en-US" sz="1200" dirty="0">
                <a:solidFill>
                  <a:srgbClr val="8B949E"/>
                </a:solidFill>
              </a:rPr>
              <a:t>Collaborative annotations</a:t>
            </a:r>
            <a:endParaRPr lang="en-US" sz="1200" dirty="0"/>
          </a:p>
        </p:txBody>
      </p:sp>
      <p:sp>
        <p:nvSpPr>
          <p:cNvPr id="20" name="Text 18"/>
          <p:cNvSpPr/>
          <p:nvPr/>
        </p:nvSpPr>
        <p:spPr>
          <a:xfrm>
            <a:off x="4846320" y="3955483"/>
            <a:ext cx="3611880" cy="310896"/>
          </a:xfrm>
          <a:prstGeom prst="rect">
            <a:avLst/>
          </a:prstGeom>
          <a:noFill/>
          <a:ln/>
        </p:spPr>
        <p:txBody>
          <a:bodyPr wrap="square" lIns="0" tIns="0" rIns="0" bIns="0" rtlCol="0" anchor="t"/>
          <a:lstStyle/>
          <a:p>
            <a:pPr marL="0" indent="0" algn="l">
              <a:buNone/>
            </a:pPr>
            <a:r>
              <a:rPr lang="en-US" sz="1200" b="1" dirty="0">
                <a:solidFill>
                  <a:srgbClr val="00B4D8"/>
                </a:solidFill>
              </a:rPr>
              <a:t xml:space="preserve">→  </a:t>
            </a:r>
            <a:r>
              <a:rPr lang="en-US" sz="1200" dirty="0">
                <a:solidFill>
                  <a:srgbClr val="8B949E"/>
                </a:solidFill>
              </a:rPr>
              <a:t>Public open-source release</a:t>
            </a:r>
            <a:endParaRPr lang="en-US" sz="1200" dirty="0"/>
          </a:p>
        </p:txBody>
      </p:sp>
      <p:sp>
        <p:nvSpPr>
          <p:cNvPr id="21" name="Text 19"/>
          <p:cNvSpPr/>
          <p:nvPr/>
        </p:nvSpPr>
        <p:spPr>
          <a:xfrm>
            <a:off x="4846320" y="4096512"/>
            <a:ext cx="3611880" cy="310896"/>
          </a:xfrm>
          <a:prstGeom prst="rect">
            <a:avLst/>
          </a:prstGeom>
          <a:noFill/>
          <a:ln/>
        </p:spPr>
        <p:txBody>
          <a:bodyPr wrap="square" lIns="0" tIns="0" rIns="0" bIns="0" rtlCol="0" anchor="t"/>
          <a:lstStyle/>
          <a:p>
            <a:pPr marL="0" indent="0" algn="l">
              <a:buNone/>
            </a:pPr>
            <a:r>
              <a:rPr lang="en-US" sz="1200" b="1" dirty="0">
                <a:solidFill>
                  <a:srgbClr val="00B4D8"/>
                </a:solidFill>
              </a:rPr>
              <a:t xml:space="preserve">→  </a:t>
            </a:r>
            <a:r>
              <a:rPr lang="en-US" sz="1200" dirty="0">
                <a:solidFill>
                  <a:srgbClr val="8B949E"/>
                </a:solidFill>
              </a:rPr>
              <a:t>Plugin system for custom nodes</a:t>
            </a:r>
            <a:endParaRPr lang="en-US" sz="1200" dirty="0"/>
          </a:p>
        </p:txBody>
      </p:sp>
      <p:sp>
        <p:nvSpPr>
          <p:cNvPr id="23" name="Text 21"/>
          <p:cNvSpPr/>
          <p:nvPr/>
        </p:nvSpPr>
        <p:spPr>
          <a:xfrm>
            <a:off x="411480" y="4663440"/>
            <a:ext cx="8229600" cy="292608"/>
          </a:xfrm>
          <a:prstGeom prst="rect">
            <a:avLst/>
          </a:prstGeom>
          <a:noFill/>
          <a:ln/>
        </p:spPr>
        <p:txBody>
          <a:bodyPr wrap="square" lIns="0" tIns="0" rIns="0" bIns="0" rtlCol="0" anchor="ctr"/>
          <a:lstStyle/>
          <a:p>
            <a:pPr marL="0" indent="0" algn="ctr">
              <a:buNone/>
            </a:pP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139</TotalTime>
  <Words>1589</Words>
  <Application>Microsoft Office PowerPoint</Application>
  <PresentationFormat>On-screen Show (16:9)</PresentationFormat>
  <Paragraphs>187</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Arial Black</vt:lpstr>
      <vt:lpstr>Calibri</vt:lpstr>
      <vt:lpstr>Consolas</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Files Hub — Federated File Sharing Network</dc:title>
  <dc:subject>PptxGenJS Presentation</dc:subject>
  <dc:creator>Files Hub</dc:creator>
  <cp:lastModifiedBy>Mohammed Hassan</cp:lastModifiedBy>
  <cp:revision>5</cp:revision>
  <dcterms:created xsi:type="dcterms:W3CDTF">2026-04-27T07:34:49Z</dcterms:created>
  <dcterms:modified xsi:type="dcterms:W3CDTF">2026-06-09T05:07:09Z</dcterms:modified>
</cp:coreProperties>
</file>